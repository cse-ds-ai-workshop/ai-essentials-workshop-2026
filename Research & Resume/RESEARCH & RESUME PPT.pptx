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DA ARSHAD" userId="e57a892cc5e232e3" providerId="LiveId" clId="{6B9A9064-3EA8-4D5C-97D9-1657AD6BF158}"/>
    <pc:docChg chg="delSld modSld">
      <pc:chgData name="RIDA ARSHAD" userId="e57a892cc5e232e3" providerId="LiveId" clId="{6B9A9064-3EA8-4D5C-97D9-1657AD6BF158}" dt="2026-09-26T20:24:07.622" v="17" actId="47"/>
      <pc:docMkLst>
        <pc:docMk/>
      </pc:docMkLst>
      <pc:sldChg chg="modSp mod">
        <pc:chgData name="RIDA ARSHAD" userId="e57a892cc5e232e3" providerId="LiveId" clId="{6B9A9064-3EA8-4D5C-97D9-1657AD6BF158}" dt="2026-09-26T20:23:50.903" v="15" actId="20577"/>
        <pc:sldMkLst>
          <pc:docMk/>
          <pc:sldMk cId="0" sldId="256"/>
        </pc:sldMkLst>
        <pc:spChg chg="mod">
          <ac:chgData name="RIDA ARSHAD" userId="e57a892cc5e232e3" providerId="LiveId" clId="{6B9A9064-3EA8-4D5C-97D9-1657AD6BF158}" dt="2026-09-26T20:23:50.903" v="15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del mod">
        <pc:chgData name="RIDA ARSHAD" userId="e57a892cc5e232e3" providerId="LiveId" clId="{6B9A9064-3EA8-4D5C-97D9-1657AD6BF158}" dt="2026-09-26T20:24:07.622" v="17" actId="47"/>
        <pc:sldMkLst>
          <pc:docMk/>
          <pc:sldMk cId="0" sldId="257"/>
        </pc:sldMkLst>
        <pc:spChg chg="mod">
          <ac:chgData name="RIDA ARSHAD" userId="e57a892cc5e232e3" providerId="LiveId" clId="{6B9A9064-3EA8-4D5C-97D9-1657AD6BF158}" dt="2026-09-26T20:23:59.321" v="16" actId="1076"/>
          <ac:spMkLst>
            <pc:docMk/>
            <pc:sldMk cId="0" sldId="257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8101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Introduce yourselves (Mahenoor, Rida, Shaguftha). Today is a hands-on session. By the end you will have a research paper started in Overleaf and a one-page resume.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A: research tools, paper structure, Overleaf and LaTeX, then hands-on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tool per task. No single tool does everything: use search tools to find, reader tools to understand, and synthesis tools to compare. For figures and flowcharts: Napkin AI turns text into diagrams, Gemini image generation makes illustrations, Mermaid builds flowcharts from simple text code, and Microsoft Designer makes polished graphics.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tip: type a vague query, then a specific one, and compare the results. Then show how to identify a research gap: what do all the papers ignore or fail to solve?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habit of the day. Ask: who has seen an AI give a wrong answer confidently? Every citation gets checked at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flow left to right, top to bottom. Stress that the research gap comes out of the literature review and drives the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three panes: file tree, source editor and PDF preview. Explain that you type in the middle and the paper appears on the right after you compile.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skeleton line by line. Everything before \begin{document} is setup (class and packages). Everything after is content. Show how to add a package and how the bibliography file connects.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where to find the IEEE conference template in Overleaf's template gallery. Then click through each of these nine elements in the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ask an AI tool for a table, paste it into Overleaf, compile. Then deliberately paste a broken snippet and show how to give the error log back to the AI to debug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your own paper in Overleaf. Follow the checklist on the right and show at least one place where AI helped and one where you corrected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around the room. Remind students: AI helps, but they own the choices. Halfway through, check that everyone has found at least 3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self-check. Anyone missing an item should raise a hand and get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B: same rhythm as Part A. Explanation first, then you build your resume.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one would you send to a product company? Which to a university lab? Explain that we build a resume today, but the CV demo shows the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Quickly go through the ten sections. Ask students which ones they already have material for and which are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AI helps with wording and structure, but the facts have to come from the 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activity: ask a volunteer for one weak bullet from their own project and improve it together using the formula. Warn that the numbers must be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where resume templates are in Overleaf. Emphasise a clean one-page layout. Show how to change a section heading and how to add a hyperlink.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workflow you used for your own resume. Show how one prompt gets a first draft and three follow-up prompts fix spacing and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both documents side by side. Point out how the CV is long and comprehensive while the resume is one page and targeted.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rules as the research hands-on. Partway through, check that everyone has generated some content and is looking at a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5 minutes for this. Ask them to swap with a neighbour for a second pair of eyes on links and spelling.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practical content with responsible use: AI is an assistant. You are responsible for what you submit and sign your name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outcomes and ask students to tick them off mentally.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Share any links or resources you want the students to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jpe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5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4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6.png"/><Relationship Id="rId10" Type="http://schemas.openxmlformats.org/officeDocument/2006/relationships/image" Target="../media/image33.png"/><Relationship Id="rId4" Type="http://schemas.openxmlformats.org/officeDocument/2006/relationships/image" Target="../media/image25.png"/><Relationship Id="rId9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22.png"/><Relationship Id="rId3" Type="http://schemas.openxmlformats.org/officeDocument/2006/relationships/image" Target="../media/image39.jpe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39.jpe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45.png"/><Relationship Id="rId5" Type="http://schemas.openxmlformats.org/officeDocument/2006/relationships/image" Target="../media/image52.png"/><Relationship Id="rId10" Type="http://schemas.openxmlformats.org/officeDocument/2006/relationships/image" Target="../media/image55.png"/><Relationship Id="rId4" Type="http://schemas.openxmlformats.org/officeDocument/2006/relationships/image" Target="../media/image51.png"/><Relationship Id="rId9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37.jpe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60.png"/><Relationship Id="rId5" Type="http://schemas.openxmlformats.org/officeDocument/2006/relationships/image" Target="../media/image58.png"/><Relationship Id="rId10" Type="http://schemas.openxmlformats.org/officeDocument/2006/relationships/image" Target="../media/image19.png"/><Relationship Id="rId4" Type="http://schemas.openxmlformats.org/officeDocument/2006/relationships/image" Target="../media/image21.png"/><Relationship Id="rId9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.jpe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64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1888236" cy="274320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94360"/>
            <a:ext cx="1888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SESSION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Tools Essential for Engineering Students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Three-Day Student Workshop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Research, Technical Writing &amp; Resume Development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Mahenoor   |   Rida Arshad   |   Shaguftha Nikhar</a:t>
            </a:r>
            <a:endParaRPr lang="en-US" sz="1200" dirty="0"/>
          </a:p>
        </p:txBody>
      </p:sp>
      <p:pic>
        <p:nvPicPr>
          <p:cNvPr id="8" name="Image 0" descr="/home/claude/assets/title_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65760"/>
            <a:ext cx="3950208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divider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65760"/>
            <a:ext cx="3511296" cy="4389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640080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64008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4300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Research &amp; Paper Development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00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tools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2926080" y="3200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structure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84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Overleaf &amp; LaTeX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3584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template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96849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LaTeX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2926080" y="396849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demo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99616" cy="274320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TOOLS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the Right AI Tool for the Task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168021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1214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information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3134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75865" y="141732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58745" y="1554480"/>
            <a:ext cx="502920" cy="502920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4475" y="168021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58745" y="21214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research papers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2758745" y="23134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 / Elicit / ScholarGPT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94530" y="141732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77410" y="1554480"/>
            <a:ext cx="502920" cy="502920"/>
          </a:xfrm>
          <a:prstGeom prst="ellipse">
            <a:avLst/>
          </a:prstGeom>
          <a:solidFill>
            <a:srgbClr val="F26B5B"/>
          </a:solidFill>
          <a:ln w="6350">
            <a:solidFill>
              <a:srgbClr val="F26B5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3140" y="168021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77410" y="21214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papers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877410" y="23134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/ SciSpace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813194" y="141732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96074" y="1554480"/>
            <a:ext cx="502920" cy="502920"/>
          </a:xfrm>
          <a:prstGeom prst="ellipse">
            <a:avLst/>
          </a:prstGeom>
          <a:solidFill>
            <a:srgbClr val="6C63FF"/>
          </a:solidFill>
          <a:ln w="6350">
            <a:solidFill>
              <a:srgbClr val="6C63F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1804" y="168021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996074" y="21214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related papers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6996074" y="23134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ResearchRabbit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57200" y="288036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38A3F5"/>
          </a:solidFill>
          <a:ln w="6350">
            <a:solidFill>
              <a:srgbClr val="38A3F5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810" y="314325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40080" y="358444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evidence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640080" y="37764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2575865" y="288036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758745" y="3017520"/>
            <a:ext cx="502920" cy="50292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84475" y="3143250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2758745" y="358444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sources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2758745" y="37764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NotebookLM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4694530" y="288036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877410" y="3017520"/>
            <a:ext cx="502920" cy="502920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3140" y="3143250"/>
            <a:ext cx="251460" cy="25146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4877410" y="358444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assistance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4877410" y="37764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Anara / Bohrium AI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6813194" y="288036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6996074" y="3017520"/>
            <a:ext cx="502920" cy="502920"/>
          </a:xfrm>
          <a:prstGeom prst="ellipse">
            <a:avLst/>
          </a:prstGeom>
          <a:solidFill>
            <a:srgbClr val="F26B5B"/>
          </a:solidFill>
          <a:ln w="6350">
            <a:solidFill>
              <a:srgbClr val="F26B5B"/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21804" y="3143250"/>
            <a:ext cx="251460" cy="25146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6996074" y="358444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images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6996074" y="37764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Napkin AI / Gemini / Mermaid / MS Designer</a:t>
            </a:r>
            <a:endParaRPr lang="en-US" sz="1200" dirty="0"/>
          </a:p>
        </p:txBody>
      </p:sp>
      <p:sp>
        <p:nvSpPr>
          <p:cNvPr id="45" name="Shape 35"/>
          <p:cNvSpPr/>
          <p:nvPr/>
        </p:nvSpPr>
        <p:spPr>
          <a:xfrm>
            <a:off x="457200" y="4297680"/>
            <a:ext cx="8229600" cy="384048"/>
          </a:xfrm>
          <a:prstGeom prst="roundRect">
            <a:avLst>
              <a:gd name="adj" fmla="val 28571"/>
            </a:avLst>
          </a:prstGeom>
          <a:solidFill>
            <a:srgbClr val="0F1B3D"/>
          </a:solidFill>
          <a:ln w="9525">
            <a:solidFill>
              <a:srgbClr val="0F1B3D"/>
            </a:solidFill>
            <a:prstDash val="solid"/>
          </a:ln>
        </p:spPr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" y="4379976"/>
            <a:ext cx="219456" cy="219456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1005840" y="429768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everything AI tells you</a:t>
            </a:r>
            <a:endParaRPr lang="en-US" sz="1300" dirty="0"/>
          </a:p>
        </p:txBody>
      </p:sp>
      <p:sp>
        <p:nvSpPr>
          <p:cNvPr id="48" name="Text 37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49" name="Text 38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732788" cy="274320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73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SEARCH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Query to Research Gap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88720" y="1783080"/>
            <a:ext cx="6766560" cy="0"/>
          </a:xfrm>
          <a:prstGeom prst="line">
            <a:avLst/>
          </a:prstGeom>
          <a:noFill/>
          <a:ln w="31750">
            <a:solidFill>
              <a:srgbClr val="E9B4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508760"/>
            <a:ext cx="548640" cy="548640"/>
          </a:xfrm>
          <a:prstGeom prst="ellipse">
            <a:avLst/>
          </a:prstGeom>
          <a:solidFill>
            <a:srgbClr val="E9B44C"/>
          </a:solidFill>
          <a:ln w="38100">
            <a:solidFill>
              <a:srgbClr val="F3F5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06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effective queries and pick reliable sources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508760"/>
            <a:ext cx="548640" cy="548640"/>
          </a:xfrm>
          <a:prstGeom prst="ellipse">
            <a:avLst/>
          </a:prstGeom>
          <a:solidFill>
            <a:srgbClr val="E9B44C"/>
          </a:solidFill>
          <a:ln w="38100">
            <a:solidFill>
              <a:srgbClr val="F3F5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2606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abstract, methodology and findings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1508760"/>
            <a:ext cx="548640" cy="548640"/>
          </a:xfrm>
          <a:prstGeom prst="ellipse">
            <a:avLst/>
          </a:prstGeom>
          <a:solidFill>
            <a:srgbClr val="E9B44C"/>
          </a:solidFill>
          <a:ln w="38100">
            <a:solidFill>
              <a:srgbClr val="F3F5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2606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across multiple sources side by side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9320" y="1508760"/>
            <a:ext cx="548640" cy="548640"/>
          </a:xfrm>
          <a:prstGeom prst="ellipse">
            <a:avLst/>
          </a:prstGeom>
          <a:solidFill>
            <a:srgbClr val="0F1B3D"/>
          </a:solidFill>
          <a:ln w="38100">
            <a:solidFill>
              <a:srgbClr val="F3F5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893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gap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2606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missing, weak or unsolved?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80960" y="1508760"/>
            <a:ext cx="548640" cy="548640"/>
          </a:xfrm>
          <a:prstGeom prst="ellipse">
            <a:avLst/>
          </a:prstGeom>
          <a:solidFill>
            <a:srgbClr val="E9B44C"/>
          </a:solidFill>
          <a:ln w="38100">
            <a:solidFill>
              <a:srgbClr val="F3F5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2606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AI answers and citations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3832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5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SMART QUERY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219456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6072" y="3776472"/>
            <a:ext cx="384048" cy="384048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3872484"/>
            <a:ext cx="192024" cy="192024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078992" y="37307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1078992" y="39319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traffic</a:t>
            </a:r>
            <a:endParaRPr lang="en-US" sz="14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928" y="3858768"/>
            <a:ext cx="201168" cy="201168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3200400" y="3657600"/>
            <a:ext cx="27432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3319272" y="3776472"/>
            <a:ext cx="384048" cy="384048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5284" y="3872484"/>
            <a:ext cx="192024" cy="192024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3822192" y="37307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50" dirty="0"/>
          </a:p>
        </p:txBody>
      </p:sp>
      <p:sp>
        <p:nvSpPr>
          <p:cNvPr id="37" name="Text 32"/>
          <p:cNvSpPr txBox="1"/>
          <p:nvPr/>
        </p:nvSpPr>
        <p:spPr>
          <a:xfrm>
            <a:off x="3822192" y="39319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40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3858768"/>
            <a:ext cx="201168" cy="201168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6492240" y="3657600"/>
            <a:ext cx="219456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6611112" y="3776472"/>
            <a:ext cx="384048" cy="384048"/>
          </a:xfrm>
          <a:prstGeom prst="ellipse">
            <a:avLst/>
          </a:prstGeom>
          <a:solidFill>
            <a:srgbClr val="F26B5B"/>
          </a:solidFill>
          <a:ln w="6350">
            <a:solidFill>
              <a:srgbClr val="F26B5B"/>
            </a:solidFill>
            <a:prstDash val="solid"/>
          </a:ln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7124" y="3872484"/>
            <a:ext cx="192024" cy="192024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7114032" y="37307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50" dirty="0"/>
          </a:p>
        </p:txBody>
      </p:sp>
      <p:sp>
        <p:nvSpPr>
          <p:cNvPr id="43" name="Text 36"/>
          <p:cNvSpPr txBox="1"/>
          <p:nvPr/>
        </p:nvSpPr>
        <p:spPr>
          <a:xfrm>
            <a:off x="7114032" y="39319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control</a:t>
            </a:r>
            <a:endParaRPr lang="en-US" sz="1400" dirty="0"/>
          </a:p>
        </p:txBody>
      </p:sp>
      <p:sp>
        <p:nvSpPr>
          <p:cNvPr id="44" name="Shape 37"/>
          <p:cNvSpPr/>
          <p:nvPr/>
        </p:nvSpPr>
        <p:spPr>
          <a:xfrm>
            <a:off x="457200" y="4389120"/>
            <a:ext cx="8229600" cy="329184"/>
          </a:xfrm>
          <a:prstGeom prst="roundRect">
            <a:avLst>
              <a:gd name="adj" fmla="val 33333"/>
            </a:avLst>
          </a:prstGeom>
          <a:solidFill>
            <a:srgbClr val="0F1B3D"/>
          </a:solidFill>
          <a:ln w="9525">
            <a:solidFill>
              <a:srgbClr val="0F1B3D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685800" y="438912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  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 traffic reinforcement learning signal control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47" name="Text 40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99616" cy="274320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CROSS-CHECKING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Sounds Confident. Check It Anyway.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can invent papers, authors and numbers that look completely real.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560320" cy="2468880"/>
          </a:xfrm>
          <a:prstGeom prst="roundRect">
            <a:avLst>
              <a:gd name="adj" fmla="val 5185"/>
            </a:avLst>
          </a:prstGeom>
          <a:solidFill>
            <a:srgbClr val="1C2D5E"/>
          </a:solidFill>
          <a:ln w="9525">
            <a:solidFill>
              <a:srgbClr val="3A4E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exist?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290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paper title in Google Scholar. Fake citations often look perfect.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2057400"/>
            <a:ext cx="2560320" cy="2468880"/>
          </a:xfrm>
          <a:prstGeom prst="roundRect">
            <a:avLst>
              <a:gd name="adj" fmla="val 5185"/>
            </a:avLst>
          </a:prstGeom>
          <a:solidFill>
            <a:srgbClr val="1C2D5E"/>
          </a:solidFill>
          <a:ln w="9525">
            <a:solidFill>
              <a:srgbClr val="3A4E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say that?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4290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paper. Read the abstract and results yourself.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2057400"/>
            <a:ext cx="2560320" cy="2468880"/>
          </a:xfrm>
          <a:prstGeom prst="roundRect">
            <a:avLst>
              <a:gd name="adj" fmla="val 5185"/>
            </a:avLst>
          </a:prstGeom>
          <a:solidFill>
            <a:srgbClr val="1C2D5E"/>
          </a:solidFill>
          <a:ln w="9525">
            <a:solidFill>
              <a:srgbClr val="3A4E9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details right?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4290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authors, year, venue and DOI before you cite anything.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577340" cy="274320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577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STRUCTURE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Research Paper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874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581912"/>
            <a:ext cx="365760" cy="36576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58191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0756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paper is about</a:t>
            </a:r>
            <a:endParaRPr lang="en-US" sz="11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8296" y="1920240"/>
            <a:ext cx="137160" cy="1371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575865" y="1417320"/>
            <a:ext cx="1874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0457" y="1581912"/>
            <a:ext cx="365760" cy="36576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40457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197657" y="158191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2740457" y="20756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method and result in brief</a:t>
            </a:r>
            <a:endParaRPr lang="en-US" sz="11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961" y="1920240"/>
            <a:ext cx="137160" cy="1371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694530" y="1417320"/>
            <a:ext cx="1874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59122" y="1581912"/>
            <a:ext cx="365760" cy="36576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59122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5316322" y="158191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4859122" y="20756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motivation</a:t>
            </a:r>
            <a:endParaRPr lang="en-US" sz="11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626" y="1920240"/>
            <a:ext cx="137160" cy="1371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813194" y="1417320"/>
            <a:ext cx="1874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77786" y="1581912"/>
            <a:ext cx="365760" cy="36576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977786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7434986" y="158191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50" dirty="0"/>
          </a:p>
        </p:txBody>
      </p:sp>
      <p:sp>
        <p:nvSpPr>
          <p:cNvPr id="27" name="Text 22"/>
          <p:cNvSpPr txBox="1"/>
          <p:nvPr/>
        </p:nvSpPr>
        <p:spPr>
          <a:xfrm>
            <a:off x="6977786" y="20756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and where it falls short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457200" y="2651760"/>
            <a:ext cx="1874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21792" y="2816352"/>
            <a:ext cx="365760" cy="36576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21792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1078992" y="28163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50" dirty="0"/>
          </a:p>
        </p:txBody>
      </p:sp>
      <p:sp>
        <p:nvSpPr>
          <p:cNvPr id="32" name="Text 27"/>
          <p:cNvSpPr txBox="1"/>
          <p:nvPr/>
        </p:nvSpPr>
        <p:spPr>
          <a:xfrm>
            <a:off x="621792" y="33101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solved the problem</a:t>
            </a:r>
            <a:endParaRPr lang="en-US" sz="115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8296" y="3154680"/>
            <a:ext cx="137160" cy="13716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2575865" y="2651760"/>
            <a:ext cx="1874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2740457" y="2816352"/>
            <a:ext cx="365760" cy="36576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2740457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1"/>
          <p:cNvSpPr txBox="1"/>
          <p:nvPr/>
        </p:nvSpPr>
        <p:spPr>
          <a:xfrm>
            <a:off x="3197657" y="28163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50" dirty="0"/>
          </a:p>
        </p:txBody>
      </p:sp>
      <p:sp>
        <p:nvSpPr>
          <p:cNvPr id="38" name="Text 32"/>
          <p:cNvSpPr txBox="1"/>
          <p:nvPr/>
        </p:nvSpPr>
        <p:spPr>
          <a:xfrm>
            <a:off x="2740457" y="33101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found and what it means</a:t>
            </a:r>
            <a:endParaRPr lang="en-US" sz="115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961" y="3154680"/>
            <a:ext cx="137160" cy="13716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4694530" y="2651760"/>
            <a:ext cx="1874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4859122" y="2816352"/>
            <a:ext cx="365760" cy="36576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4859122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43" name="Text 36"/>
          <p:cNvSpPr txBox="1"/>
          <p:nvPr/>
        </p:nvSpPr>
        <p:spPr>
          <a:xfrm>
            <a:off x="5316322" y="28163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44" name="Text 37"/>
          <p:cNvSpPr txBox="1"/>
          <p:nvPr/>
        </p:nvSpPr>
        <p:spPr>
          <a:xfrm>
            <a:off x="4859122" y="33101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50" dirty="0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626" y="3154680"/>
            <a:ext cx="137160" cy="137160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6813194" y="2651760"/>
            <a:ext cx="1874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977786" y="2816352"/>
            <a:ext cx="365760" cy="36576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6977786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9" name="Text 41"/>
          <p:cNvSpPr txBox="1"/>
          <p:nvPr/>
        </p:nvSpPr>
        <p:spPr>
          <a:xfrm>
            <a:off x="7434986" y="28163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50" dirty="0"/>
          </a:p>
        </p:txBody>
      </p:sp>
      <p:sp>
        <p:nvSpPr>
          <p:cNvPr id="50" name="Text 42"/>
          <p:cNvSpPr txBox="1"/>
          <p:nvPr/>
        </p:nvSpPr>
        <p:spPr>
          <a:xfrm>
            <a:off x="6977786" y="33101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you cited</a:t>
            </a:r>
            <a:endParaRPr lang="en-US" sz="1150" dirty="0"/>
          </a:p>
        </p:txBody>
      </p:sp>
      <p:sp>
        <p:nvSpPr>
          <p:cNvPr id="51" name="Text 43"/>
          <p:cNvSpPr txBox="1"/>
          <p:nvPr/>
        </p:nvSpPr>
        <p:spPr>
          <a:xfrm>
            <a:off x="457200" y="39319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5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</a:t>
            </a:r>
            <a:endParaRPr lang="en-US" sz="1100" dirty="0"/>
          </a:p>
        </p:txBody>
      </p:sp>
      <p:sp>
        <p:nvSpPr>
          <p:cNvPr id="52" name="Shape 44"/>
          <p:cNvSpPr/>
          <p:nvPr/>
        </p:nvSpPr>
        <p:spPr>
          <a:xfrm>
            <a:off x="1783080" y="3977640"/>
            <a:ext cx="832104" cy="27432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1783080" y="397764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050" dirty="0"/>
          </a:p>
        </p:txBody>
      </p:sp>
      <p:sp>
        <p:nvSpPr>
          <p:cNvPr id="54" name="Shape 46"/>
          <p:cNvSpPr/>
          <p:nvPr/>
        </p:nvSpPr>
        <p:spPr>
          <a:xfrm>
            <a:off x="2724912" y="3977640"/>
            <a:ext cx="1408176" cy="27432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2724912" y="397764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56" name="Shape 48"/>
          <p:cNvSpPr/>
          <p:nvPr/>
        </p:nvSpPr>
        <p:spPr>
          <a:xfrm>
            <a:off x="4242816" y="3977640"/>
            <a:ext cx="1088136" cy="27432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57" name="Text 49"/>
          <p:cNvSpPr txBox="1"/>
          <p:nvPr/>
        </p:nvSpPr>
        <p:spPr>
          <a:xfrm>
            <a:off x="4242816" y="397764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050" dirty="0"/>
          </a:p>
        </p:txBody>
      </p:sp>
      <p:sp>
        <p:nvSpPr>
          <p:cNvPr id="58" name="Shape 50"/>
          <p:cNvSpPr/>
          <p:nvPr/>
        </p:nvSpPr>
        <p:spPr>
          <a:xfrm>
            <a:off x="5440680" y="3977640"/>
            <a:ext cx="1344168" cy="27432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5440680" y="397764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50" dirty="0"/>
          </a:p>
        </p:txBody>
      </p:sp>
      <p:sp>
        <p:nvSpPr>
          <p:cNvPr id="60" name="Shape 52"/>
          <p:cNvSpPr/>
          <p:nvPr/>
        </p:nvSpPr>
        <p:spPr>
          <a:xfrm>
            <a:off x="6894576" y="3977640"/>
            <a:ext cx="1536192" cy="27432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61" name="Text 53"/>
          <p:cNvSpPr txBox="1"/>
          <p:nvPr/>
        </p:nvSpPr>
        <p:spPr>
          <a:xfrm>
            <a:off x="6894576" y="397764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62" name="Shape 54"/>
          <p:cNvSpPr/>
          <p:nvPr/>
        </p:nvSpPr>
        <p:spPr>
          <a:xfrm>
            <a:off x="1783080" y="436168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63" name="Text 55"/>
          <p:cNvSpPr txBox="1"/>
          <p:nvPr/>
        </p:nvSpPr>
        <p:spPr>
          <a:xfrm>
            <a:off x="1783080" y="43616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050" dirty="0"/>
          </a:p>
        </p:txBody>
      </p:sp>
      <p:sp>
        <p:nvSpPr>
          <p:cNvPr id="64" name="Shape 56"/>
          <p:cNvSpPr/>
          <p:nvPr/>
        </p:nvSpPr>
        <p:spPr>
          <a:xfrm>
            <a:off x="2852928" y="4361688"/>
            <a:ext cx="1984248" cy="27432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65" name="Text 57"/>
          <p:cNvSpPr txBox="1"/>
          <p:nvPr/>
        </p:nvSpPr>
        <p:spPr>
          <a:xfrm>
            <a:off x="2852928" y="436168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1050" dirty="0"/>
          </a:p>
        </p:txBody>
      </p:sp>
      <p:sp>
        <p:nvSpPr>
          <p:cNvPr id="66" name="Text 58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67" name="Text 59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55064" cy="274320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OVERLEAF &amp; LATEX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Overleaf and LaTeX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48640" cy="54864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6459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90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Overleaf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783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LaTeX editor in your browser. Nothing to install, easy to share.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560320"/>
            <a:ext cx="548640" cy="548640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697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2542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188720" y="2834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typesetting system for technical papers. Equations, figures and references stay consistent.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7200" y="3611880"/>
            <a:ext cx="548640" cy="548640"/>
          </a:xfrm>
          <a:prstGeom prst="ellipse">
            <a:avLst/>
          </a:prstGeom>
          <a:solidFill>
            <a:srgbClr val="F26B5B"/>
          </a:solidFill>
          <a:ln w="6350">
            <a:solidFill>
              <a:srgbClr val="F26B5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7490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88720" y="3593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188720" y="3886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provides ready-made LaTeX templates for papers.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572000" y="1463040"/>
            <a:ext cx="411480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590288" y="1481328"/>
            <a:ext cx="4078224" cy="34747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9" name="Shape 14"/>
          <p:cNvSpPr/>
          <p:nvPr/>
        </p:nvSpPr>
        <p:spPr>
          <a:xfrm>
            <a:off x="4709160" y="1591056"/>
            <a:ext cx="100584" cy="100584"/>
          </a:xfrm>
          <a:prstGeom prst="ellipse">
            <a:avLst/>
          </a:prstGeom>
          <a:solidFill>
            <a:srgbClr val="E9B44C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73752" y="1591056"/>
            <a:ext cx="100584" cy="100584"/>
          </a:xfrm>
          <a:prstGeom prst="ellipse">
            <a:avLst/>
          </a:prstGeom>
          <a:solidFill>
            <a:srgbClr val="22B8A8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038344" y="1591056"/>
            <a:ext cx="100584" cy="100584"/>
          </a:xfrm>
          <a:prstGeom prst="ellipse">
            <a:avLst/>
          </a:prstGeom>
          <a:solidFill>
            <a:srgbClr val="C9D3EE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589520" y="1536192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2EAD4B"/>
          </a:solidFill>
          <a:ln w="6350">
            <a:solidFill>
              <a:srgbClr val="2EAD4B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589520" y="153619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Recompile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590288" y="1828800"/>
            <a:ext cx="868680" cy="2679192"/>
          </a:xfrm>
          <a:prstGeom prst="rect">
            <a:avLst/>
          </a:prstGeom>
          <a:solidFill>
            <a:srgbClr val="EEF1F8"/>
          </a:solidFill>
          <a:ln w="6350">
            <a:solidFill>
              <a:srgbClr val="DDE2EE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663440" y="19659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main.tex</a:t>
            </a:r>
            <a:endParaRPr lang="en-US" sz="850" dirty="0"/>
          </a:p>
        </p:txBody>
      </p:sp>
      <p:sp>
        <p:nvSpPr>
          <p:cNvPr id="26" name="Text 21"/>
          <p:cNvSpPr txBox="1"/>
          <p:nvPr/>
        </p:nvSpPr>
        <p:spPr>
          <a:xfrm>
            <a:off x="4663440" y="222199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refs.bib</a:t>
            </a:r>
            <a:endParaRPr lang="en-US" sz="850" dirty="0"/>
          </a:p>
        </p:txBody>
      </p:sp>
      <p:sp>
        <p:nvSpPr>
          <p:cNvPr id="27" name="Text 22"/>
          <p:cNvSpPr txBox="1"/>
          <p:nvPr/>
        </p:nvSpPr>
        <p:spPr>
          <a:xfrm>
            <a:off x="4663440" y="247802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figures/</a:t>
            </a:r>
            <a:endParaRPr lang="en-US" sz="850" dirty="0"/>
          </a:p>
        </p:txBody>
      </p:sp>
      <p:sp>
        <p:nvSpPr>
          <p:cNvPr id="28" name="Text 23"/>
          <p:cNvSpPr txBox="1"/>
          <p:nvPr/>
        </p:nvSpPr>
        <p:spPr>
          <a:xfrm>
            <a:off x="4663440" y="2734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IEEE.cls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5458968" y="1828800"/>
            <a:ext cx="1737360" cy="2679192"/>
          </a:xfrm>
          <a:prstGeom prst="rect">
            <a:avLst/>
          </a:prstGeom>
          <a:solidFill>
            <a:srgbClr val="141B33"/>
          </a:solidFill>
          <a:ln/>
        </p:spPr>
      </p:sp>
      <p:sp>
        <p:nvSpPr>
          <p:cNvPr id="30" name="Shape 25"/>
          <p:cNvSpPr/>
          <p:nvPr/>
        </p:nvSpPr>
        <p:spPr>
          <a:xfrm>
            <a:off x="5577840" y="2011680"/>
            <a:ext cx="1188720" cy="82296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31" name="Shape 26"/>
          <p:cNvSpPr/>
          <p:nvPr/>
        </p:nvSpPr>
        <p:spPr>
          <a:xfrm>
            <a:off x="5577840" y="2258568"/>
            <a:ext cx="822960" cy="82296"/>
          </a:xfrm>
          <a:prstGeom prst="rect">
            <a:avLst/>
          </a:prstGeom>
          <a:solidFill>
            <a:srgbClr val="E6EBFA"/>
          </a:solidFill>
          <a:ln/>
        </p:spPr>
      </p:sp>
      <p:sp>
        <p:nvSpPr>
          <p:cNvPr id="32" name="Shape 27"/>
          <p:cNvSpPr/>
          <p:nvPr/>
        </p:nvSpPr>
        <p:spPr>
          <a:xfrm>
            <a:off x="5577840" y="2505456"/>
            <a:ext cx="1371600" cy="82296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33" name="Shape 28"/>
          <p:cNvSpPr/>
          <p:nvPr/>
        </p:nvSpPr>
        <p:spPr>
          <a:xfrm>
            <a:off x="5577840" y="2752344"/>
            <a:ext cx="1005840" cy="82296"/>
          </a:xfrm>
          <a:prstGeom prst="rect">
            <a:avLst/>
          </a:prstGeom>
          <a:solidFill>
            <a:srgbClr val="E6EBFA"/>
          </a:solidFill>
          <a:ln/>
        </p:spPr>
      </p:sp>
      <p:sp>
        <p:nvSpPr>
          <p:cNvPr id="34" name="Shape 29"/>
          <p:cNvSpPr/>
          <p:nvPr/>
        </p:nvSpPr>
        <p:spPr>
          <a:xfrm>
            <a:off x="5577840" y="2999232"/>
            <a:ext cx="1280160" cy="82296"/>
          </a:xfrm>
          <a:prstGeom prst="rect">
            <a:avLst/>
          </a:prstGeom>
          <a:solidFill>
            <a:srgbClr val="E6EBFA"/>
          </a:solidFill>
          <a:ln/>
        </p:spPr>
      </p:sp>
      <p:sp>
        <p:nvSpPr>
          <p:cNvPr id="35" name="Shape 30"/>
          <p:cNvSpPr/>
          <p:nvPr/>
        </p:nvSpPr>
        <p:spPr>
          <a:xfrm>
            <a:off x="5577840" y="3246120"/>
            <a:ext cx="914400" cy="82296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36" name="Shape 31"/>
          <p:cNvSpPr/>
          <p:nvPr/>
        </p:nvSpPr>
        <p:spPr>
          <a:xfrm>
            <a:off x="5577840" y="3493008"/>
            <a:ext cx="1097280" cy="82296"/>
          </a:xfrm>
          <a:prstGeom prst="rect">
            <a:avLst/>
          </a:prstGeom>
          <a:solidFill>
            <a:srgbClr val="E6EBFA"/>
          </a:solidFill>
          <a:ln/>
        </p:spPr>
      </p:sp>
      <p:sp>
        <p:nvSpPr>
          <p:cNvPr id="37" name="Shape 32"/>
          <p:cNvSpPr/>
          <p:nvPr/>
        </p:nvSpPr>
        <p:spPr>
          <a:xfrm>
            <a:off x="5577840" y="3739896"/>
            <a:ext cx="640080" cy="82296"/>
          </a:xfrm>
          <a:prstGeom prst="rect">
            <a:avLst/>
          </a:prstGeom>
          <a:solidFill>
            <a:srgbClr val="E6EBFA"/>
          </a:solidFill>
          <a:ln/>
        </p:spPr>
      </p:sp>
      <p:sp>
        <p:nvSpPr>
          <p:cNvPr id="38" name="Shape 33"/>
          <p:cNvSpPr/>
          <p:nvPr/>
        </p:nvSpPr>
        <p:spPr>
          <a:xfrm>
            <a:off x="5577840" y="3986784"/>
            <a:ext cx="1280160" cy="82296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39" name="Shape 34"/>
          <p:cNvSpPr/>
          <p:nvPr/>
        </p:nvSpPr>
        <p:spPr>
          <a:xfrm>
            <a:off x="7196328" y="1828800"/>
            <a:ext cx="1472184" cy="2679192"/>
          </a:xfrm>
          <a:prstGeom prst="rect">
            <a:avLst/>
          </a:prstGeom>
          <a:solidFill>
            <a:srgbClr val="D9DEEA"/>
          </a:solidFill>
          <a:ln/>
        </p:spPr>
      </p:sp>
      <p:sp>
        <p:nvSpPr>
          <p:cNvPr id="40" name="Shape 35"/>
          <p:cNvSpPr/>
          <p:nvPr/>
        </p:nvSpPr>
        <p:spPr>
          <a:xfrm>
            <a:off x="7360920" y="2011680"/>
            <a:ext cx="11430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E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543800" y="2194560"/>
            <a:ext cx="777240" cy="9144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2" name="Shape 37"/>
          <p:cNvSpPr/>
          <p:nvPr/>
        </p:nvSpPr>
        <p:spPr>
          <a:xfrm>
            <a:off x="7452360" y="2468880"/>
            <a:ext cx="457200" cy="54864"/>
          </a:xfrm>
          <a:prstGeom prst="rect">
            <a:avLst/>
          </a:prstGeom>
          <a:solidFill>
            <a:srgbClr val="B9C0D2"/>
          </a:solidFill>
          <a:ln/>
        </p:spPr>
      </p:sp>
      <p:sp>
        <p:nvSpPr>
          <p:cNvPr id="43" name="Shape 38"/>
          <p:cNvSpPr/>
          <p:nvPr/>
        </p:nvSpPr>
        <p:spPr>
          <a:xfrm>
            <a:off x="7955280" y="2468880"/>
            <a:ext cx="457200" cy="54864"/>
          </a:xfrm>
          <a:prstGeom prst="rect">
            <a:avLst/>
          </a:prstGeom>
          <a:solidFill>
            <a:srgbClr val="B9C0D2"/>
          </a:solidFill>
          <a:ln/>
        </p:spPr>
      </p:sp>
      <p:sp>
        <p:nvSpPr>
          <p:cNvPr id="44" name="Shape 39"/>
          <p:cNvSpPr/>
          <p:nvPr/>
        </p:nvSpPr>
        <p:spPr>
          <a:xfrm>
            <a:off x="7452360" y="2670048"/>
            <a:ext cx="457200" cy="54864"/>
          </a:xfrm>
          <a:prstGeom prst="rect">
            <a:avLst/>
          </a:prstGeom>
          <a:solidFill>
            <a:srgbClr val="B9C0D2"/>
          </a:solidFill>
          <a:ln/>
        </p:spPr>
      </p:sp>
      <p:sp>
        <p:nvSpPr>
          <p:cNvPr id="45" name="Shape 40"/>
          <p:cNvSpPr/>
          <p:nvPr/>
        </p:nvSpPr>
        <p:spPr>
          <a:xfrm>
            <a:off x="7955280" y="2670048"/>
            <a:ext cx="457200" cy="54864"/>
          </a:xfrm>
          <a:prstGeom prst="rect">
            <a:avLst/>
          </a:prstGeom>
          <a:solidFill>
            <a:srgbClr val="B9C0D2"/>
          </a:solidFill>
          <a:ln/>
        </p:spPr>
      </p:sp>
      <p:sp>
        <p:nvSpPr>
          <p:cNvPr id="46" name="Shape 41"/>
          <p:cNvSpPr/>
          <p:nvPr/>
        </p:nvSpPr>
        <p:spPr>
          <a:xfrm>
            <a:off x="7452360" y="2871216"/>
            <a:ext cx="457200" cy="54864"/>
          </a:xfrm>
          <a:prstGeom prst="rect">
            <a:avLst/>
          </a:prstGeom>
          <a:solidFill>
            <a:srgbClr val="B9C0D2"/>
          </a:solidFill>
          <a:ln/>
        </p:spPr>
      </p:sp>
      <p:sp>
        <p:nvSpPr>
          <p:cNvPr id="47" name="Shape 42"/>
          <p:cNvSpPr/>
          <p:nvPr/>
        </p:nvSpPr>
        <p:spPr>
          <a:xfrm>
            <a:off x="7955280" y="2871216"/>
            <a:ext cx="457200" cy="54864"/>
          </a:xfrm>
          <a:prstGeom prst="rect">
            <a:avLst/>
          </a:prstGeom>
          <a:solidFill>
            <a:srgbClr val="B9C0D2"/>
          </a:solidFill>
          <a:ln/>
        </p:spPr>
      </p:sp>
      <p:sp>
        <p:nvSpPr>
          <p:cNvPr id="48" name="Shape 43"/>
          <p:cNvSpPr/>
          <p:nvPr/>
        </p:nvSpPr>
        <p:spPr>
          <a:xfrm>
            <a:off x="7452360" y="3072384"/>
            <a:ext cx="457200" cy="54864"/>
          </a:xfrm>
          <a:prstGeom prst="rect">
            <a:avLst/>
          </a:prstGeom>
          <a:solidFill>
            <a:srgbClr val="B9C0D2"/>
          </a:solidFill>
          <a:ln/>
        </p:spPr>
      </p:sp>
      <p:sp>
        <p:nvSpPr>
          <p:cNvPr id="49" name="Shape 44"/>
          <p:cNvSpPr/>
          <p:nvPr/>
        </p:nvSpPr>
        <p:spPr>
          <a:xfrm>
            <a:off x="7955280" y="3072384"/>
            <a:ext cx="457200" cy="54864"/>
          </a:xfrm>
          <a:prstGeom prst="rect">
            <a:avLst/>
          </a:prstGeom>
          <a:solidFill>
            <a:srgbClr val="B9C0D2"/>
          </a:solidFill>
          <a:ln/>
        </p:spPr>
      </p:sp>
      <p:sp>
        <p:nvSpPr>
          <p:cNvPr id="50" name="Shape 45"/>
          <p:cNvSpPr/>
          <p:nvPr/>
        </p:nvSpPr>
        <p:spPr>
          <a:xfrm>
            <a:off x="7452360" y="3273552"/>
            <a:ext cx="457200" cy="54864"/>
          </a:xfrm>
          <a:prstGeom prst="rect">
            <a:avLst/>
          </a:prstGeom>
          <a:solidFill>
            <a:srgbClr val="B9C0D2"/>
          </a:solidFill>
          <a:ln/>
        </p:spPr>
      </p:sp>
      <p:sp>
        <p:nvSpPr>
          <p:cNvPr id="51" name="Shape 46"/>
          <p:cNvSpPr/>
          <p:nvPr/>
        </p:nvSpPr>
        <p:spPr>
          <a:xfrm>
            <a:off x="7955280" y="3273552"/>
            <a:ext cx="457200" cy="54864"/>
          </a:xfrm>
          <a:prstGeom prst="rect">
            <a:avLst/>
          </a:prstGeom>
          <a:solidFill>
            <a:srgbClr val="B9C0D2"/>
          </a:solidFill>
          <a:ln/>
        </p:spPr>
      </p:sp>
      <p:sp>
        <p:nvSpPr>
          <p:cNvPr id="52" name="Shape 47"/>
          <p:cNvSpPr/>
          <p:nvPr/>
        </p:nvSpPr>
        <p:spPr>
          <a:xfrm>
            <a:off x="7452360" y="3474720"/>
            <a:ext cx="457200" cy="54864"/>
          </a:xfrm>
          <a:prstGeom prst="rect">
            <a:avLst/>
          </a:prstGeom>
          <a:solidFill>
            <a:srgbClr val="B9C0D2"/>
          </a:solidFill>
          <a:ln/>
        </p:spPr>
      </p:sp>
      <p:sp>
        <p:nvSpPr>
          <p:cNvPr id="53" name="Shape 48"/>
          <p:cNvSpPr/>
          <p:nvPr/>
        </p:nvSpPr>
        <p:spPr>
          <a:xfrm>
            <a:off x="7955280" y="3474720"/>
            <a:ext cx="457200" cy="54864"/>
          </a:xfrm>
          <a:prstGeom prst="rect">
            <a:avLst/>
          </a:prstGeom>
          <a:solidFill>
            <a:srgbClr val="B9C0D2"/>
          </a:solidFill>
          <a:ln/>
        </p:spPr>
      </p:sp>
      <p:sp>
        <p:nvSpPr>
          <p:cNvPr id="54" name="Shape 49"/>
          <p:cNvSpPr/>
          <p:nvPr/>
        </p:nvSpPr>
        <p:spPr>
          <a:xfrm>
            <a:off x="7452360" y="3675888"/>
            <a:ext cx="457200" cy="54864"/>
          </a:xfrm>
          <a:prstGeom prst="rect">
            <a:avLst/>
          </a:prstGeom>
          <a:solidFill>
            <a:srgbClr val="B9C0D2"/>
          </a:solidFill>
          <a:ln/>
        </p:spPr>
      </p:sp>
      <p:sp>
        <p:nvSpPr>
          <p:cNvPr id="55" name="Shape 50"/>
          <p:cNvSpPr/>
          <p:nvPr/>
        </p:nvSpPr>
        <p:spPr>
          <a:xfrm>
            <a:off x="7955280" y="3675888"/>
            <a:ext cx="457200" cy="54864"/>
          </a:xfrm>
          <a:prstGeom prst="rect">
            <a:avLst/>
          </a:prstGeom>
          <a:solidFill>
            <a:srgbClr val="B9C0D2"/>
          </a:solidFill>
          <a:ln/>
        </p:spPr>
      </p:sp>
      <p:sp>
        <p:nvSpPr>
          <p:cNvPr id="56" name="Shape 51"/>
          <p:cNvSpPr/>
          <p:nvPr/>
        </p:nvSpPr>
        <p:spPr>
          <a:xfrm>
            <a:off x="7452360" y="3877056"/>
            <a:ext cx="457200" cy="54864"/>
          </a:xfrm>
          <a:prstGeom prst="rect">
            <a:avLst/>
          </a:prstGeom>
          <a:solidFill>
            <a:srgbClr val="B9C0D2"/>
          </a:solidFill>
          <a:ln/>
        </p:spPr>
      </p:sp>
      <p:sp>
        <p:nvSpPr>
          <p:cNvPr id="57" name="Shape 52"/>
          <p:cNvSpPr/>
          <p:nvPr/>
        </p:nvSpPr>
        <p:spPr>
          <a:xfrm>
            <a:off x="7955280" y="3877056"/>
            <a:ext cx="457200" cy="54864"/>
          </a:xfrm>
          <a:prstGeom prst="rect">
            <a:avLst/>
          </a:prstGeom>
          <a:solidFill>
            <a:srgbClr val="B9C0D2"/>
          </a:solidFill>
          <a:ln/>
        </p:spPr>
      </p:sp>
      <p:sp>
        <p:nvSpPr>
          <p:cNvPr id="58" name="Text 53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59" name="Text 54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55064" cy="274320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OVERLEAF &amp; LATEX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.tex File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572000" cy="3108960"/>
          </a:xfrm>
          <a:prstGeom prst="roundRect">
            <a:avLst>
              <a:gd name="adj" fmla="val 2941"/>
            </a:avLst>
          </a:prstGeom>
          <a:solidFill>
            <a:srgbClr val="0B1226"/>
          </a:solidFill>
          <a:ln w="6350">
            <a:solidFill>
              <a:srgbClr val="0B122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1C2D5E"/>
          </a:solidFill>
          <a:ln w="6350">
            <a:solidFill>
              <a:srgbClr val="1C2D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002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main.tex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65960"/>
            <a:ext cx="4206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B4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\documentclass</a:t>
            </a:r>
            <a:r>
              <a:rPr lang="en-US" sz="1200" dirty="0">
                <a:solidFill>
                  <a:srgbClr val="E6E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[conference]{IEEEtran}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B4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\usepackage</a:t>
            </a:r>
            <a:r>
              <a:rPr lang="en-US" sz="1200" dirty="0">
                <a:solidFill>
                  <a:srgbClr val="E6E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{graphicx}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B4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\begin</a:t>
            </a:r>
            <a:r>
              <a:rPr lang="en-US" sz="1200" dirty="0">
                <a:solidFill>
                  <a:srgbClr val="E6E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{document}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B4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\title</a:t>
            </a:r>
            <a:r>
              <a:rPr lang="en-US" sz="1200" dirty="0">
                <a:solidFill>
                  <a:srgbClr val="E6E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{My Paper Title}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B4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\maketitle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B4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\section</a:t>
            </a:r>
            <a:r>
              <a:rPr lang="en-US" sz="1200" dirty="0">
                <a:solidFill>
                  <a:srgbClr val="E6E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{Introduction}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text goes here...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B4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\bibliographystyle</a:t>
            </a:r>
            <a:r>
              <a:rPr lang="en-US" sz="1200" dirty="0">
                <a:solidFill>
                  <a:srgbClr val="E6E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{IEEEtran}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B4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\bibliography</a:t>
            </a:r>
            <a:r>
              <a:rPr lang="en-US" sz="1200" dirty="0">
                <a:solidFill>
                  <a:srgbClr val="E6E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{references}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B4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\end</a:t>
            </a:r>
            <a:r>
              <a:rPr lang="en-US" sz="1200" dirty="0">
                <a:solidFill>
                  <a:srgbClr val="E6E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{document}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0" y="1463040"/>
            <a:ext cx="1600200" cy="457200"/>
          </a:xfrm>
          <a:prstGeom prst="roundRect">
            <a:avLst>
              <a:gd name="adj" fmla="val 16000"/>
            </a:avLst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0" y="1463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B4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\documentclass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463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template type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3520" y="2103120"/>
            <a:ext cx="1600200" cy="457200"/>
          </a:xfrm>
          <a:prstGeom prst="roundRect">
            <a:avLst>
              <a:gd name="adj" fmla="val 16000"/>
            </a:avLst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0" y="21031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B4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\usepackage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extra features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303520" y="2743200"/>
            <a:ext cx="1600200" cy="457200"/>
          </a:xfrm>
          <a:prstGeom prst="roundRect">
            <a:avLst>
              <a:gd name="adj" fmla="val 16000"/>
            </a:avLst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0" y="2743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B4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\section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2743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paper structure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03520" y="3383280"/>
            <a:ext cx="1600200" cy="457200"/>
          </a:xfrm>
          <a:prstGeom prst="roundRect">
            <a:avLst>
              <a:gd name="adj" fmla="val 16000"/>
            </a:avLst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0" y="3383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B4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\bibliography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3383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your .bib references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303520" y="4023360"/>
            <a:ext cx="1600200" cy="457200"/>
          </a:xfrm>
          <a:prstGeom prst="roundRect">
            <a:avLst>
              <a:gd name="adj" fmla="val 16000"/>
            </a:avLst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520" y="4023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B4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Recompile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023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PDF preview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21892" cy="274320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421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TEMPLATE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IEEE Formatting Essentials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87752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82496"/>
            <a:ext cx="457200" cy="45720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179679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template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IEEE one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78124" y="1463040"/>
            <a:ext cx="2587752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61004" y="1682496"/>
            <a:ext cx="457200" cy="457200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304" y="179679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55364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Two-column layout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055364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IEEE format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99048" y="1463040"/>
            <a:ext cx="2587752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81928" y="1682496"/>
            <a:ext cx="457200" cy="457200"/>
          </a:xfrm>
          <a:prstGeom prst="ellipse">
            <a:avLst/>
          </a:prstGeom>
          <a:solidFill>
            <a:srgbClr val="F26B5B"/>
          </a:solidFill>
          <a:ln w="6350">
            <a:solidFill>
              <a:srgbClr val="F26B5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6228" y="179679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76288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and authors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6876288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affiliations too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7200" y="2496312"/>
            <a:ext cx="2587752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" y="2715768"/>
            <a:ext cx="457200" cy="457200"/>
          </a:xfrm>
          <a:prstGeom prst="ellipse">
            <a:avLst/>
          </a:prstGeom>
          <a:solidFill>
            <a:srgbClr val="6C63FF"/>
          </a:solidFill>
          <a:ln w="6350">
            <a:solidFill>
              <a:srgbClr val="6C63F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" y="2830068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34440" y="2679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and keywords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1234440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them correctly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278124" y="2496312"/>
            <a:ext cx="2587752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461004" y="2715768"/>
            <a:ext cx="457200" cy="457200"/>
          </a:xfrm>
          <a:prstGeom prst="ellipse">
            <a:avLst/>
          </a:prstGeom>
          <a:solidFill>
            <a:srgbClr val="38A3F5"/>
          </a:solidFill>
          <a:ln w="6350">
            <a:solidFill>
              <a:srgbClr val="38A3F5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5304" y="2830068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055364" y="2679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and captions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4055364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label visuals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099048" y="2496312"/>
            <a:ext cx="2587752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81928" y="2715768"/>
            <a:ext cx="457200" cy="45720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6228" y="2830068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876288" y="2679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6876288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format them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457200" y="3529584"/>
            <a:ext cx="2587752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380" y="3863340"/>
            <a:ext cx="228600" cy="2286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234440" y="37124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350" dirty="0"/>
          </a:p>
        </p:txBody>
      </p:sp>
      <p:sp>
        <p:nvSpPr>
          <p:cNvPr id="39" name="Text 30"/>
          <p:cNvSpPr txBox="1"/>
          <p:nvPr/>
        </p:nvSpPr>
        <p:spPr>
          <a:xfrm>
            <a:off x="1234440" y="4005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maths in LaTeX</a:t>
            </a:r>
            <a:endParaRPr lang="en-US" sz="1150" dirty="0"/>
          </a:p>
        </p:txBody>
      </p:sp>
      <p:sp>
        <p:nvSpPr>
          <p:cNvPr id="40" name="Shape 31"/>
          <p:cNvSpPr/>
          <p:nvPr/>
        </p:nvSpPr>
        <p:spPr>
          <a:xfrm>
            <a:off x="3278124" y="3529584"/>
            <a:ext cx="2587752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3461004" y="3749040"/>
            <a:ext cx="457200" cy="457200"/>
          </a:xfrm>
          <a:prstGeom prst="ellipse">
            <a:avLst/>
          </a:prstGeom>
          <a:solidFill>
            <a:srgbClr val="F26B5B"/>
          </a:solidFill>
          <a:ln w="6350">
            <a:solidFill>
              <a:srgbClr val="F26B5B"/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75304" y="3863340"/>
            <a:ext cx="228600" cy="22860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4055364" y="37124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350" dirty="0"/>
          </a:p>
        </p:txBody>
      </p:sp>
      <p:sp>
        <p:nvSpPr>
          <p:cNvPr id="44" name="Text 34"/>
          <p:cNvSpPr txBox="1"/>
          <p:nvPr/>
        </p:nvSpPr>
        <p:spPr>
          <a:xfrm>
            <a:off x="4055364" y="4005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formatting</a:t>
            </a:r>
            <a:endParaRPr lang="en-US" sz="1150" dirty="0"/>
          </a:p>
        </p:txBody>
      </p:sp>
      <p:sp>
        <p:nvSpPr>
          <p:cNvPr id="45" name="Shape 35"/>
          <p:cNvSpPr/>
          <p:nvPr/>
        </p:nvSpPr>
        <p:spPr>
          <a:xfrm>
            <a:off x="6099048" y="3529584"/>
            <a:ext cx="2587752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6281928" y="3749040"/>
            <a:ext cx="457200" cy="457200"/>
          </a:xfrm>
          <a:prstGeom prst="ellipse">
            <a:avLst/>
          </a:prstGeom>
          <a:solidFill>
            <a:srgbClr val="6C63FF"/>
          </a:solidFill>
          <a:ln w="6350">
            <a:solidFill>
              <a:srgbClr val="6C63FF"/>
            </a:solidFill>
            <a:prstDash val="solid"/>
          </a:ln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6228" y="3863340"/>
            <a:ext cx="228600" cy="22860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6876288" y="37124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</a:t>
            </a:r>
            <a:endParaRPr lang="en-US" sz="1350" dirty="0"/>
          </a:p>
        </p:txBody>
      </p:sp>
      <p:sp>
        <p:nvSpPr>
          <p:cNvPr id="49" name="Text 38"/>
          <p:cNvSpPr txBox="1"/>
          <p:nvPr/>
        </p:nvSpPr>
        <p:spPr>
          <a:xfrm>
            <a:off x="6876288" y="4005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Figures, tables, sections</a:t>
            </a:r>
            <a:endParaRPr lang="en-US" sz="1150" dirty="0"/>
          </a:p>
        </p:txBody>
      </p:sp>
      <p:sp>
        <p:nvSpPr>
          <p:cNvPr id="50" name="Text 39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51" name="Text 40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LATEX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AI Write the LaTeX for You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155905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14630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from structured content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384048" cy="384048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" y="2107692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05840" y="20116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equations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560320"/>
            <a:ext cx="384048" cy="384048"/>
          </a:xfrm>
          <a:prstGeom prst="ellipse">
            <a:avLst/>
          </a:prstGeom>
          <a:solidFill>
            <a:srgbClr val="F26B5B"/>
          </a:solidFill>
          <a:ln w="6350">
            <a:solidFill>
              <a:srgbClr val="F26B5B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" y="2656332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05840" y="25603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 and diagrams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57200" y="3108960"/>
            <a:ext cx="384048" cy="384048"/>
          </a:xfrm>
          <a:prstGeom prst="ellipse">
            <a:avLst/>
          </a:prstGeom>
          <a:solidFill>
            <a:srgbClr val="6C63FF"/>
          </a:solidFill>
          <a:ln w="6350">
            <a:solidFill>
              <a:srgbClr val="6C63FF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" y="3204972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05840" y="31089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changes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57200" y="3657600"/>
            <a:ext cx="384048" cy="384048"/>
          </a:xfrm>
          <a:prstGeom prst="ellipse">
            <a:avLst/>
          </a:prstGeom>
          <a:solidFill>
            <a:srgbClr val="38A3F5"/>
          </a:solidFill>
          <a:ln w="6350">
            <a:solidFill>
              <a:srgbClr val="38A3F5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" y="3753612"/>
            <a:ext cx="192024" cy="19202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05840" y="36576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for compile errors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" y="4206240"/>
            <a:ext cx="384048" cy="384048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212" y="4302252"/>
            <a:ext cx="192024" cy="19202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05840" y="42062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adapted from GPT tools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4754880" y="1463040"/>
            <a:ext cx="3931920" cy="2148840"/>
          </a:xfrm>
          <a:prstGeom prst="roundRect">
            <a:avLst>
              <a:gd name="adj" fmla="val 5106"/>
            </a:avLst>
          </a:prstGeom>
          <a:solidFill>
            <a:srgbClr val="0F1B3D"/>
          </a:solidFill>
          <a:ln w="9525">
            <a:solidFill>
              <a:srgbClr val="0F1B3D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5029200" y="16276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PROMPT</a:t>
            </a:r>
            <a:endParaRPr lang="en-US" sz="1050" dirty="0"/>
          </a:p>
        </p:txBody>
      </p:sp>
      <p:sp>
        <p:nvSpPr>
          <p:cNvPr id="25" name="Text 17"/>
          <p:cNvSpPr txBox="1"/>
          <p:nvPr/>
        </p:nvSpPr>
        <p:spPr>
          <a:xfrm>
            <a:off x="5029200" y="196596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IEEE-style LaTeX table with the columns Method, Accuracy and Limitations. Add a caption and a label so I can cross-reference it.</a:t>
            </a:r>
            <a:endParaRPr lang="en-US" sz="1500" dirty="0"/>
          </a:p>
        </p:txBody>
      </p:sp>
      <p:sp>
        <p:nvSpPr>
          <p:cNvPr id="26" name="Shape 18"/>
          <p:cNvSpPr/>
          <p:nvPr/>
        </p:nvSpPr>
        <p:spPr>
          <a:xfrm>
            <a:off x="4754880" y="379476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FF1CF"/>
          </a:solidFill>
          <a:ln w="9525">
            <a:solidFill>
              <a:srgbClr val="FFF1CF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4937760" y="3950208"/>
            <a:ext cx="457200" cy="45720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2060" y="4064508"/>
            <a:ext cx="228600" cy="2286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532120" y="3794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you use it: compile the code and check every fact.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31" name="Text 22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21892" cy="274320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421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 Real Research Paper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834640" cy="3108960"/>
          </a:xfrm>
          <a:prstGeom prst="roundRect">
            <a:avLst>
              <a:gd name="adj" fmla="val 3871"/>
            </a:avLst>
          </a:prstGeom>
          <a:solidFill>
            <a:srgbClr val="0F1B3D"/>
          </a:solidFill>
          <a:ln w="9525">
            <a:solidFill>
              <a:srgbClr val="0F1B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783080"/>
            <a:ext cx="822960" cy="82296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0" y="19888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2788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2918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trainer's major project research paper in Overleaf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11880" y="1591056"/>
            <a:ext cx="365760" cy="36576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682496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14800" y="146304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structure and organization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611880" y="2377440"/>
            <a:ext cx="365760" cy="36576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246888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114800" y="2249424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and system architecture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611880" y="3163824"/>
            <a:ext cx="365760" cy="36576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3255264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114800" y="303580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 and technical diagrams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611880" y="3950208"/>
            <a:ext cx="365760" cy="36576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4041648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114800" y="3822192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Figures, tables and equations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217920" y="1591056"/>
            <a:ext cx="365760" cy="36576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682496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720840" y="146304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discussion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6217920" y="2377440"/>
            <a:ext cx="365760" cy="36576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468880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720840" y="2249424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citations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6217920" y="3163824"/>
            <a:ext cx="365760" cy="36576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255264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6720840" y="303580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 implementation in Overleaf</a:t>
            </a:r>
            <a:endParaRPr lang="en-US" sz="1300" dirty="0"/>
          </a:p>
        </p:txBody>
      </p:sp>
      <p:sp>
        <p:nvSpPr>
          <p:cNvPr id="31" name="Shape 21"/>
          <p:cNvSpPr/>
          <p:nvPr/>
        </p:nvSpPr>
        <p:spPr>
          <a:xfrm>
            <a:off x="6217920" y="3950208"/>
            <a:ext cx="365760" cy="36576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041648"/>
            <a:ext cx="182880" cy="18288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6720840" y="3822192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 of AI while writing</a:t>
            </a:r>
            <a:endParaRPr lang="en-US" sz="1300" dirty="0"/>
          </a:p>
        </p:txBody>
      </p:sp>
      <p:sp>
        <p:nvSpPr>
          <p:cNvPr id="34" name="Text 23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35" name="Text 24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888236" cy="274320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888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|  HANDS-ON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Hands-On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8775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91640"/>
            <a:ext cx="329184" cy="329184"/>
          </a:xfrm>
          <a:prstGeom prst="ellipse">
            <a:avLst/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16916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topic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1762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topic from your engineering discipline.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78124" y="1554480"/>
            <a:ext cx="258775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5284" y="1691640"/>
            <a:ext cx="329184" cy="329184"/>
          </a:xfrm>
          <a:prstGeom prst="ellipse">
            <a:avLst/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5284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45052" y="16916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search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15284" y="21762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3-5 papers. Note findings, methods and limitations.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99048" y="1554480"/>
            <a:ext cx="258775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6208" y="1691640"/>
            <a:ext cx="329184" cy="329184"/>
          </a:xfrm>
          <a:prstGeom prst="ellipse">
            <a:avLst/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6208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65976" y="16916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and outline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36208" y="21762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existing approaches, limits, gap. Draft your structure.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258775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246120"/>
            <a:ext cx="329184" cy="329184"/>
          </a:xfrm>
          <a:prstGeom prst="ellipse">
            <a:avLst/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32461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paper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373075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IEEE template. Add title, authors, abstract, sections and references.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278124" y="3108960"/>
            <a:ext cx="258775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15284" y="3246120"/>
            <a:ext cx="329184" cy="329184"/>
          </a:xfrm>
          <a:prstGeom prst="ellipse">
            <a:avLst/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15284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845052" y="32461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elements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15284" y="373075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figure, flowchart, table and equation using AI-assisted LaTeX.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099048" y="3108960"/>
            <a:ext cx="258775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36208" y="3246120"/>
            <a:ext cx="329184" cy="329184"/>
          </a:xfrm>
          <a:prstGeom prst="ellipse">
            <a:avLst/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6208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665976" y="32461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&amp; debug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236208" y="373075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fix at least one LaTeX issue with AI help.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043684" cy="274320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204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|  CHECKPOINT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Should Have by Now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554480"/>
            <a:ext cx="384048" cy="384048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1650492"/>
            <a:ext cx="192024" cy="192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146304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papers with findings, methods and limitations noted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21408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2212848"/>
            <a:ext cx="384048" cy="384048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2308860"/>
            <a:ext cx="192024" cy="1920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212140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research gap and a paper outline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779776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360" y="2871216"/>
            <a:ext cx="384048" cy="384048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2967228"/>
            <a:ext cx="192024" cy="1920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43000" y="277977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IEEE template in Overleaf with title, authors, abstract and references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57200" y="3438144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94360" y="3529584"/>
            <a:ext cx="384048" cy="384048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3625596"/>
            <a:ext cx="192024" cy="19202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43000" y="3438144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figure, flowchart, table and equation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57200" y="4096512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94360" y="4187952"/>
            <a:ext cx="384048" cy="384048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283964"/>
            <a:ext cx="192024" cy="19202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143000" y="409651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compiled paper with one LaTeX issue fixed using AI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852160" y="1463040"/>
            <a:ext cx="2834640" cy="3108960"/>
          </a:xfrm>
          <a:prstGeom prst="roundRect">
            <a:avLst>
              <a:gd name="adj" fmla="val 3871"/>
            </a:avLst>
          </a:prstGeom>
          <a:solidFill>
            <a:srgbClr val="0F1B3D"/>
          </a:solidFill>
          <a:ln w="9525">
            <a:solidFill>
              <a:srgbClr val="0F1B3D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172200" y="1783080"/>
            <a:ext cx="685800" cy="68580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50" y="1954530"/>
            <a:ext cx="342900" cy="3429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17220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Stuck?</a:t>
            </a:r>
            <a:endParaRPr lang="en-US" sz="2600" dirty="0"/>
          </a:p>
        </p:txBody>
      </p:sp>
      <p:sp>
        <p:nvSpPr>
          <p:cNvPr id="29" name="Text 21"/>
          <p:cNvSpPr txBox="1"/>
          <p:nvPr/>
        </p:nvSpPr>
        <p:spPr>
          <a:xfrm>
            <a:off x="6172200" y="3200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problem to AI and paste the compile log. Then check the fix yourself.</a:t>
            </a:r>
            <a:endParaRPr lang="en-US" sz="1350" dirty="0"/>
          </a:p>
        </p:txBody>
      </p:sp>
      <p:sp>
        <p:nvSpPr>
          <p:cNvPr id="30" name="Text 22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divider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65760"/>
            <a:ext cx="3511296" cy="4389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640080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64008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4300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Resume Building with Overleaf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00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vs CV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2926080" y="3200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84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content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3584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Overleaf resume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96849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for LaTeX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2926080" y="396849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demo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344168" cy="274320"/>
          </a:xfrm>
          <a:prstGeom prst="roundRect">
            <a:avLst>
              <a:gd name="adj" fmla="val 50000"/>
            </a:avLst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VS CV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or CV? Know the Difference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7830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645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4231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and focused: one page for students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a specific role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industry and placement applications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skills, projects and achievements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663440" y="1463040"/>
            <a:ext cx="40233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645920"/>
            <a:ext cx="548640" cy="548640"/>
          </a:xfrm>
          <a:prstGeom prst="ellipse">
            <a:avLst/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7830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623560" y="1645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24231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and more detailed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academic record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academic and research applications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research, publications and teaching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F1B3D"/>
          </a:solidFill>
          <a:ln w="9525">
            <a:solidFill>
              <a:srgbClr val="0F1B3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goal: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one-page, industry-ready engineering resume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99616" cy="274320"/>
          </a:xfrm>
          <a:prstGeom prst="roundRect">
            <a:avLst>
              <a:gd name="adj" fmla="val 50000"/>
            </a:avLst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on an Engineering Resume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499616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645920"/>
            <a:ext cx="548640" cy="54864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17830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28600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contact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139696" y="1463040"/>
            <a:ext cx="1499616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15184" y="1645920"/>
            <a:ext cx="548640" cy="548640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2344" y="17830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31136" y="228600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links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822192" y="1463040"/>
            <a:ext cx="1499616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97680" y="1645920"/>
            <a:ext cx="548640" cy="548640"/>
          </a:xfrm>
          <a:prstGeom prst="ellipse">
            <a:avLst/>
          </a:prstGeom>
          <a:solidFill>
            <a:srgbClr val="F26B5B"/>
          </a:solidFill>
          <a:ln w="6350">
            <a:solidFill>
              <a:srgbClr val="F26B5B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17830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13632" y="228600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504688" y="1463040"/>
            <a:ext cx="1499616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980176" y="1645920"/>
            <a:ext cx="548640" cy="548640"/>
          </a:xfrm>
          <a:prstGeom prst="ellipse">
            <a:avLst/>
          </a:prstGeom>
          <a:solidFill>
            <a:srgbClr val="6C63FF"/>
          </a:solidFill>
          <a:ln w="6350">
            <a:solidFill>
              <a:srgbClr val="6C63FF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336" y="178308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96128" y="228600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7187184" y="1463040"/>
            <a:ext cx="1499616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662672" y="1645920"/>
            <a:ext cx="548640" cy="548640"/>
          </a:xfrm>
          <a:prstGeom prst="ellipse">
            <a:avLst/>
          </a:prstGeom>
          <a:solidFill>
            <a:srgbClr val="38A3F5"/>
          </a:solidFill>
          <a:ln w="6350">
            <a:solidFill>
              <a:srgbClr val="38A3F5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9832" y="178308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278624" y="228600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57200" y="2926080"/>
            <a:ext cx="1499616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932688" y="3108960"/>
            <a:ext cx="548640" cy="54864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9848" y="3246120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48640" y="374904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 and experience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2139696" y="2926080"/>
            <a:ext cx="1499616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2615184" y="3108960"/>
            <a:ext cx="548640" cy="548640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2344" y="3246120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2231136" y="374904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3822192" y="2926080"/>
            <a:ext cx="1499616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4297680" y="3108960"/>
            <a:ext cx="548640" cy="548640"/>
          </a:xfrm>
          <a:prstGeom prst="ellipse">
            <a:avLst/>
          </a:prstGeom>
          <a:solidFill>
            <a:srgbClr val="F26B5B"/>
          </a:solidFill>
          <a:ln w="6350">
            <a:solidFill>
              <a:srgbClr val="F26B5B"/>
            </a:solidFill>
            <a:prstDash val="solid"/>
          </a:ln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4840" y="3246120"/>
            <a:ext cx="274320" cy="27432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3913632" y="374904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250" dirty="0"/>
          </a:p>
        </p:txBody>
      </p:sp>
      <p:sp>
        <p:nvSpPr>
          <p:cNvPr id="37" name="Shape 27"/>
          <p:cNvSpPr/>
          <p:nvPr/>
        </p:nvSpPr>
        <p:spPr>
          <a:xfrm>
            <a:off x="5504688" y="2926080"/>
            <a:ext cx="1499616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5980176" y="3108960"/>
            <a:ext cx="548640" cy="548640"/>
          </a:xfrm>
          <a:prstGeom prst="ellipse">
            <a:avLst/>
          </a:prstGeom>
          <a:solidFill>
            <a:srgbClr val="6C63FF"/>
          </a:solidFill>
          <a:ln w="6350">
            <a:solidFill>
              <a:srgbClr val="6C63FF"/>
            </a:solidFill>
            <a:prstDash val="solid"/>
          </a:ln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17336" y="3246120"/>
            <a:ext cx="274320" cy="27432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5596128" y="374904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250" dirty="0"/>
          </a:p>
        </p:txBody>
      </p:sp>
      <p:sp>
        <p:nvSpPr>
          <p:cNvPr id="41" name="Shape 30"/>
          <p:cNvSpPr/>
          <p:nvPr/>
        </p:nvSpPr>
        <p:spPr>
          <a:xfrm>
            <a:off x="7187184" y="2926080"/>
            <a:ext cx="1499616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31"/>
          <p:cNvSpPr/>
          <p:nvPr/>
        </p:nvSpPr>
        <p:spPr>
          <a:xfrm>
            <a:off x="7662672" y="3108960"/>
            <a:ext cx="548640" cy="548640"/>
          </a:xfrm>
          <a:prstGeom prst="ellipse">
            <a:avLst/>
          </a:prstGeom>
          <a:solidFill>
            <a:srgbClr val="38A3F5"/>
          </a:solidFill>
          <a:ln w="6350">
            <a:solidFill>
              <a:srgbClr val="38A3F5"/>
            </a:solidFill>
            <a:prstDash val="solid"/>
          </a:ln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99832" y="3246120"/>
            <a:ext cx="274320" cy="274320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7278624" y="374904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of responsibility</a:t>
            </a:r>
            <a:endParaRPr lang="en-US" sz="1250" dirty="0"/>
          </a:p>
        </p:txBody>
      </p:sp>
      <p:sp>
        <p:nvSpPr>
          <p:cNvPr id="45" name="Text 3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what is relevant to the target role. Not every section is needed.</a:t>
            </a:r>
            <a:endParaRPr lang="en-US" sz="1250" dirty="0"/>
          </a:p>
        </p:txBody>
      </p:sp>
      <p:sp>
        <p:nvSpPr>
          <p:cNvPr id="46" name="Text 34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47" name="Text 35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888236" cy="274320"/>
          </a:xfrm>
          <a:prstGeom prst="roundRect">
            <a:avLst>
              <a:gd name="adj" fmla="val 50000"/>
            </a:avLst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888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CONTENT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Can Sharpen Your Resume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02920" cy="50292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" y="16344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your info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773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scattered details into clean sections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295144"/>
            <a:ext cx="502920" cy="502920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" y="2420874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project write-ups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2560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built, how, and the result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081528"/>
            <a:ext cx="502920" cy="502920"/>
          </a:xfrm>
          <a:prstGeom prst="ellipse">
            <a:avLst/>
          </a:prstGeom>
          <a:solidFill>
            <a:srgbClr val="F26B5B"/>
          </a:solidFill>
          <a:ln w="6350">
            <a:solidFill>
              <a:srgbClr val="F26B5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" y="3207258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43000" y="3054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bullet points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33467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achievement and experience lines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57200" y="3867912"/>
            <a:ext cx="502920" cy="502920"/>
          </a:xfrm>
          <a:prstGeom prst="ellipse">
            <a:avLst/>
          </a:prstGeom>
          <a:solidFill>
            <a:srgbClr val="6C63FF"/>
          </a:solidFill>
          <a:ln w="6350">
            <a:solidFill>
              <a:srgbClr val="6C63FF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930" y="3993642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4300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technical skills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1143000" y="4133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them into clear categories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663440" y="1508760"/>
            <a:ext cx="502920" cy="502920"/>
          </a:xfrm>
          <a:prstGeom prst="ellipse">
            <a:avLst/>
          </a:prstGeom>
          <a:solidFill>
            <a:srgbClr val="38A3F5"/>
          </a:solidFill>
          <a:ln w="6350">
            <a:solidFill>
              <a:srgbClr val="38A3F5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9170" y="1634490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349240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and content polish</a:t>
            </a:r>
            <a:endParaRPr lang="en-US" sz="1450" dirty="0"/>
          </a:p>
        </p:txBody>
      </p:sp>
      <p:sp>
        <p:nvSpPr>
          <p:cNvPr id="24" name="Text 17"/>
          <p:cNvSpPr txBox="1"/>
          <p:nvPr/>
        </p:nvSpPr>
        <p:spPr>
          <a:xfrm>
            <a:off x="5349240" y="1773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wording and consistency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663440" y="2295144"/>
            <a:ext cx="502920" cy="50292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9170" y="2420874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349240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what is missing</a:t>
            </a:r>
            <a:endParaRPr lang="en-US" sz="1450" dirty="0"/>
          </a:p>
        </p:txBody>
      </p:sp>
      <p:sp>
        <p:nvSpPr>
          <p:cNvPr id="28" name="Text 20"/>
          <p:cNvSpPr txBox="1"/>
          <p:nvPr/>
        </p:nvSpPr>
        <p:spPr>
          <a:xfrm>
            <a:off x="5349240" y="2560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gaps in your details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4663440" y="3081528"/>
            <a:ext cx="502920" cy="502920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9170" y="3207258"/>
            <a:ext cx="251460" cy="25146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349240" y="3054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to a target role</a:t>
            </a:r>
            <a:endParaRPr lang="en-US" sz="1450" dirty="0"/>
          </a:p>
        </p:txBody>
      </p:sp>
      <p:sp>
        <p:nvSpPr>
          <p:cNvPr id="32" name="Text 23"/>
          <p:cNvSpPr txBox="1"/>
          <p:nvPr/>
        </p:nvSpPr>
        <p:spPr>
          <a:xfrm>
            <a:off x="5349240" y="33467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your content to the job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4663440" y="3867912"/>
            <a:ext cx="502920" cy="502920"/>
          </a:xfrm>
          <a:prstGeom prst="ellipse">
            <a:avLst/>
          </a:prstGeom>
          <a:solidFill>
            <a:srgbClr val="F26B5B"/>
          </a:solidFill>
          <a:ln w="6350">
            <a:solidFill>
              <a:srgbClr val="F26B5B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89170" y="3993642"/>
            <a:ext cx="251460" cy="25146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534924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LaTeX</a:t>
            </a:r>
            <a:endParaRPr lang="en-US" sz="1450" dirty="0"/>
          </a:p>
        </p:txBody>
      </p:sp>
      <p:sp>
        <p:nvSpPr>
          <p:cNvPr id="36" name="Text 26"/>
          <p:cNvSpPr txBox="1"/>
          <p:nvPr/>
        </p:nvSpPr>
        <p:spPr>
          <a:xfrm>
            <a:off x="5349240" y="4133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modify template code</a:t>
            </a:r>
            <a:endParaRPr lang="en-US" sz="1200" dirty="0"/>
          </a:p>
        </p:txBody>
      </p:sp>
      <p:sp>
        <p:nvSpPr>
          <p:cNvPr id="37" name="Text 27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577340" cy="274320"/>
          </a:xfrm>
          <a:prstGeom prst="roundRect">
            <a:avLst>
              <a:gd name="adj" fmla="val 50000"/>
            </a:avLst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577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MAKEOVER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Vague to Valuable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749040" cy="1737360"/>
          </a:xfrm>
          <a:prstGeom prst="roundRect">
            <a:avLst>
              <a:gd name="adj" fmla="val 6316"/>
            </a:avLst>
          </a:prstGeom>
          <a:solidFill>
            <a:srgbClr val="FDECEC"/>
          </a:solidFill>
          <a:ln w="9525">
            <a:solidFill>
              <a:srgbClr val="FDEC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627632"/>
            <a:ext cx="384048" cy="384048"/>
          </a:xfrm>
          <a:prstGeom prst="ellipse">
            <a:avLst/>
          </a:prstGeom>
          <a:solidFill>
            <a:srgbClr val="D64545"/>
          </a:solidFill>
          <a:ln w="6350">
            <a:solidFill>
              <a:srgbClr val="D6454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1723644"/>
            <a:ext cx="192024" cy="192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6276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a website for my college project. Worked on the backend.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15968" y="2103120"/>
            <a:ext cx="512064" cy="512064"/>
          </a:xfrm>
          <a:prstGeom prst="ellipse">
            <a:avLst/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2231136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937760" y="1463040"/>
            <a:ext cx="3749040" cy="1737360"/>
          </a:xfrm>
          <a:prstGeom prst="roundRect">
            <a:avLst>
              <a:gd name="adj" fmla="val 6316"/>
            </a:avLst>
          </a:prstGeom>
          <a:solidFill>
            <a:srgbClr val="E1F6F3"/>
          </a:solidFill>
          <a:ln w="9525">
            <a:solidFill>
              <a:srgbClr val="E1F6F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138928" y="1627632"/>
            <a:ext cx="384048" cy="384048"/>
          </a:xfrm>
          <a:prstGeom prst="ellipse">
            <a:avLst/>
          </a:prstGeom>
          <a:solidFill>
            <a:srgbClr val="0B7A70"/>
          </a:solidFill>
          <a:ln w="6350">
            <a:solidFill>
              <a:srgbClr val="0B7A7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4940" y="1723644"/>
            <a:ext cx="192024" cy="19202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669280" y="16276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516636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[type of app] using [tech stack] that [what it does], [measurable result].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57200" y="35204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57200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verb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2286000" y="3520440"/>
            <a:ext cx="301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2587752" y="35204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2587752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4416552" y="3520440"/>
            <a:ext cx="301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4718304" y="35204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718304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used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6547104" y="3520440"/>
            <a:ext cx="301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6848856" y="35204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848856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structure only. Use facts that are true for you.</a:t>
            </a:r>
            <a:endParaRPr lang="en-US" sz="1250" dirty="0"/>
          </a:p>
        </p:txBody>
      </p:sp>
      <p:sp>
        <p:nvSpPr>
          <p:cNvPr id="29" name="Text 24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577340" cy="274320"/>
          </a:xfrm>
          <a:prstGeom prst="roundRect">
            <a:avLst>
              <a:gd name="adj" fmla="val 50000"/>
            </a:avLst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577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OVERLEAF RESUME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Resume in Overleaf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4688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45920"/>
            <a:ext cx="1371600" cy="128016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47088"/>
            <a:ext cx="1828800" cy="54864"/>
          </a:xfrm>
          <a:prstGeom prst="rect">
            <a:avLst/>
          </a:prstGeom>
          <a:solidFill>
            <a:srgbClr val="B9C0D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103120"/>
            <a:ext cx="731520" cy="82296"/>
          </a:xfrm>
          <a:prstGeom prst="rect">
            <a:avLst/>
          </a:prstGeom>
          <a:solidFill>
            <a:srgbClr val="22B8A8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231136"/>
            <a:ext cx="2011680" cy="0"/>
          </a:xfrm>
          <a:prstGeom prst="line">
            <a:avLst/>
          </a:prstGeom>
          <a:noFill/>
          <a:ln w="9525">
            <a:solidFill>
              <a:srgbClr val="DD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304288"/>
            <a:ext cx="2011680" cy="45720"/>
          </a:xfrm>
          <a:prstGeom prst="rect">
            <a:avLst/>
          </a:prstGeom>
          <a:solidFill>
            <a:srgbClr val="CDD3E2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423160"/>
            <a:ext cx="1691640" cy="45720"/>
          </a:xfrm>
          <a:prstGeom prst="rect">
            <a:avLst/>
          </a:prstGeom>
          <a:solidFill>
            <a:srgbClr val="CDD3E2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542032"/>
            <a:ext cx="1371600" cy="45720"/>
          </a:xfrm>
          <a:prstGeom prst="rect">
            <a:avLst/>
          </a:prstGeom>
          <a:solidFill>
            <a:srgbClr val="CDD3E2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743200"/>
            <a:ext cx="731520" cy="82296"/>
          </a:xfrm>
          <a:prstGeom prst="rect">
            <a:avLst/>
          </a:prstGeom>
          <a:solidFill>
            <a:srgbClr val="22B8A8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871216"/>
            <a:ext cx="2011680" cy="0"/>
          </a:xfrm>
          <a:prstGeom prst="line">
            <a:avLst/>
          </a:prstGeom>
          <a:noFill/>
          <a:ln w="9525">
            <a:solidFill>
              <a:srgbClr val="DD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944368"/>
            <a:ext cx="2011680" cy="45720"/>
          </a:xfrm>
          <a:prstGeom prst="rect">
            <a:avLst/>
          </a:prstGeom>
          <a:solidFill>
            <a:srgbClr val="CDD3E2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063240"/>
            <a:ext cx="1691640" cy="45720"/>
          </a:xfrm>
          <a:prstGeom prst="rect">
            <a:avLst/>
          </a:prstGeom>
          <a:solidFill>
            <a:srgbClr val="CDD3E2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182112"/>
            <a:ext cx="1371600" cy="45720"/>
          </a:xfrm>
          <a:prstGeom prst="rect">
            <a:avLst/>
          </a:prstGeom>
          <a:solidFill>
            <a:srgbClr val="CDD3E2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383280"/>
            <a:ext cx="731520" cy="82296"/>
          </a:xfrm>
          <a:prstGeom prst="rect">
            <a:avLst/>
          </a:prstGeom>
          <a:solidFill>
            <a:srgbClr val="22B8A8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511296"/>
            <a:ext cx="2011680" cy="0"/>
          </a:xfrm>
          <a:prstGeom prst="line">
            <a:avLst/>
          </a:prstGeom>
          <a:noFill/>
          <a:ln w="9525">
            <a:solidFill>
              <a:srgbClr val="DDE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584448"/>
            <a:ext cx="2011680" cy="45720"/>
          </a:xfrm>
          <a:prstGeom prst="rect">
            <a:avLst/>
          </a:prstGeom>
          <a:solidFill>
            <a:srgbClr val="CDD3E2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703320"/>
            <a:ext cx="1691640" cy="45720"/>
          </a:xfrm>
          <a:prstGeom prst="rect">
            <a:avLst/>
          </a:prstGeom>
          <a:solidFill>
            <a:srgbClr val="CDD3E2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3822192"/>
            <a:ext cx="1371600" cy="45720"/>
          </a:xfrm>
          <a:prstGeom prst="rect">
            <a:avLst/>
          </a:prstGeom>
          <a:solidFill>
            <a:srgbClr val="CDD3E2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4023360"/>
            <a:ext cx="731520" cy="82296"/>
          </a:xfrm>
          <a:prstGeom prst="rect">
            <a:avLst/>
          </a:prstGeom>
          <a:solidFill>
            <a:srgbClr val="22B8A8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4151376"/>
            <a:ext cx="2011680" cy="0"/>
          </a:xfrm>
          <a:prstGeom prst="line">
            <a:avLst/>
          </a:prstGeom>
          <a:noFill/>
          <a:ln w="9525">
            <a:solidFill>
              <a:srgbClr val="DDE2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224528"/>
            <a:ext cx="2011680" cy="45720"/>
          </a:xfrm>
          <a:prstGeom prst="rect">
            <a:avLst/>
          </a:prstGeom>
          <a:solidFill>
            <a:srgbClr val="CDD3E2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4343400"/>
            <a:ext cx="1691640" cy="45720"/>
          </a:xfrm>
          <a:prstGeom prst="rect">
            <a:avLst/>
          </a:prstGeom>
          <a:solidFill>
            <a:srgbClr val="CDD3E2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462272"/>
            <a:ext cx="1371600" cy="45720"/>
          </a:xfrm>
          <a:prstGeom prst="rect">
            <a:avLst/>
          </a:prstGeom>
          <a:solidFill>
            <a:srgbClr val="CDD3E2"/>
          </a:solidFill>
          <a:ln/>
        </p:spPr>
      </p:sp>
      <p:sp>
        <p:nvSpPr>
          <p:cNvPr id="28" name="Shape 26"/>
          <p:cNvSpPr/>
          <p:nvPr/>
        </p:nvSpPr>
        <p:spPr>
          <a:xfrm>
            <a:off x="3291840" y="1499616"/>
            <a:ext cx="301752" cy="301752"/>
          </a:xfrm>
          <a:prstGeom prst="ellipse">
            <a:avLst/>
          </a:prstGeom>
          <a:solidFill>
            <a:srgbClr val="22B8A8"/>
          </a:solidFill>
          <a:ln w="6350">
            <a:solidFill>
              <a:srgbClr val="F3F5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91840" y="149961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749040" y="1463040"/>
            <a:ext cx="4937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suitable resume template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3291840" y="1901952"/>
            <a:ext cx="301752" cy="301752"/>
          </a:xfrm>
          <a:prstGeom prst="ellipse">
            <a:avLst/>
          </a:prstGeom>
          <a:solidFill>
            <a:srgbClr val="22B8A8"/>
          </a:solidFill>
          <a:ln w="6350">
            <a:solidFill>
              <a:srgbClr val="F3F5F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291840" y="19019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3749040" y="1865376"/>
            <a:ext cx="4937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Overleaf resume project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3291840" y="2304288"/>
            <a:ext cx="301752" cy="301752"/>
          </a:xfrm>
          <a:prstGeom prst="ellipse">
            <a:avLst/>
          </a:prstGeom>
          <a:solidFill>
            <a:srgbClr val="22B8A8"/>
          </a:solidFill>
          <a:ln w="6350">
            <a:solidFill>
              <a:srgbClr val="F3F5F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291840" y="23042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3749040" y="2267712"/>
            <a:ext cx="4937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template structure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3291840" y="2706624"/>
            <a:ext cx="301752" cy="301752"/>
          </a:xfrm>
          <a:prstGeom prst="ellipse">
            <a:avLst/>
          </a:prstGeom>
          <a:solidFill>
            <a:srgbClr val="22B8A8"/>
          </a:solidFill>
          <a:ln w="6350">
            <a:solidFill>
              <a:srgbClr val="F3F5F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291840" y="270662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3749040" y="2670048"/>
            <a:ext cx="4937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sections and hyperlinks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3291840" y="3108960"/>
            <a:ext cx="301752" cy="301752"/>
          </a:xfrm>
          <a:prstGeom prst="ellipse">
            <a:avLst/>
          </a:prstGeom>
          <a:solidFill>
            <a:srgbClr val="22B8A8"/>
          </a:solidFill>
          <a:ln w="6350">
            <a:solidFill>
              <a:srgbClr val="F3F5F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291840" y="310896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3749040" y="3072384"/>
            <a:ext cx="4937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spacing and alignment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3291840" y="3511296"/>
            <a:ext cx="301752" cy="301752"/>
          </a:xfrm>
          <a:prstGeom prst="ellipse">
            <a:avLst/>
          </a:prstGeom>
          <a:solidFill>
            <a:srgbClr val="22B8A8"/>
          </a:solidFill>
          <a:ln w="6350">
            <a:solidFill>
              <a:srgbClr val="F3F5F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291840" y="351129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3749040" y="3474720"/>
            <a:ext cx="4937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fonts and section headings</a:t>
            </a:r>
            <a:endParaRPr lang="en-US" sz="1450" dirty="0"/>
          </a:p>
        </p:txBody>
      </p:sp>
      <p:sp>
        <p:nvSpPr>
          <p:cNvPr id="46" name="Shape 44"/>
          <p:cNvSpPr/>
          <p:nvPr/>
        </p:nvSpPr>
        <p:spPr>
          <a:xfrm>
            <a:off x="3291840" y="3913632"/>
            <a:ext cx="301752" cy="301752"/>
          </a:xfrm>
          <a:prstGeom prst="ellipse">
            <a:avLst/>
          </a:prstGeom>
          <a:solidFill>
            <a:srgbClr val="22B8A8"/>
          </a:solidFill>
          <a:ln w="6350">
            <a:solidFill>
              <a:srgbClr val="F3F5F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291840" y="391363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3749040" y="3877056"/>
            <a:ext cx="4937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clean one-page layout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3291840" y="4315968"/>
            <a:ext cx="301752" cy="301752"/>
          </a:xfrm>
          <a:prstGeom prst="ellipse">
            <a:avLst/>
          </a:prstGeom>
          <a:solidFill>
            <a:srgbClr val="0F1B3D"/>
          </a:solidFill>
          <a:ln w="6350">
            <a:solidFill>
              <a:srgbClr val="F3F5F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291840" y="43159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3749040" y="4279392"/>
            <a:ext cx="4937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export the final PDF</a:t>
            </a:r>
            <a:endParaRPr lang="en-US" sz="145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66444" cy="274320"/>
          </a:xfrm>
          <a:prstGeom prst="roundRect">
            <a:avLst>
              <a:gd name="adj" fmla="val 50000"/>
            </a:avLst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26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+ LATEX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GPT to Write Your Resume LaTeX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206240" cy="3108960"/>
          </a:xfrm>
          <a:prstGeom prst="roundRect">
            <a:avLst>
              <a:gd name="adj" fmla="val 3529"/>
            </a:avLst>
          </a:prstGeom>
          <a:solidFill>
            <a:srgbClr val="0F1B3D"/>
          </a:solidFill>
          <a:ln w="9525">
            <a:solidFill>
              <a:srgbClr val="0F1B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2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PROMPT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my education, skills, projects and achievements: [paste].</a:t>
            </a:r>
            <a:endParaRPr lang="en-US" sz="1600" dirty="0"/>
          </a:p>
          <a:p>
            <a:pPr marL="0" indent="0">
              <a:buNone/>
            </a:pPr>
            <a:r>
              <a:rPr lang="en-US" sz="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LaTeX resume template: [paste].</a:t>
            </a:r>
            <a:endParaRPr lang="en-US" sz="1600" dirty="0"/>
          </a:p>
          <a:p>
            <a:pPr marL="0" indent="0">
              <a:buNone/>
            </a:pPr>
            <a:r>
              <a:rPr lang="en-US" sz="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it in, keep it to one page and keep every bullet concise.</a:t>
            </a:r>
            <a:endParaRPr lang="en-US" sz="1600" dirty="0"/>
          </a:p>
          <a:p>
            <a:pPr marL="0" indent="0">
              <a:buNone/>
            </a:pPr>
            <a:r>
              <a:rPr lang="en-US" sz="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i="1" dirty="0">
                <a:solidFill>
                  <a:srgbClr val="22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the details I gave you.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37760" y="1463040"/>
            <a:ext cx="37490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74920" y="1618488"/>
            <a:ext cx="384048" cy="384048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74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1536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17830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details plus a resume template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258568"/>
            <a:ext cx="37490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74920" y="2414016"/>
            <a:ext cx="384048" cy="384048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7492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2331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25786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create or modify the LaTeX code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3054096"/>
            <a:ext cx="37490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74920" y="3209544"/>
            <a:ext cx="384048" cy="384048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337413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spacing, alignment and formatting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3849624"/>
            <a:ext cx="37490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74920" y="4005072"/>
            <a:ext cx="384048" cy="384048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7492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623560" y="39227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416966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concise and verify every fact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21892" cy="274320"/>
          </a:xfrm>
          <a:prstGeom prst="roundRect">
            <a:avLst>
              <a:gd name="adj" fmla="val 50000"/>
            </a:avLst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421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Trainer's CV vs Resume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874520" cy="1371600"/>
          </a:xfrm>
          <a:prstGeom prst="roundRect">
            <a:avLst>
              <a:gd name="adj" fmla="val 9333"/>
            </a:avLst>
          </a:prstGeom>
          <a:solidFill>
            <a:srgbClr val="1C2D5E"/>
          </a:solidFill>
          <a:ln w="9525">
            <a:solidFill>
              <a:srgbClr val="3A4E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185166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level of detail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75865" y="1554480"/>
            <a:ext cx="1874520" cy="1371600"/>
          </a:xfrm>
          <a:prstGeom prst="roundRect">
            <a:avLst>
              <a:gd name="adj" fmla="val 9333"/>
            </a:avLst>
          </a:prstGeom>
          <a:solidFill>
            <a:srgbClr val="1C2D5E"/>
          </a:solidFill>
          <a:ln w="9525">
            <a:solidFill>
              <a:srgbClr val="3A4E9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58745" y="1737360"/>
            <a:ext cx="457200" cy="457200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3045" y="185166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58745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694530" y="1554480"/>
            <a:ext cx="1874520" cy="1371600"/>
          </a:xfrm>
          <a:prstGeom prst="roundRect">
            <a:avLst>
              <a:gd name="adj" fmla="val 9333"/>
            </a:avLst>
          </a:prstGeom>
          <a:solidFill>
            <a:srgbClr val="1C2D5E"/>
          </a:solidFill>
          <a:ln w="9525">
            <a:solidFill>
              <a:srgbClr val="3A4E9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77410" y="1737360"/>
            <a:ext cx="457200" cy="457200"/>
          </a:xfrm>
          <a:prstGeom prst="ellipse">
            <a:avLst/>
          </a:prstGeom>
          <a:solidFill>
            <a:srgbClr val="F26B5B"/>
          </a:solidFill>
          <a:ln w="6350">
            <a:solidFill>
              <a:srgbClr val="F26B5B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1710" y="18516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7741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 organization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813194" y="1554480"/>
            <a:ext cx="1874520" cy="1371600"/>
          </a:xfrm>
          <a:prstGeom prst="roundRect">
            <a:avLst>
              <a:gd name="adj" fmla="val 9333"/>
            </a:avLst>
          </a:prstGeom>
          <a:solidFill>
            <a:srgbClr val="1C2D5E"/>
          </a:solidFill>
          <a:ln w="9525">
            <a:solidFill>
              <a:srgbClr val="3A4E9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996074" y="1737360"/>
            <a:ext cx="457200" cy="457200"/>
          </a:xfrm>
          <a:prstGeom prst="ellipse">
            <a:avLst/>
          </a:prstGeom>
          <a:solidFill>
            <a:srgbClr val="6C63FF"/>
          </a:solidFill>
          <a:ln w="6350">
            <a:solidFill>
              <a:srgbClr val="6C63FF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0374" y="185166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996074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presentation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57200" y="3108960"/>
            <a:ext cx="1874520" cy="1371600"/>
          </a:xfrm>
          <a:prstGeom prst="roundRect">
            <a:avLst>
              <a:gd name="adj" fmla="val 9333"/>
            </a:avLst>
          </a:prstGeom>
          <a:solidFill>
            <a:srgbClr val="1C2D5E"/>
          </a:solidFill>
          <a:ln w="9525">
            <a:solidFill>
              <a:srgbClr val="3A4E96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38A3F5"/>
          </a:solidFill>
          <a:ln w="6350">
            <a:solidFill>
              <a:srgbClr val="38A3F5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" y="3406140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40080" y="3886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hierarchy and formatting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2575865" y="3108960"/>
            <a:ext cx="1874520" cy="1371600"/>
          </a:xfrm>
          <a:prstGeom prst="roundRect">
            <a:avLst>
              <a:gd name="adj" fmla="val 9333"/>
            </a:avLst>
          </a:prstGeom>
          <a:solidFill>
            <a:srgbClr val="1C2D5E"/>
          </a:solidFill>
          <a:ln w="9525">
            <a:solidFill>
              <a:srgbClr val="3A4E96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2758745" y="3291840"/>
            <a:ext cx="457200" cy="45720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3045" y="340614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2758745" y="3886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 process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4694530" y="3108960"/>
            <a:ext cx="1874520" cy="1371600"/>
          </a:xfrm>
          <a:prstGeom prst="roundRect">
            <a:avLst>
              <a:gd name="adj" fmla="val 9333"/>
            </a:avLst>
          </a:prstGeom>
          <a:solidFill>
            <a:srgbClr val="1C2D5E"/>
          </a:solidFill>
          <a:ln w="9525">
            <a:solidFill>
              <a:srgbClr val="3A4E96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4877410" y="3291840"/>
            <a:ext cx="457200" cy="457200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1710" y="3406140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4877410" y="3886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LaTeX implementation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6813194" y="3108960"/>
            <a:ext cx="1874520" cy="1371600"/>
          </a:xfrm>
          <a:prstGeom prst="roundRect">
            <a:avLst>
              <a:gd name="adj" fmla="val 9333"/>
            </a:avLst>
          </a:prstGeom>
          <a:solidFill>
            <a:srgbClr val="22B8A8"/>
          </a:solidFill>
          <a:ln w="9525">
            <a:solidFill>
              <a:srgbClr val="22B8A8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7526426" y="3291840"/>
            <a:ext cx="457200" cy="457200"/>
          </a:xfrm>
          <a:prstGeom prst="ellipse">
            <a:avLst/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40726" y="3406140"/>
            <a:ext cx="228600" cy="22860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6813194" y="3931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37" name="Text 27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888236" cy="274320"/>
          </a:xfrm>
          <a:prstGeom prst="roundRect">
            <a:avLst>
              <a:gd name="adj" fmla="val 50000"/>
            </a:avLst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888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 |  HANDS-ON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Hands-On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153619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214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554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structure info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84708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skills, projects, certifications, achievements, experience, links.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54880" y="153619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1214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1554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resume content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184708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for project descriptions, achievement bullets and skill categories.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48640" y="263347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2186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26517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Overleaf template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29443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suitable template and create your own project.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256032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754880" y="263347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2186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26517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insert LaTeX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806440" y="29443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generate or modify code and add your details.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48640" y="373075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3159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3749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and refine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600200" y="40416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Spacing, alignment, hierarchy, readability, consistency, page length.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63440" y="365760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4754880" y="373075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43159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806440" y="3749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resume check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806440" y="40416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Spelling, contact info, links, dates, formatting, accuracy.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121408" cy="274320"/>
          </a:xfrm>
          <a:prstGeom prst="roundRect">
            <a:avLst>
              <a:gd name="adj" fmla="val 50000"/>
            </a:avLst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 |  FINAL CHECK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Hit Export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58775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37360"/>
            <a:ext cx="502920" cy="502920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" y="18630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331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and grammar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5786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line once more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78124" y="1508760"/>
            <a:ext cx="258775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06724" y="1737360"/>
            <a:ext cx="502920" cy="502920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454" y="186309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06724" y="2331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information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3506724" y="25786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phone are correct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99048" y="1508760"/>
            <a:ext cx="258775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27648" y="1737360"/>
            <a:ext cx="502920" cy="502920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378" y="186309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27648" y="2331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6327648" y="25786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every hyperlink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7200" y="3063240"/>
            <a:ext cx="258775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" y="341757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5800" y="3886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685800" y="41330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and consistent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278124" y="3063240"/>
            <a:ext cx="258775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506724" y="3291840"/>
            <a:ext cx="502920" cy="502920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454" y="341757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3506724" y="3886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</a:t>
            </a:r>
            <a:endParaRPr lang="en-US" sz="1450" dirty="0"/>
          </a:p>
        </p:txBody>
      </p:sp>
      <p:sp>
        <p:nvSpPr>
          <p:cNvPr id="29" name="Text 22"/>
          <p:cNvSpPr txBox="1"/>
          <p:nvPr/>
        </p:nvSpPr>
        <p:spPr>
          <a:xfrm>
            <a:off x="3506724" y="41330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aligned, one page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099048" y="3063240"/>
            <a:ext cx="258775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327648" y="3291840"/>
            <a:ext cx="502920" cy="502920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378" y="3417570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327648" y="3886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accuracy</a:t>
            </a:r>
            <a:endParaRPr lang="en-US" sz="1450" dirty="0"/>
          </a:p>
        </p:txBody>
      </p:sp>
      <p:sp>
        <p:nvSpPr>
          <p:cNvPr id="34" name="Text 26"/>
          <p:cNvSpPr txBox="1"/>
          <p:nvPr/>
        </p:nvSpPr>
        <p:spPr>
          <a:xfrm>
            <a:off x="6327648" y="41330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true and yours</a:t>
            </a:r>
            <a:endParaRPr lang="en-US" sz="1150" dirty="0"/>
          </a:p>
        </p:txBody>
      </p:sp>
      <p:sp>
        <p:nvSpPr>
          <p:cNvPr id="35" name="Text 27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99616" cy="274320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Golden Rules of AI Use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23360" cy="1371600"/>
          </a:xfrm>
          <a:prstGeom prst="roundRect">
            <a:avLst>
              <a:gd name="adj" fmla="val 9333"/>
            </a:avLst>
          </a:prstGeom>
          <a:solidFill>
            <a:srgbClr val="1C2D5E"/>
          </a:solidFill>
          <a:ln w="9525">
            <a:solidFill>
              <a:srgbClr val="3A4E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640080" cy="64008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20345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783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2219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facts, citations and numbers at the source.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508760"/>
            <a:ext cx="4023360" cy="1371600"/>
          </a:xfrm>
          <a:prstGeom prst="roundRect">
            <a:avLst>
              <a:gd name="adj" fmla="val 9333"/>
            </a:avLst>
          </a:prstGeom>
          <a:solidFill>
            <a:srgbClr val="1C2D5E"/>
          </a:solidFill>
          <a:ln w="9525">
            <a:solidFill>
              <a:srgbClr val="3A4E9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37760" y="1874520"/>
            <a:ext cx="640080" cy="640080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7780" y="20345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52160" y="1783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5852160" y="22219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submit content you cannot explain.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3063240"/>
            <a:ext cx="4023360" cy="1371600"/>
          </a:xfrm>
          <a:prstGeom prst="roundRect">
            <a:avLst>
              <a:gd name="adj" fmla="val 9333"/>
            </a:avLst>
          </a:prstGeom>
          <a:solidFill>
            <a:srgbClr val="1C2D5E"/>
          </a:solidFill>
          <a:ln w="9525">
            <a:solidFill>
              <a:srgbClr val="3A4E9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429000"/>
            <a:ext cx="640080" cy="640080"/>
          </a:xfrm>
          <a:prstGeom prst="ellipse">
            <a:avLst/>
          </a:prstGeom>
          <a:solidFill>
            <a:srgbClr val="F26B5B"/>
          </a:solidFill>
          <a:ln w="6350">
            <a:solidFill>
              <a:srgbClr val="F26B5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" y="35890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4592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honest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1645920" y="37764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true details about yourself and your work.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663440" y="3063240"/>
            <a:ext cx="4023360" cy="1371600"/>
          </a:xfrm>
          <a:prstGeom prst="roundRect">
            <a:avLst>
              <a:gd name="adj" fmla="val 9333"/>
            </a:avLst>
          </a:prstGeom>
          <a:solidFill>
            <a:srgbClr val="1C2D5E"/>
          </a:solidFill>
          <a:ln w="9525">
            <a:solidFill>
              <a:srgbClr val="3A4E9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937760" y="3429000"/>
            <a:ext cx="640080" cy="640080"/>
          </a:xfrm>
          <a:prstGeom prst="ellipse">
            <a:avLst/>
          </a:prstGeom>
          <a:solidFill>
            <a:srgbClr val="6C63FF"/>
          </a:solidFill>
          <a:ln w="6350">
            <a:solidFill>
              <a:srgbClr val="6C63F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7780" y="358902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85216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5852160" y="37764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run AI-generated code before you trust it.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55064" cy="274320"/>
          </a:xfrm>
          <a:prstGeom prst="roundRect">
            <a:avLst>
              <a:gd name="adj" fmla="val 50000"/>
            </a:avLst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Take Home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108960" cy="3108960"/>
          </a:xfrm>
          <a:prstGeom prst="roundRect">
            <a:avLst>
              <a:gd name="adj" fmla="val 3529"/>
            </a:avLst>
          </a:prstGeom>
          <a:solidFill>
            <a:srgbClr val="0F1B3D"/>
          </a:solidFill>
          <a:ln w="9525">
            <a:solidFill>
              <a:srgbClr val="0F1B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today, you will have...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66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with AI, verification and responsible use.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1463040"/>
            <a:ext cx="4846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977640" y="1554480"/>
            <a:ext cx="384048" cy="384048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52" y="1650492"/>
            <a:ext cx="192024" cy="19202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26280" y="146304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AI-assisted research tools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840480" y="2121408"/>
            <a:ext cx="4846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977640" y="2212848"/>
            <a:ext cx="384048" cy="384048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3652" y="2308860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26280" y="212140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research sources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840480" y="2779776"/>
            <a:ext cx="4846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977640" y="2871216"/>
            <a:ext cx="384048" cy="384048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3652" y="2967228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526280" y="2779776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an IEEE paper in Overleaf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3840480" y="3438144"/>
            <a:ext cx="4846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977640" y="3529584"/>
            <a:ext cx="384048" cy="384048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3652" y="3625596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526280" y="3438144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technical elements with LaTeX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3840480" y="4096512"/>
            <a:ext cx="4846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977640" y="4187952"/>
            <a:ext cx="384048" cy="384048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3652" y="4283964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26280" y="4096512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structured resume with AI and Overleaf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Essential for Engineering Students  |  Day 2 - Session 1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813816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building, and keep verifying.</a:t>
            </a:r>
            <a:endParaRPr lang="en-US" sz="1500" dirty="0"/>
          </a:p>
        </p:txBody>
      </p:sp>
      <p:pic>
        <p:nvPicPr>
          <p:cNvPr id="5" name="Image 0" descr="/home/claude/assets/title_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411480"/>
            <a:ext cx="329184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697480"/>
            <a:ext cx="4480560" cy="621792"/>
          </a:xfrm>
          <a:prstGeom prst="roundRect">
            <a:avLst>
              <a:gd name="adj" fmla="val 20588"/>
            </a:avLst>
          </a:prstGeom>
          <a:solidFill>
            <a:srgbClr val="1C2D5E"/>
          </a:solidFill>
          <a:ln w="9525">
            <a:solidFill>
              <a:srgbClr val="3A4E9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79776"/>
            <a:ext cx="457200" cy="457200"/>
          </a:xfrm>
          <a:prstGeom prst="ellipse">
            <a:avLst/>
          </a:prstGeom>
          <a:solidFill>
            <a:srgbClr val="E9B44C"/>
          </a:solidFill>
          <a:ln w="6350">
            <a:solidFill>
              <a:srgbClr val="E9B44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69748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Mahenoor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269748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3BR23CD053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429000"/>
            <a:ext cx="4480560" cy="621792"/>
          </a:xfrm>
          <a:prstGeom prst="roundRect">
            <a:avLst>
              <a:gd name="adj" fmla="val 20588"/>
            </a:avLst>
          </a:prstGeom>
          <a:solidFill>
            <a:srgbClr val="1C2D5E"/>
          </a:solidFill>
          <a:ln w="9525">
            <a:solidFill>
              <a:srgbClr val="3A4E9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3511296"/>
            <a:ext cx="457200" cy="457200"/>
          </a:xfrm>
          <a:prstGeom prst="ellipse">
            <a:avLst/>
          </a:prstGeom>
          <a:solidFill>
            <a:srgbClr val="22B8A8"/>
          </a:solidFill>
          <a:ln w="6350">
            <a:solidFill>
              <a:srgbClr val="22B8A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42900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Rida Arshad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342900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3BR23CD076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160520"/>
            <a:ext cx="4480560" cy="621792"/>
          </a:xfrm>
          <a:prstGeom prst="roundRect">
            <a:avLst>
              <a:gd name="adj" fmla="val 20588"/>
            </a:avLst>
          </a:prstGeom>
          <a:solidFill>
            <a:srgbClr val="1C2D5E"/>
          </a:solidFill>
          <a:ln w="9525">
            <a:solidFill>
              <a:srgbClr val="3A4E9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4242816"/>
            <a:ext cx="457200" cy="457200"/>
          </a:xfrm>
          <a:prstGeom prst="ellipse">
            <a:avLst/>
          </a:prstGeom>
          <a:solidFill>
            <a:srgbClr val="F26B5B"/>
          </a:solidFill>
          <a:ln w="6350">
            <a:solidFill>
              <a:srgbClr val="F26B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16052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Shaguftha Nikhar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416052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3BR23CD087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2645</Words>
  <Application>Microsoft Office PowerPoint</Application>
  <PresentationFormat>On-screen Show (16:9)</PresentationFormat>
  <Paragraphs>497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Tools Essential for Engineering Students - Day 2 Session 1</dc:title>
  <dc:subject>PptxGenJS Presentation</dc:subject>
  <dc:creator>M Mahenoor, Rida Arshad, Shaguftha Nikhar</dc:creator>
  <cp:lastModifiedBy>RIDA ARSHAD</cp:lastModifiedBy>
  <cp:revision>1</cp:revision>
  <dcterms:created xsi:type="dcterms:W3CDTF">2026-09-21T15:52:39Z</dcterms:created>
  <dcterms:modified xsi:type="dcterms:W3CDTF">2026-09-26T20:24:15Z</dcterms:modified>
</cp:coreProperties>
</file>