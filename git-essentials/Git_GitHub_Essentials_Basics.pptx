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14300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Git &amp; GitHub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4028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BD5E1"/>
                </a:solidFill>
              </a:defRPr>
            </a:pPr>
            <a:r>
              <a:t>Version control, collaboration, and the workflow every developer should know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703320"/>
            <a:ext cx="3200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F97316"/>
                </a:solidFill>
              </a:defRPr>
            </a:pPr>
            <a:r>
              <a:t>Git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Tracks changes in your project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Works locally on your computer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3703320"/>
            <a:ext cx="3200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3B82F6"/>
                </a:solidFill>
              </a:defRPr>
            </a:pPr>
            <a:r>
              <a:t>GitHub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Hosts Git repositories online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Enables collaboration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3703320"/>
            <a:ext cx="3200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22C55E"/>
                </a:solidFill>
              </a:defRPr>
            </a:pPr>
            <a:r>
              <a:t>Goal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Understand the workflow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—not just memorize commands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1. Why Do We Need Version Control?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Imagine building a project without Git...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429000" cy="4251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EF4444"/>
                </a:solidFill>
              </a:defRPr>
            </a:pPr>
            <a:r>
              <a:t>The old-school problem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project_final.zip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project_final_v2.zip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project_final_REAL.zip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project_final_REAL2.zip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project_final_FINAL.zip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Which one actually works? 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08760"/>
            <a:ext cx="3429000" cy="4251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3B82F6"/>
                </a:solidFill>
              </a:defRPr>
            </a:pPr>
            <a:r>
              <a:t>Version control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A system that records changes to files over time.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It lets you: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• See what changed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• Restore older versions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• Work on features safely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• Collaborate without overwriting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08760"/>
            <a:ext cx="3429000" cy="4251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22C55E"/>
                </a:solidFill>
              </a:defRPr>
            </a:pPr>
            <a:r>
              <a:t>Real-world example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Think of Google Docs history—but designed for software projects.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A team can know: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WHO changed something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WHAT changed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WHEN it changed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WHY it 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2. What Is Git?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Definition + the mental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12064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F97316"/>
                </a:solidFill>
              </a:defRPr>
            </a:pPr>
            <a:r>
              <a:t>Definition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Git is a distributed version control system (DVCS) that records changes to files and allows developers to manage different versions of a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03320"/>
            <a:ext cx="512064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22C55E"/>
                </a:solidFill>
              </a:defRPr>
            </a:pPr>
            <a:r>
              <a:t>Key idea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Git runs primarily on your computer.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Your project history is stored in a hidden .git directory.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You can commit, branch, merge, and inspect history offline.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508760"/>
            <a:ext cx="5440680" cy="4160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3B82F6"/>
                </a:solidFill>
              </a:defRPr>
            </a:pPr>
            <a:r>
              <a:t>Real-world scenario: College Project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Monday → Build login page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Tuesday → Add database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Wednesday → Login breaks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With Git: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→ Commit after each meaningful change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→ Inspect previous commits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→ Create a branch for experiments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→ Return to a working version if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3. What Is GitHub?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GitHub is built around Git—but Git and GitHub are not the same thing.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12064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F97316"/>
                </a:solidFill>
              </a:defRPr>
            </a:pPr>
            <a:r>
              <a:t>Git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• Software/tool for version control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• Runs locally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• Tracks project history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• Creates commits and branches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• Works without internet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508760"/>
            <a:ext cx="544068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3B82F6"/>
                </a:solidFill>
              </a:defRPr>
            </a:pPr>
            <a:r>
              <a:t>GitHub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• Online platform for Git repositories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• Stores code remotely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• Collaboration through pull requests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• Issues, reviews, permissions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• Useful for backup, teamwork and open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5532120"/>
            <a:ext cx="6309360" cy="1071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22C55E"/>
                </a:solidFill>
              </a:defRPr>
            </a:pPr>
            <a:r>
              <a:rPr dirty="0"/>
              <a:t>Simple analogy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rPr dirty="0"/>
              <a:t>Git = camera that records project history  |  GitHub = online place to store &amp; collaborate on that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4. Repository, Commit &amp;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Three concepts you will use constantly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657600" cy="4526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F97316"/>
                </a:solidFill>
              </a:defRPr>
            </a:pPr>
            <a:r>
              <a:t>Repository (Repo)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A project managed by Git.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It contains your files plus their version history.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Example: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student-expense-tracker/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├── app.py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├── expenses.json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└── README.md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0248" y="1417320"/>
            <a:ext cx="3657600" cy="4526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22C55E"/>
                </a:solidFill>
              </a:defRPr>
            </a:pPr>
            <a:r>
              <a:t>Commit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A recorded snapshot of changes.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Think: “Save point” in a game.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Example commit message: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“Add expense calculation”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Good commits explain what changed.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7575" y="1417320"/>
            <a:ext cx="3657600" cy="4526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3B82F6"/>
                </a:solidFill>
              </a:defRPr>
            </a:pPr>
            <a:r>
              <a:t>Branch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An independent line of development.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Example: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main → stable project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feature/login → login work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You can experiment without disturbing 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5. The Basic Git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The flow to remember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242316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F97316"/>
                </a:solidFill>
              </a:defRPr>
            </a:pPr>
            <a:r>
              <a:t>1. Working Directory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Edit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33172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BD5E1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600200"/>
            <a:ext cx="242316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3B82F6"/>
                </a:solidFill>
              </a:defRPr>
            </a:pPr>
            <a:r>
              <a:t>2. Staging Area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git add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233172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BD5E1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242316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22C55E"/>
                </a:solidFill>
              </a:defRPr>
            </a:pPr>
            <a:r>
              <a:t>3. Commit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git commit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33172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BD5E1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600200"/>
            <a:ext cx="242316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F97316"/>
                </a:solidFill>
              </a:defRPr>
            </a:pPr>
            <a:r>
              <a:t>4. Remote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git push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60520"/>
            <a:ext cx="10241280" cy="114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3B82F6"/>
                </a:solidFill>
              </a:defRPr>
            </a:pPr>
            <a:r>
              <a:t>Typical commands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git status   →   git add .   →   git commit -m "message"   →   git push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486399"/>
            <a:ext cx="10241280" cy="897467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22C55E"/>
                </a:solidFill>
              </a:defRPr>
            </a:pPr>
            <a:r>
              <a:rPr dirty="0"/>
              <a:t>Mental model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rPr dirty="0"/>
              <a:t>Edit → Stage → Save a snapshot → Send it to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6. Branching &amp; Merging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How teams work on multiple features at the same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33756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F97316"/>
                </a:solidFill>
              </a:defRPr>
            </a:pPr>
            <a:r>
              <a:t>Scenario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You have a college website.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main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└── stable version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You need two features: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• Login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• Dark mode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Doing both directly on main can create chaos.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9080" y="1463040"/>
            <a:ext cx="333756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3B82F6"/>
                </a:solidFill>
              </a:defRPr>
            </a:pPr>
            <a:r>
              <a:t>Create branches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main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├── feature/login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└── feature/dark-mode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Each developer works independently.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Changes in one branch don't automatically affect the others.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463040"/>
            <a:ext cx="402336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22C55E"/>
                </a:solidFill>
              </a:defRPr>
            </a:pPr>
            <a:r>
              <a:t>Merge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When a feature is ready: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feature/login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        ↓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      main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Git combines the changes.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If two changes conflict, Git reports a merge conflict and the developer resolves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7. GitHub Collaboration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A common team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606040" cy="4526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F97316"/>
                </a:solidFill>
              </a:defRPr>
            </a:pPr>
            <a:r>
              <a:t>1. Clone / Pull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Get the latest project from GitHub.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Example: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git clone &lt;repo-url&gt;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git pull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Use pull to update your local branch.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417320"/>
            <a:ext cx="2606040" cy="4526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3B82F6"/>
                </a:solidFill>
              </a:defRPr>
            </a:pPr>
            <a:r>
              <a:t>2. Branch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Create a branch for your task.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Example: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git switch -c feature/login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Now your work is isolated.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417320"/>
            <a:ext cx="2606040" cy="4526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22C55E"/>
                </a:solidFill>
              </a:defRPr>
            </a:pPr>
            <a:r>
              <a:t>3. Commit &amp; Push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Save your changes and upload them.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git add .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git commit -m "Add login"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git push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417320"/>
            <a:ext cx="2926080" cy="4526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F97316"/>
                </a:solidFill>
              </a:defRPr>
            </a:pPr>
            <a:r>
              <a:t>4. Pull Request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Open a Pull Request on GitHub.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Team members review the code.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After approval, the branch can be merged into main.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8. Where Git &amp; GitHub Are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This isn't just a college-project thing.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4290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3B82F6"/>
                </a:solidFill>
              </a:defRPr>
            </a:pPr>
            <a:r>
              <a:t>Software Teams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Multiple developers work on the same application without constantly overwriting each other's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417320"/>
            <a:ext cx="34290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22C55E"/>
                </a:solidFill>
              </a:defRPr>
            </a:pPr>
            <a:r>
              <a:t>Open Source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Developers worldwide contribute code, report issues, review changes and propose improvements.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417320"/>
            <a:ext cx="384048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F97316"/>
                </a:solidFill>
              </a:defRPr>
            </a:pPr>
            <a:r>
              <a:t>Data / ML Projects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Track Python code, notebooks, model pipelines, configuration and documentation.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66160"/>
            <a:ext cx="34290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F97316"/>
                </a:solidFill>
              </a:defRPr>
            </a:pPr>
            <a:r>
              <a:t>College Projects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Keep project history, collaborate with teammates and demonstrate work to recruiters.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3566160"/>
            <a:ext cx="34290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3B82F6"/>
                </a:solidFill>
              </a:defRPr>
            </a:pPr>
            <a:r>
              <a:t>CI/CD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GitHub repositories can trigger automated testing, builds and deployments when code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566160"/>
            <a:ext cx="384048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22C55E"/>
                </a:solidFill>
              </a:defRPr>
            </a:pPr>
            <a:r>
              <a:t>Portfolio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t>A GitHub profile can showcase projects, README files, contributions and technical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The 10 Things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If you remember these, you're ready for the hands-on part.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8FAFC"/>
                </a:solidFill>
              </a:defRPr>
            </a:pPr>
            <a:r>
              <a:t>• Git = version control system.</a:t>
            </a:r>
          </a:p>
          <a:p>
            <a:pPr>
              <a:spcAft>
                <a:spcPts val="1100"/>
              </a:spcAft>
              <a:defRPr sz="1700">
                <a:solidFill>
                  <a:srgbClr val="F8FAFC"/>
                </a:solidFill>
              </a:defRPr>
            </a:pPr>
            <a:r>
              <a:t>• GitHub = online platform built around Git repositories.</a:t>
            </a:r>
          </a:p>
          <a:p>
            <a:pPr>
              <a:spcAft>
                <a:spcPts val="1100"/>
              </a:spcAft>
              <a:defRPr sz="1700">
                <a:solidFill>
                  <a:srgbClr val="F8FAFC"/>
                </a:solidFill>
              </a:defRPr>
            </a:pPr>
            <a:r>
              <a:t>• Repository = project + Git history.</a:t>
            </a:r>
          </a:p>
          <a:p>
            <a:pPr>
              <a:spcAft>
                <a:spcPts val="1100"/>
              </a:spcAft>
              <a:defRPr sz="1700">
                <a:solidFill>
                  <a:srgbClr val="F8FAFC"/>
                </a:solidFill>
              </a:defRPr>
            </a:pPr>
            <a:r>
              <a:t>• Commit = recorded snapshot of changes.</a:t>
            </a:r>
          </a:p>
          <a:p>
            <a:pPr>
              <a:spcAft>
                <a:spcPts val="1100"/>
              </a:spcAft>
              <a:defRPr sz="1700">
                <a:solidFill>
                  <a:srgbClr val="F8FAFC"/>
                </a:solidFill>
              </a:defRPr>
            </a:pPr>
            <a:r>
              <a:t>• Branch = separate line of development.</a:t>
            </a:r>
          </a:p>
          <a:p>
            <a:pPr>
              <a:spcAft>
                <a:spcPts val="1100"/>
              </a:spcAft>
              <a:defRPr sz="1700">
                <a:solidFill>
                  <a:srgbClr val="F8FAFC"/>
                </a:solidFill>
              </a:defRPr>
            </a:pPr>
            <a:r>
              <a:t>• Merge = combine changes from branches.</a:t>
            </a:r>
          </a:p>
          <a:p>
            <a:pPr>
              <a:spcAft>
                <a:spcPts val="1100"/>
              </a:spcAft>
              <a:defRPr sz="1700">
                <a:solidFill>
                  <a:srgbClr val="F8FAFC"/>
                </a:solidFill>
              </a:defRPr>
            </a:pPr>
            <a:r>
              <a:t>• Clone = copy a remote repository locally.</a:t>
            </a:r>
          </a:p>
          <a:p>
            <a:pPr>
              <a:spcAft>
                <a:spcPts val="1100"/>
              </a:spcAft>
              <a:defRPr sz="1700">
                <a:solidFill>
                  <a:srgbClr val="F8FAFC"/>
                </a:solidFill>
              </a:defRPr>
            </a:pPr>
            <a:r>
              <a:t>• Pull = bring remote changes to your local repository.</a:t>
            </a:r>
          </a:p>
          <a:p>
            <a:pPr>
              <a:spcAft>
                <a:spcPts val="1100"/>
              </a:spcAft>
              <a:defRPr sz="1700">
                <a:solidFill>
                  <a:srgbClr val="F8FAFC"/>
                </a:solidFill>
              </a:defRPr>
            </a:pPr>
            <a:r>
              <a:t>• Push = send local commits to the remote repository.</a:t>
            </a:r>
          </a:p>
          <a:p>
            <a:pPr>
              <a:spcAft>
                <a:spcPts val="1100"/>
              </a:spcAft>
              <a:defRPr sz="1700">
                <a:solidFill>
                  <a:srgbClr val="F8FAFC"/>
                </a:solidFill>
              </a:defRPr>
            </a:pPr>
            <a:r>
              <a:t>• Pull Request = request to review and merge changes on GitHub.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5806439"/>
            <a:ext cx="8321040" cy="780627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>
              <a:spcAft>
                <a:spcPts val="800"/>
              </a:spcAft>
              <a:defRPr sz="1900" b="1">
                <a:solidFill>
                  <a:srgbClr val="22C55E"/>
                </a:solidFill>
              </a:defRPr>
            </a:pPr>
            <a:r>
              <a:rPr dirty="0"/>
              <a:t>Next: Hands-on</a:t>
            </a:r>
          </a:p>
          <a:p>
            <a:pPr>
              <a:spcAft>
                <a:spcPts val="500"/>
              </a:spcAft>
              <a:defRPr sz="1400">
                <a:solidFill>
                  <a:srgbClr val="F8FAFC"/>
                </a:solidFill>
              </a:defRPr>
            </a:pPr>
            <a:r>
              <a:rPr dirty="0"/>
              <a:t>Create repo → add files → commit → branch → merge → push → Pull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456C1-E35C-BDD1-58B9-AF9BDC407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81979D-4006-DD21-1E81-5BE47AD55544}"/>
              </a:ext>
            </a:extLst>
          </p:cNvPr>
          <p:cNvSpPr txBox="1"/>
          <p:nvPr/>
        </p:nvSpPr>
        <p:spPr>
          <a:xfrm>
            <a:off x="4529667" y="2874385"/>
            <a:ext cx="530013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rPr lang="en-IN" dirty="0"/>
              <a:t>THANK YOU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10E657-B97F-FE82-7145-E3CA92C8CEE2}"/>
              </a:ext>
            </a:extLst>
          </p:cNvPr>
          <p:cNvSpPr txBox="1"/>
          <p:nvPr/>
        </p:nvSpPr>
        <p:spPr>
          <a:xfrm>
            <a:off x="7764780" y="5506720"/>
            <a:ext cx="319931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8FAFC"/>
                </a:solidFill>
              </a:defRPr>
            </a:pPr>
            <a:r>
              <a:rPr lang="en-IN" dirty="0"/>
              <a:t>GIT ESSENTIALS </a:t>
            </a:r>
            <a:br>
              <a:rPr lang="en-IN" dirty="0"/>
            </a:br>
            <a:r>
              <a:rPr lang="en-IN" dirty="0"/>
              <a:t>                       by R Sumanth Simha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0ADEB7-BF21-BCB1-EAD6-F997D0A2BE95}"/>
              </a:ext>
            </a:extLst>
          </p:cNvPr>
          <p:cNvSpPr txBox="1"/>
          <p:nvPr/>
        </p:nvSpPr>
        <p:spPr>
          <a:xfrm>
            <a:off x="11205328" y="644652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</a:defRPr>
            </a:pPr>
            <a:r>
              <a:rPr dirty="0"/>
              <a:t>1</a:t>
            </a:r>
            <a:r>
              <a:rPr lang="en-IN" dirty="0"/>
              <a:t>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2894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1038</Words>
  <Application>Microsoft Office PowerPoint</Application>
  <PresentationFormat>Widescreen</PresentationFormat>
  <Paragraphs>218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 Sumanth Simha</cp:lastModifiedBy>
  <cp:revision>2</cp:revision>
  <dcterms:created xsi:type="dcterms:W3CDTF">2013-01-27T09:14:16Z</dcterms:created>
  <dcterms:modified xsi:type="dcterms:W3CDTF">2026-09-28T16:09:20Z</dcterms:modified>
  <cp:category/>
</cp:coreProperties>
</file>