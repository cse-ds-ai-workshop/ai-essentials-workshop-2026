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DA ARSHAD" userId="e57a892cc5e232e3" providerId="LiveId" clId="{6B9A9064-3EA8-4D5C-97D9-1657AD6BF158}"/>
    <pc:docChg chg="modSld">
      <pc:chgData name="RIDA ARSHAD" userId="e57a892cc5e232e3" providerId="LiveId" clId="{6B9A9064-3EA8-4D5C-97D9-1657AD6BF158}" dt="2026-09-26T20:24:41.179" v="5" actId="20577"/>
      <pc:docMkLst>
        <pc:docMk/>
      </pc:docMkLst>
      <pc:sldChg chg="modSp mod">
        <pc:chgData name="RIDA ARSHAD" userId="e57a892cc5e232e3" providerId="LiveId" clId="{6B9A9064-3EA8-4D5C-97D9-1657AD6BF158}" dt="2026-09-26T20:24:41.179" v="5" actId="20577"/>
        <pc:sldMkLst>
          <pc:docMk/>
          <pc:sldMk cId="0" sldId="256"/>
        </pc:sldMkLst>
        <pc:spChg chg="mod">
          <ac:chgData name="RIDA ARSHAD" userId="e57a892cc5e232e3" providerId="LiveId" clId="{6B9A9064-3EA8-4D5C-97D9-1657AD6BF158}" dt="2026-09-26T20:24:41.179" v="5"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967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students. This is Session 0: a foundation before the two hands-on days. Introduce yourselves - Rohan and Rida. By the end, students will understand what AI and Generative AI actually are, how LLMs work, how to prompt them well, and how to use them responsibly.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run-through of the eight topics. Let students know this session is mostly interactive: short explanations followed by live prompting demos and one hands-on activity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question to get students talking. Most will not have thought of autocorrect or maps as AI. This sets up why the next slide separates AI from ML, DL and Generative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ring sits inside the one above it. All Generative AI is Deep Learning, all Deep Learning is Machine Learning, and all Machine Learning is Artificial Intelligence - but not the other way around. ChatGPT and image generators sit in the innermost 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is the broad category; LLMs like GPT, Claude and Gemini are the text specialists within it. Mention that today's session focuses mainly on LLMs since that's what students will use most for research and resumes.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think the AI 'learns' from their conversation. Clarify: training is a one-time, offline process by the AI company. Inference is what happens live when you chat - the model's knowledge stays fixed during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token breakdown live if possible using a tokenizer site. Next-token prediction explains why AI can sound fluent yet still be factually wrong: it is predicting likely words, not looking up truth. Long chats can lose earlier context - that's why very long conversations sometimes 'forget' earlier instructions.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prompt needs all six parts, but the strongest ones combine several. Emphasise iteration: the first response rarely needs to be the last - refining is normal and expected.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the basic prompt first, show the vague output. Then run the detailed prompt and show how much more usable the result is. This is the single most useful habit to build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for explanations, summaries and problem solving alike. Show a short live example: ask for something, then ask the model to make it shorter or simpler, and show the improved second response.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or illustrative example if you have one: ask the AI for a citation on a niche topic and show how confidently it can invent one. The core message: fluent and confident are not the same as correct.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bridges into responsible use. The habit to build: treat every AI output as a draft that needs a human check before it goes anywhere important - an assignment, a paper, a resume.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concrete: institutions differ on what AI use is allowed for which assignments - encourage students to check. Privacy is simple: don't paste anything into an AI tool you wouldn't want made public.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improve the prompt individually, then run it. Ask a couple of volunteers to share their improved prompt and the difference in the response. Close by asking: what's the one habit you'll take away from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five takeaways quickly. These are the foundation for the next two days, where students will use these same principles for research papers and resumes.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students this session sets up the tools they'll use hands-on in the next two sessions.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jpe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jpe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jpe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2.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jpeg"/><Relationship Id="rId7"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94360"/>
            <a:ext cx="1110996"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548640" y="594360"/>
            <a:ext cx="1110996"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SESSION 0</a:t>
            </a:r>
            <a:endParaRPr lang="en-US" sz="1050" dirty="0"/>
          </a:p>
        </p:txBody>
      </p:sp>
      <p:sp>
        <p:nvSpPr>
          <p:cNvPr id="4" name="Text 2"/>
          <p:cNvSpPr txBox="1"/>
          <p:nvPr/>
        </p:nvSpPr>
        <p:spPr>
          <a:xfrm>
            <a:off x="548640" y="1051560"/>
            <a:ext cx="4572000" cy="1783080"/>
          </a:xfrm>
          <a:prstGeom prst="rect">
            <a:avLst/>
          </a:prstGeom>
          <a:noFill/>
          <a:ln/>
        </p:spPr>
        <p:txBody>
          <a:bodyPr wrap="square" lIns="0" tIns="0" rIns="0" bIns="0" rtlCol="0" anchor="t"/>
          <a:lstStyle/>
          <a:p>
            <a:pPr marL="0" indent="0">
              <a:buNone/>
            </a:pPr>
            <a:r>
              <a:rPr lang="en-US" sz="3100" b="1" dirty="0">
                <a:solidFill>
                  <a:srgbClr val="FFFFFF"/>
                </a:solidFill>
                <a:latin typeface="Cambria" pitchFamily="34" charset="0"/>
                <a:ea typeface="Cambria" pitchFamily="34" charset="-122"/>
                <a:cs typeface="Cambria" pitchFamily="34" charset="-120"/>
              </a:rPr>
              <a:t>Introduction to Artificial Intelligence &amp; Generative AI</a:t>
            </a:r>
            <a:endParaRPr lang="en-US" sz="3100" dirty="0"/>
          </a:p>
        </p:txBody>
      </p:sp>
      <p:sp>
        <p:nvSpPr>
          <p:cNvPr id="5" name="Text 3"/>
          <p:cNvSpPr txBox="1"/>
          <p:nvPr/>
        </p:nvSpPr>
        <p:spPr>
          <a:xfrm>
            <a:off x="548640" y="2788920"/>
            <a:ext cx="4572000" cy="320040"/>
          </a:xfrm>
          <a:prstGeom prst="rect">
            <a:avLst/>
          </a:prstGeom>
          <a:noFill/>
          <a:ln/>
        </p:spPr>
        <p:txBody>
          <a:bodyPr wrap="square" lIns="0" tIns="0" rIns="0" bIns="0" rtlCol="0" anchor="t"/>
          <a:lstStyle/>
          <a:p>
            <a:pPr marL="0" indent="0">
              <a:buNone/>
            </a:pPr>
            <a:r>
              <a:rPr lang="en-US" sz="1700" b="1">
                <a:solidFill>
                  <a:srgbClr val="E9B44C"/>
                </a:solidFill>
                <a:latin typeface="Calibri" pitchFamily="34" charset="0"/>
                <a:ea typeface="Calibri" pitchFamily="34" charset="-122"/>
                <a:cs typeface="Calibri" pitchFamily="34" charset="-120"/>
              </a:rPr>
              <a:t>Three-Day </a:t>
            </a:r>
            <a:r>
              <a:rPr lang="en-US" sz="1700" b="1" dirty="0">
                <a:solidFill>
                  <a:srgbClr val="E9B44C"/>
                </a:solidFill>
                <a:latin typeface="Calibri" pitchFamily="34" charset="0"/>
                <a:ea typeface="Calibri" pitchFamily="34" charset="-122"/>
                <a:cs typeface="Calibri" pitchFamily="34" charset="-120"/>
              </a:rPr>
              <a:t>Student Workshop</a:t>
            </a:r>
            <a:endParaRPr lang="en-US" sz="1700" dirty="0"/>
          </a:p>
        </p:txBody>
      </p:sp>
      <p:sp>
        <p:nvSpPr>
          <p:cNvPr id="6" name="Text 4"/>
          <p:cNvSpPr txBox="1"/>
          <p:nvPr/>
        </p:nvSpPr>
        <p:spPr>
          <a:xfrm>
            <a:off x="548640" y="3200400"/>
            <a:ext cx="4480560" cy="594360"/>
          </a:xfrm>
          <a:prstGeom prst="rect">
            <a:avLst/>
          </a:prstGeom>
          <a:noFill/>
          <a:ln/>
        </p:spPr>
        <p:txBody>
          <a:bodyPr wrap="square" lIns="0" tIns="0" rIns="0" bIns="0" rtlCol="0" anchor="t"/>
          <a:lstStyle/>
          <a:p>
            <a:pPr marL="0" indent="0">
              <a:buNone/>
            </a:pPr>
            <a:r>
              <a:rPr lang="en-US" sz="1350" dirty="0">
                <a:solidFill>
                  <a:srgbClr val="C9D3EE"/>
                </a:solidFill>
                <a:latin typeface="Calibri" pitchFamily="34" charset="0"/>
                <a:ea typeface="Calibri" pitchFamily="34" charset="-122"/>
                <a:cs typeface="Calibri" pitchFamily="34" charset="-120"/>
              </a:rPr>
              <a:t>AI, LLMs, tokens &amp; prompting, practical prompting, and responsible AI use</a:t>
            </a:r>
            <a:endParaRPr lang="en-US" sz="1350" dirty="0"/>
          </a:p>
        </p:txBody>
      </p:sp>
      <p:sp>
        <p:nvSpPr>
          <p:cNvPr id="7" name="Text 5"/>
          <p:cNvSpPr txBox="1"/>
          <p:nvPr/>
        </p:nvSpPr>
        <p:spPr>
          <a:xfrm>
            <a:off x="548640" y="4343400"/>
            <a:ext cx="457200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Rohan Sudhan   |   Rida Arshad</a:t>
            </a:r>
            <a:endParaRPr lang="en-US" sz="1200" dirty="0"/>
          </a:p>
        </p:txBody>
      </p:sp>
      <p:pic>
        <p:nvPicPr>
          <p:cNvPr id="8" name="Image 0" descr="/home/claude/assets/ai_art.png"/>
          <p:cNvPicPr>
            <a:picLocks noChangeAspect="1"/>
          </p:cNvPicPr>
          <p:nvPr/>
        </p:nvPicPr>
        <p:blipFill>
          <a:blip r:embed="rId4"/>
          <a:stretch>
            <a:fillRect/>
          </a:stretch>
        </p:blipFill>
        <p:spPr>
          <a:xfrm>
            <a:off x="5120640" y="365760"/>
            <a:ext cx="3950208" cy="4389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877824"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877824"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AGENDA</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What We'll Cover Today</a:t>
            </a:r>
            <a:endParaRPr lang="en-US" sz="2900" dirty="0"/>
          </a:p>
        </p:txBody>
      </p:sp>
      <p:sp>
        <p:nvSpPr>
          <p:cNvPr id="5" name="Shape 3"/>
          <p:cNvSpPr/>
          <p:nvPr/>
        </p:nvSpPr>
        <p:spPr>
          <a:xfrm>
            <a:off x="457200" y="1463040"/>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603504" y="1600200"/>
            <a:ext cx="457200" cy="45720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717804" y="1714500"/>
            <a:ext cx="228600" cy="228600"/>
          </a:xfrm>
          <a:prstGeom prst="rect">
            <a:avLst/>
          </a:prstGeom>
        </p:spPr>
      </p:pic>
      <p:sp>
        <p:nvSpPr>
          <p:cNvPr id="8" name="Text 5"/>
          <p:cNvSpPr txBox="1"/>
          <p:nvPr/>
        </p:nvSpPr>
        <p:spPr>
          <a:xfrm>
            <a:off x="1207008" y="1554480"/>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1  Introduction to AI</a:t>
            </a:r>
            <a:endParaRPr lang="en-US" sz="1350" dirty="0"/>
          </a:p>
        </p:txBody>
      </p:sp>
      <p:sp>
        <p:nvSpPr>
          <p:cNvPr id="9" name="Text 6"/>
          <p:cNvSpPr txBox="1"/>
          <p:nvPr/>
        </p:nvSpPr>
        <p:spPr>
          <a:xfrm>
            <a:off x="1207008" y="1828800"/>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Everyday life, engineering, and how AI relates to ML, DL and GenAI</a:t>
            </a:r>
            <a:endParaRPr lang="en-US" sz="1050" dirty="0"/>
          </a:p>
        </p:txBody>
      </p:sp>
      <p:sp>
        <p:nvSpPr>
          <p:cNvPr id="10" name="Shape 7"/>
          <p:cNvSpPr/>
          <p:nvPr/>
        </p:nvSpPr>
        <p:spPr>
          <a:xfrm>
            <a:off x="4663440" y="1463040"/>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1" name="Shape 8"/>
          <p:cNvSpPr/>
          <p:nvPr/>
        </p:nvSpPr>
        <p:spPr>
          <a:xfrm>
            <a:off x="4809744" y="1600200"/>
            <a:ext cx="457200" cy="457200"/>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4924044" y="1714500"/>
            <a:ext cx="228600" cy="228600"/>
          </a:xfrm>
          <a:prstGeom prst="rect">
            <a:avLst/>
          </a:prstGeom>
        </p:spPr>
      </p:pic>
      <p:sp>
        <p:nvSpPr>
          <p:cNvPr id="13" name="Text 9"/>
          <p:cNvSpPr txBox="1"/>
          <p:nvPr/>
        </p:nvSpPr>
        <p:spPr>
          <a:xfrm>
            <a:off x="5413248" y="1554480"/>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2  Generative AI &amp; LLMs</a:t>
            </a:r>
            <a:endParaRPr lang="en-US" sz="1350" dirty="0"/>
          </a:p>
        </p:txBody>
      </p:sp>
      <p:sp>
        <p:nvSpPr>
          <p:cNvPr id="14" name="Text 10"/>
          <p:cNvSpPr txBox="1"/>
          <p:nvPr/>
        </p:nvSpPr>
        <p:spPr>
          <a:xfrm>
            <a:off x="5413248" y="1828800"/>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What large language models are and how they're trained</a:t>
            </a:r>
            <a:endParaRPr lang="en-US" sz="1050" dirty="0"/>
          </a:p>
        </p:txBody>
      </p:sp>
      <p:sp>
        <p:nvSpPr>
          <p:cNvPr id="15" name="Shape 11"/>
          <p:cNvSpPr/>
          <p:nvPr/>
        </p:nvSpPr>
        <p:spPr>
          <a:xfrm>
            <a:off x="457200" y="2304288"/>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6" name="Shape 12"/>
          <p:cNvSpPr/>
          <p:nvPr/>
        </p:nvSpPr>
        <p:spPr>
          <a:xfrm>
            <a:off x="603504" y="2441448"/>
            <a:ext cx="457200" cy="457200"/>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717804" y="2555748"/>
            <a:ext cx="228600" cy="228600"/>
          </a:xfrm>
          <a:prstGeom prst="rect">
            <a:avLst/>
          </a:prstGeom>
        </p:spPr>
      </p:pic>
      <p:sp>
        <p:nvSpPr>
          <p:cNvPr id="18" name="Text 13"/>
          <p:cNvSpPr txBox="1"/>
          <p:nvPr/>
        </p:nvSpPr>
        <p:spPr>
          <a:xfrm>
            <a:off x="1207008" y="2395728"/>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3  How LLMs Process Text</a:t>
            </a:r>
            <a:endParaRPr lang="en-US" sz="1350" dirty="0"/>
          </a:p>
        </p:txBody>
      </p:sp>
      <p:sp>
        <p:nvSpPr>
          <p:cNvPr id="19" name="Text 14"/>
          <p:cNvSpPr txBox="1"/>
          <p:nvPr/>
        </p:nvSpPr>
        <p:spPr>
          <a:xfrm>
            <a:off x="1207008" y="2670048"/>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Tokens, context windows and next-token prediction</a:t>
            </a:r>
            <a:endParaRPr lang="en-US" sz="1050" dirty="0"/>
          </a:p>
        </p:txBody>
      </p:sp>
      <p:sp>
        <p:nvSpPr>
          <p:cNvPr id="20" name="Shape 15"/>
          <p:cNvSpPr/>
          <p:nvPr/>
        </p:nvSpPr>
        <p:spPr>
          <a:xfrm>
            <a:off x="4663440" y="2304288"/>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1" name="Shape 16"/>
          <p:cNvSpPr/>
          <p:nvPr/>
        </p:nvSpPr>
        <p:spPr>
          <a:xfrm>
            <a:off x="4809744" y="2441448"/>
            <a:ext cx="457200" cy="457200"/>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4924044" y="2555748"/>
            <a:ext cx="228600" cy="228600"/>
          </a:xfrm>
          <a:prstGeom prst="rect">
            <a:avLst/>
          </a:prstGeom>
        </p:spPr>
      </p:pic>
      <p:sp>
        <p:nvSpPr>
          <p:cNvPr id="23" name="Text 17"/>
          <p:cNvSpPr txBox="1"/>
          <p:nvPr/>
        </p:nvSpPr>
        <p:spPr>
          <a:xfrm>
            <a:off x="5413248" y="2395728"/>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4  Understanding AI Prompts</a:t>
            </a:r>
            <a:endParaRPr lang="en-US" sz="1350" dirty="0"/>
          </a:p>
        </p:txBody>
      </p:sp>
      <p:sp>
        <p:nvSpPr>
          <p:cNvPr id="24" name="Text 18"/>
          <p:cNvSpPr txBox="1"/>
          <p:nvPr/>
        </p:nvSpPr>
        <p:spPr>
          <a:xfrm>
            <a:off x="5413248" y="2670048"/>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The structure of a good prompt</a:t>
            </a:r>
            <a:endParaRPr lang="en-US" sz="1050" dirty="0"/>
          </a:p>
        </p:txBody>
      </p:sp>
      <p:sp>
        <p:nvSpPr>
          <p:cNvPr id="25" name="Shape 19"/>
          <p:cNvSpPr/>
          <p:nvPr/>
        </p:nvSpPr>
        <p:spPr>
          <a:xfrm>
            <a:off x="457200" y="3145536"/>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6" name="Shape 20"/>
          <p:cNvSpPr/>
          <p:nvPr/>
        </p:nvSpPr>
        <p:spPr>
          <a:xfrm>
            <a:off x="603504" y="3282696"/>
            <a:ext cx="457200" cy="457200"/>
          </a:xfrm>
          <a:prstGeom prst="ellipse">
            <a:avLst/>
          </a:prstGeom>
          <a:solidFill>
            <a:srgbClr val="38A3F5"/>
          </a:solidFill>
          <a:ln w="6350">
            <a:solidFill>
              <a:srgbClr val="38A3F5"/>
            </a:solidFill>
            <a:prstDash val="solid"/>
          </a:ln>
        </p:spPr>
      </p:sp>
      <p:pic>
        <p:nvPicPr>
          <p:cNvPr id="27" name="Image 4" descr="preencoded.png"/>
          <p:cNvPicPr>
            <a:picLocks noChangeAspect="1"/>
          </p:cNvPicPr>
          <p:nvPr/>
        </p:nvPicPr>
        <p:blipFill>
          <a:blip r:embed="rId8"/>
          <a:stretch>
            <a:fillRect/>
          </a:stretch>
        </p:blipFill>
        <p:spPr>
          <a:xfrm>
            <a:off x="717804" y="3396996"/>
            <a:ext cx="228600" cy="228600"/>
          </a:xfrm>
          <a:prstGeom prst="rect">
            <a:avLst/>
          </a:prstGeom>
        </p:spPr>
      </p:pic>
      <p:sp>
        <p:nvSpPr>
          <p:cNvPr id="28" name="Text 21"/>
          <p:cNvSpPr txBox="1"/>
          <p:nvPr/>
        </p:nvSpPr>
        <p:spPr>
          <a:xfrm>
            <a:off x="1207008" y="3236976"/>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5  Practical Prompting</a:t>
            </a:r>
            <a:endParaRPr lang="en-US" sz="1350" dirty="0"/>
          </a:p>
        </p:txBody>
      </p:sp>
      <p:sp>
        <p:nvSpPr>
          <p:cNvPr id="29" name="Text 22"/>
          <p:cNvSpPr txBox="1"/>
          <p:nvPr/>
        </p:nvSpPr>
        <p:spPr>
          <a:xfrm>
            <a:off x="1207008" y="3511296"/>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Turning a weak prompt into a strong one</a:t>
            </a:r>
            <a:endParaRPr lang="en-US" sz="1050" dirty="0"/>
          </a:p>
        </p:txBody>
      </p:sp>
      <p:sp>
        <p:nvSpPr>
          <p:cNvPr id="30" name="Shape 23"/>
          <p:cNvSpPr/>
          <p:nvPr/>
        </p:nvSpPr>
        <p:spPr>
          <a:xfrm>
            <a:off x="4663440" y="3145536"/>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31" name="Shape 24"/>
          <p:cNvSpPr/>
          <p:nvPr/>
        </p:nvSpPr>
        <p:spPr>
          <a:xfrm>
            <a:off x="4809744" y="3282696"/>
            <a:ext cx="457200" cy="457200"/>
          </a:xfrm>
          <a:prstGeom prst="ellipse">
            <a:avLst/>
          </a:prstGeom>
          <a:solidFill>
            <a:srgbClr val="E9B44C"/>
          </a:solidFill>
          <a:ln w="6350">
            <a:solidFill>
              <a:srgbClr val="E9B44C"/>
            </a:solidFill>
            <a:prstDash val="solid"/>
          </a:ln>
        </p:spPr>
      </p:sp>
      <p:pic>
        <p:nvPicPr>
          <p:cNvPr id="32" name="Image 5" descr="preencoded.png"/>
          <p:cNvPicPr>
            <a:picLocks noChangeAspect="1"/>
          </p:cNvPicPr>
          <p:nvPr/>
        </p:nvPicPr>
        <p:blipFill>
          <a:blip r:embed="rId9"/>
          <a:stretch>
            <a:fillRect/>
          </a:stretch>
        </p:blipFill>
        <p:spPr>
          <a:xfrm>
            <a:off x="4924044" y="3396996"/>
            <a:ext cx="228600" cy="228600"/>
          </a:xfrm>
          <a:prstGeom prst="rect">
            <a:avLst/>
          </a:prstGeom>
        </p:spPr>
      </p:pic>
      <p:sp>
        <p:nvSpPr>
          <p:cNvPr id="33" name="Text 25"/>
          <p:cNvSpPr txBox="1"/>
          <p:nvPr/>
        </p:nvSpPr>
        <p:spPr>
          <a:xfrm>
            <a:off x="5413248" y="3236976"/>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6  Capabilities &amp; Limitations</a:t>
            </a:r>
            <a:endParaRPr lang="en-US" sz="1350" dirty="0"/>
          </a:p>
        </p:txBody>
      </p:sp>
      <p:sp>
        <p:nvSpPr>
          <p:cNvPr id="34" name="Text 26"/>
          <p:cNvSpPr txBox="1"/>
          <p:nvPr/>
        </p:nvSpPr>
        <p:spPr>
          <a:xfrm>
            <a:off x="5413248" y="3511296"/>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Hallucinations, bias and why you verify</a:t>
            </a:r>
            <a:endParaRPr lang="en-US" sz="1050" dirty="0"/>
          </a:p>
        </p:txBody>
      </p:sp>
      <p:sp>
        <p:nvSpPr>
          <p:cNvPr id="35" name="Shape 27"/>
          <p:cNvSpPr/>
          <p:nvPr/>
        </p:nvSpPr>
        <p:spPr>
          <a:xfrm>
            <a:off x="457200" y="3986784"/>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36" name="Shape 28"/>
          <p:cNvSpPr/>
          <p:nvPr/>
        </p:nvSpPr>
        <p:spPr>
          <a:xfrm>
            <a:off x="603504" y="4123944"/>
            <a:ext cx="457200" cy="457200"/>
          </a:xfrm>
          <a:prstGeom prst="ellipse">
            <a:avLst/>
          </a:prstGeom>
          <a:solidFill>
            <a:srgbClr val="22B8A8"/>
          </a:solidFill>
          <a:ln w="6350">
            <a:solidFill>
              <a:srgbClr val="22B8A8"/>
            </a:solidFill>
            <a:prstDash val="solid"/>
          </a:ln>
        </p:spPr>
      </p:sp>
      <p:pic>
        <p:nvPicPr>
          <p:cNvPr id="37" name="Image 6" descr="preencoded.png"/>
          <p:cNvPicPr>
            <a:picLocks noChangeAspect="1"/>
          </p:cNvPicPr>
          <p:nvPr/>
        </p:nvPicPr>
        <p:blipFill>
          <a:blip r:embed="rId10"/>
          <a:stretch>
            <a:fillRect/>
          </a:stretch>
        </p:blipFill>
        <p:spPr>
          <a:xfrm>
            <a:off x="717804" y="4238244"/>
            <a:ext cx="228600" cy="228600"/>
          </a:xfrm>
          <a:prstGeom prst="rect">
            <a:avLst/>
          </a:prstGeom>
        </p:spPr>
      </p:pic>
      <p:sp>
        <p:nvSpPr>
          <p:cNvPr id="38" name="Text 29"/>
          <p:cNvSpPr txBox="1"/>
          <p:nvPr/>
        </p:nvSpPr>
        <p:spPr>
          <a:xfrm>
            <a:off x="1207008" y="4078224"/>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7  Responsible &amp; Ethical Use</a:t>
            </a:r>
            <a:endParaRPr lang="en-US" sz="1350" dirty="0"/>
          </a:p>
        </p:txBody>
      </p:sp>
      <p:sp>
        <p:nvSpPr>
          <p:cNvPr id="39" name="Text 30"/>
          <p:cNvSpPr txBox="1"/>
          <p:nvPr/>
        </p:nvSpPr>
        <p:spPr>
          <a:xfrm>
            <a:off x="1207008" y="4352544"/>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Academic integrity and privacy</a:t>
            </a:r>
            <a:endParaRPr lang="en-US" sz="1050" dirty="0"/>
          </a:p>
        </p:txBody>
      </p:sp>
      <p:sp>
        <p:nvSpPr>
          <p:cNvPr id="40" name="Shape 31"/>
          <p:cNvSpPr/>
          <p:nvPr/>
        </p:nvSpPr>
        <p:spPr>
          <a:xfrm>
            <a:off x="4663440" y="3986784"/>
            <a:ext cx="4023360" cy="731520"/>
          </a:xfrm>
          <a:prstGeom prst="roundRect">
            <a:avLst>
              <a:gd name="adj" fmla="val 15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41" name="Shape 32"/>
          <p:cNvSpPr/>
          <p:nvPr/>
        </p:nvSpPr>
        <p:spPr>
          <a:xfrm>
            <a:off x="4809744" y="4123944"/>
            <a:ext cx="457200" cy="457200"/>
          </a:xfrm>
          <a:prstGeom prst="ellipse">
            <a:avLst/>
          </a:prstGeom>
          <a:solidFill>
            <a:srgbClr val="F26B5B"/>
          </a:solidFill>
          <a:ln w="6350">
            <a:solidFill>
              <a:srgbClr val="F26B5B"/>
            </a:solidFill>
            <a:prstDash val="solid"/>
          </a:ln>
        </p:spPr>
      </p:sp>
      <p:pic>
        <p:nvPicPr>
          <p:cNvPr id="42" name="Image 7" descr="preencoded.png"/>
          <p:cNvPicPr>
            <a:picLocks noChangeAspect="1"/>
          </p:cNvPicPr>
          <p:nvPr/>
        </p:nvPicPr>
        <p:blipFill>
          <a:blip r:embed="rId11"/>
          <a:stretch>
            <a:fillRect/>
          </a:stretch>
        </p:blipFill>
        <p:spPr>
          <a:xfrm>
            <a:off x="4924044" y="4238244"/>
            <a:ext cx="228600" cy="228600"/>
          </a:xfrm>
          <a:prstGeom prst="rect">
            <a:avLst/>
          </a:prstGeom>
        </p:spPr>
      </p:pic>
      <p:sp>
        <p:nvSpPr>
          <p:cNvPr id="43" name="Text 33"/>
          <p:cNvSpPr txBox="1"/>
          <p:nvPr/>
        </p:nvSpPr>
        <p:spPr>
          <a:xfrm>
            <a:off x="5413248" y="4078224"/>
            <a:ext cx="3154680" cy="274320"/>
          </a:xfrm>
          <a:prstGeom prst="rect">
            <a:avLst/>
          </a:prstGeom>
          <a:noFill/>
          <a:ln/>
        </p:spPr>
        <p:txBody>
          <a:bodyPr wrap="square" lIns="0" tIns="0" rIns="0" bIns="0" rtlCol="0" anchor="t"/>
          <a:lstStyle/>
          <a:p>
            <a:pPr marL="0" indent="0">
              <a:buNone/>
            </a:pPr>
            <a:r>
              <a:rPr lang="en-US" sz="1350" b="1" dirty="0">
                <a:solidFill>
                  <a:srgbClr val="0F1B3D"/>
                </a:solidFill>
                <a:latin typeface="Calibri" pitchFamily="34" charset="0"/>
                <a:ea typeface="Calibri" pitchFamily="34" charset="-122"/>
                <a:cs typeface="Calibri" pitchFamily="34" charset="-120"/>
              </a:rPr>
              <a:t>8  Activity &amp; Recap</a:t>
            </a:r>
            <a:endParaRPr lang="en-US" sz="1350" dirty="0"/>
          </a:p>
        </p:txBody>
      </p:sp>
      <p:sp>
        <p:nvSpPr>
          <p:cNvPr id="44" name="Text 34"/>
          <p:cNvSpPr txBox="1"/>
          <p:nvPr/>
        </p:nvSpPr>
        <p:spPr>
          <a:xfrm>
            <a:off x="5413248" y="4352544"/>
            <a:ext cx="315468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You improve a prompt and we wrap up</a:t>
            </a:r>
            <a:endParaRPr lang="en-US" sz="1050" dirty="0"/>
          </a:p>
        </p:txBody>
      </p:sp>
      <p:sp>
        <p:nvSpPr>
          <p:cNvPr id="45" name="Text 35"/>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46" name="Text 36"/>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276856"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276856"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1  |  INTRODUCTION TO AI</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AI Is Already Around You</a:t>
            </a:r>
            <a:endParaRPr lang="en-US" sz="2900" dirty="0"/>
          </a:p>
        </p:txBody>
      </p:sp>
      <p:sp>
        <p:nvSpPr>
          <p:cNvPr id="5" name="Shape 3"/>
          <p:cNvSpPr/>
          <p:nvPr/>
        </p:nvSpPr>
        <p:spPr>
          <a:xfrm>
            <a:off x="457200" y="1508760"/>
            <a:ext cx="566928" cy="566928"/>
          </a:xfrm>
          <a:prstGeom prst="ellipse">
            <a:avLst/>
          </a:prstGeom>
          <a:solidFill>
            <a:srgbClr val="E9B44C"/>
          </a:solidFill>
          <a:ln w="6350">
            <a:solidFill>
              <a:srgbClr val="E9B44C"/>
            </a:solidFill>
            <a:prstDash val="solid"/>
          </a:ln>
        </p:spPr>
      </p:sp>
      <p:pic>
        <p:nvPicPr>
          <p:cNvPr id="6" name="Image 0" descr="preencoded.png"/>
          <p:cNvPicPr>
            <a:picLocks noChangeAspect="1"/>
          </p:cNvPicPr>
          <p:nvPr/>
        </p:nvPicPr>
        <p:blipFill>
          <a:blip r:embed="rId4"/>
          <a:stretch>
            <a:fillRect/>
          </a:stretch>
        </p:blipFill>
        <p:spPr>
          <a:xfrm>
            <a:off x="598932" y="1650492"/>
            <a:ext cx="283464" cy="283464"/>
          </a:xfrm>
          <a:prstGeom prst="rect">
            <a:avLst/>
          </a:prstGeom>
        </p:spPr>
      </p:pic>
      <p:sp>
        <p:nvSpPr>
          <p:cNvPr id="7" name="Text 4"/>
          <p:cNvSpPr txBox="1"/>
          <p:nvPr/>
        </p:nvSpPr>
        <p:spPr>
          <a:xfrm>
            <a:off x="1234440" y="1490472"/>
            <a:ext cx="3017520" cy="292608"/>
          </a:xfrm>
          <a:prstGeom prst="rect">
            <a:avLst/>
          </a:prstGeom>
          <a:noFill/>
          <a:ln/>
        </p:spPr>
        <p:txBody>
          <a:bodyPr wrap="square" lIns="0" tIns="0" rIns="0" bIns="0" rtlCol="0" anchor="t"/>
          <a:lstStyle/>
          <a:p>
            <a:pPr marL="0" indent="0">
              <a:buNone/>
            </a:pPr>
            <a:r>
              <a:rPr lang="en-US" sz="1600" b="1" dirty="0">
                <a:solidFill>
                  <a:srgbClr val="0F1B3D"/>
                </a:solidFill>
                <a:latin typeface="Calibri" pitchFamily="34" charset="0"/>
                <a:ea typeface="Calibri" pitchFamily="34" charset="-122"/>
                <a:cs typeface="Calibri" pitchFamily="34" charset="-120"/>
              </a:rPr>
              <a:t>Everyday life</a:t>
            </a:r>
            <a:endParaRPr lang="en-US" sz="1600" dirty="0"/>
          </a:p>
        </p:txBody>
      </p:sp>
      <p:sp>
        <p:nvSpPr>
          <p:cNvPr id="8" name="Text 5"/>
          <p:cNvSpPr txBox="1"/>
          <p:nvPr/>
        </p:nvSpPr>
        <p:spPr>
          <a:xfrm>
            <a:off x="1234440" y="1801368"/>
            <a:ext cx="3017520" cy="6858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Voice assistants, recommendation feeds, spam filters, maps and navigation</a:t>
            </a:r>
            <a:endParaRPr lang="en-US" sz="1250" dirty="0"/>
          </a:p>
        </p:txBody>
      </p:sp>
      <p:sp>
        <p:nvSpPr>
          <p:cNvPr id="9" name="Shape 6"/>
          <p:cNvSpPr/>
          <p:nvPr/>
        </p:nvSpPr>
        <p:spPr>
          <a:xfrm>
            <a:off x="457200" y="2560320"/>
            <a:ext cx="566928" cy="566928"/>
          </a:xfrm>
          <a:prstGeom prst="ellipse">
            <a:avLst/>
          </a:prstGeom>
          <a:solidFill>
            <a:srgbClr val="22B8A8"/>
          </a:solidFill>
          <a:ln w="6350">
            <a:solidFill>
              <a:srgbClr val="22B8A8"/>
            </a:solidFill>
            <a:prstDash val="solid"/>
          </a:ln>
        </p:spPr>
      </p:sp>
      <p:pic>
        <p:nvPicPr>
          <p:cNvPr id="10" name="Image 1" descr="preencoded.png"/>
          <p:cNvPicPr>
            <a:picLocks noChangeAspect="1"/>
          </p:cNvPicPr>
          <p:nvPr/>
        </p:nvPicPr>
        <p:blipFill>
          <a:blip r:embed="rId5"/>
          <a:stretch>
            <a:fillRect/>
          </a:stretch>
        </p:blipFill>
        <p:spPr>
          <a:xfrm>
            <a:off x="598932" y="2702052"/>
            <a:ext cx="283464" cy="283464"/>
          </a:xfrm>
          <a:prstGeom prst="rect">
            <a:avLst/>
          </a:prstGeom>
        </p:spPr>
      </p:pic>
      <p:sp>
        <p:nvSpPr>
          <p:cNvPr id="11" name="Text 7"/>
          <p:cNvSpPr txBox="1"/>
          <p:nvPr/>
        </p:nvSpPr>
        <p:spPr>
          <a:xfrm>
            <a:off x="1234440" y="2542032"/>
            <a:ext cx="3017520" cy="292608"/>
          </a:xfrm>
          <a:prstGeom prst="rect">
            <a:avLst/>
          </a:prstGeom>
          <a:noFill/>
          <a:ln/>
        </p:spPr>
        <p:txBody>
          <a:bodyPr wrap="square" lIns="0" tIns="0" rIns="0" bIns="0" rtlCol="0" anchor="t"/>
          <a:lstStyle/>
          <a:p>
            <a:pPr marL="0" indent="0">
              <a:buNone/>
            </a:pPr>
            <a:r>
              <a:rPr lang="en-US" sz="1600" b="1" dirty="0">
                <a:solidFill>
                  <a:srgbClr val="0F1B3D"/>
                </a:solidFill>
                <a:latin typeface="Calibri" pitchFamily="34" charset="0"/>
                <a:ea typeface="Calibri" pitchFamily="34" charset="-122"/>
                <a:cs typeface="Calibri" pitchFamily="34" charset="-120"/>
              </a:rPr>
              <a:t>Engineering</a:t>
            </a:r>
            <a:endParaRPr lang="en-US" sz="1600" dirty="0"/>
          </a:p>
        </p:txBody>
      </p:sp>
      <p:sp>
        <p:nvSpPr>
          <p:cNvPr id="12" name="Text 8"/>
          <p:cNvSpPr txBox="1"/>
          <p:nvPr/>
        </p:nvSpPr>
        <p:spPr>
          <a:xfrm>
            <a:off x="1234440" y="2852928"/>
            <a:ext cx="3017520" cy="6858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Predictive maintenance, autonomous systems, generative design, quality inspection</a:t>
            </a:r>
            <a:endParaRPr lang="en-US" sz="1250" dirty="0"/>
          </a:p>
        </p:txBody>
      </p:sp>
      <p:sp>
        <p:nvSpPr>
          <p:cNvPr id="13" name="Shape 9"/>
          <p:cNvSpPr/>
          <p:nvPr/>
        </p:nvSpPr>
        <p:spPr>
          <a:xfrm>
            <a:off x="457200" y="3611880"/>
            <a:ext cx="566928" cy="566928"/>
          </a:xfrm>
          <a:prstGeom prst="ellipse">
            <a:avLst/>
          </a:prstGeom>
          <a:solidFill>
            <a:srgbClr val="F26B5B"/>
          </a:solidFill>
          <a:ln w="6350">
            <a:solidFill>
              <a:srgbClr val="F26B5B"/>
            </a:solidFill>
            <a:prstDash val="solid"/>
          </a:ln>
        </p:spPr>
      </p:sp>
      <p:pic>
        <p:nvPicPr>
          <p:cNvPr id="14" name="Image 2" descr="preencoded.png"/>
          <p:cNvPicPr>
            <a:picLocks noChangeAspect="1"/>
          </p:cNvPicPr>
          <p:nvPr/>
        </p:nvPicPr>
        <p:blipFill>
          <a:blip r:embed="rId6"/>
          <a:stretch>
            <a:fillRect/>
          </a:stretch>
        </p:blipFill>
        <p:spPr>
          <a:xfrm>
            <a:off x="598932" y="3753612"/>
            <a:ext cx="283464" cy="283464"/>
          </a:xfrm>
          <a:prstGeom prst="rect">
            <a:avLst/>
          </a:prstGeom>
        </p:spPr>
      </p:pic>
      <p:sp>
        <p:nvSpPr>
          <p:cNvPr id="15" name="Text 10"/>
          <p:cNvSpPr txBox="1"/>
          <p:nvPr/>
        </p:nvSpPr>
        <p:spPr>
          <a:xfrm>
            <a:off x="1234440" y="3593592"/>
            <a:ext cx="3017520" cy="292608"/>
          </a:xfrm>
          <a:prstGeom prst="rect">
            <a:avLst/>
          </a:prstGeom>
          <a:noFill/>
          <a:ln/>
        </p:spPr>
        <p:txBody>
          <a:bodyPr wrap="square" lIns="0" tIns="0" rIns="0" bIns="0" rtlCol="0" anchor="t"/>
          <a:lstStyle/>
          <a:p>
            <a:pPr marL="0" indent="0">
              <a:buNone/>
            </a:pPr>
            <a:r>
              <a:rPr lang="en-US" sz="1600" b="1" dirty="0">
                <a:solidFill>
                  <a:srgbClr val="0F1B3D"/>
                </a:solidFill>
                <a:latin typeface="Calibri" pitchFamily="34" charset="0"/>
                <a:ea typeface="Calibri" pitchFamily="34" charset="-122"/>
                <a:cs typeface="Calibri" pitchFamily="34" charset="-120"/>
              </a:rPr>
              <a:t>Why it matters now</a:t>
            </a:r>
            <a:endParaRPr lang="en-US" sz="1600" dirty="0"/>
          </a:p>
        </p:txBody>
      </p:sp>
      <p:sp>
        <p:nvSpPr>
          <p:cNvPr id="16" name="Text 11"/>
          <p:cNvSpPr txBox="1"/>
          <p:nvPr/>
        </p:nvSpPr>
        <p:spPr>
          <a:xfrm>
            <a:off x="1234440" y="3904488"/>
            <a:ext cx="3017520" cy="6858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AI tools are becoming part of how engineers research, build and write</a:t>
            </a:r>
            <a:endParaRPr lang="en-US" sz="1250" dirty="0"/>
          </a:p>
        </p:txBody>
      </p:sp>
      <p:sp>
        <p:nvSpPr>
          <p:cNvPr id="17" name="Shape 12"/>
          <p:cNvSpPr/>
          <p:nvPr/>
        </p:nvSpPr>
        <p:spPr>
          <a:xfrm>
            <a:off x="4709160" y="1463040"/>
            <a:ext cx="3977640" cy="3154680"/>
          </a:xfrm>
          <a:prstGeom prst="roundRect">
            <a:avLst>
              <a:gd name="adj" fmla="val 4058"/>
            </a:avLst>
          </a:prstGeom>
          <a:solidFill>
            <a:srgbClr val="0F1B3D"/>
          </a:solidFill>
          <a:ln w="9525">
            <a:solidFill>
              <a:srgbClr val="0F1B3D"/>
            </a:solidFill>
            <a:prstDash val="solid"/>
          </a:ln>
        </p:spPr>
      </p:sp>
      <p:sp>
        <p:nvSpPr>
          <p:cNvPr id="18" name="Text 13"/>
          <p:cNvSpPr txBox="1"/>
          <p:nvPr/>
        </p:nvSpPr>
        <p:spPr>
          <a:xfrm>
            <a:off x="4983480" y="1664208"/>
            <a:ext cx="3474720" cy="228600"/>
          </a:xfrm>
          <a:prstGeom prst="rect">
            <a:avLst/>
          </a:prstGeom>
          <a:noFill/>
          <a:ln/>
        </p:spPr>
        <p:txBody>
          <a:bodyPr wrap="square" lIns="0" tIns="0" rIns="0" bIns="0" rtlCol="0" anchor="t"/>
          <a:lstStyle/>
          <a:p>
            <a:pPr marL="0" indent="0">
              <a:buNone/>
            </a:pPr>
            <a:r>
              <a:rPr lang="en-US" sz="1100" b="1" kern="0" spc="200" dirty="0">
                <a:solidFill>
                  <a:srgbClr val="E9B44C"/>
                </a:solidFill>
                <a:latin typeface="Calibri" pitchFamily="34" charset="0"/>
                <a:ea typeface="Calibri" pitchFamily="34" charset="-122"/>
                <a:cs typeface="Calibri" pitchFamily="34" charset="-120"/>
              </a:rPr>
              <a:t>ASK THE ROOM</a:t>
            </a:r>
            <a:endParaRPr lang="en-US" sz="1100" dirty="0"/>
          </a:p>
        </p:txBody>
      </p:sp>
      <p:sp>
        <p:nvSpPr>
          <p:cNvPr id="19" name="Text 14"/>
          <p:cNvSpPr txBox="1"/>
          <p:nvPr/>
        </p:nvSpPr>
        <p:spPr>
          <a:xfrm>
            <a:off x="4983480" y="1965960"/>
            <a:ext cx="3474720" cy="960120"/>
          </a:xfrm>
          <a:prstGeom prst="rect">
            <a:avLst/>
          </a:prstGeom>
          <a:noFill/>
          <a:ln/>
        </p:spPr>
        <p:txBody>
          <a:bodyPr wrap="square" lIns="0" tIns="0" rIns="0" bIns="0" rtlCol="0" anchor="t"/>
          <a:lstStyle/>
          <a:p>
            <a:pPr marL="0" indent="0">
              <a:buNone/>
            </a:pPr>
            <a:r>
              <a:rPr lang="en-US" sz="1650" i="1" dirty="0">
                <a:solidFill>
                  <a:srgbClr val="FFFFFF"/>
                </a:solidFill>
                <a:latin typeface="Calibri" pitchFamily="34" charset="0"/>
                <a:ea typeface="Calibri" pitchFamily="34" charset="-122"/>
                <a:cs typeface="Calibri" pitchFamily="34" charset="-120"/>
              </a:rPr>
              <a:t>What is one AI tool you already use every day, without thinking of it as AI?</a:t>
            </a:r>
            <a:endParaRPr lang="en-US" sz="1650" dirty="0"/>
          </a:p>
        </p:txBody>
      </p:sp>
      <p:sp>
        <p:nvSpPr>
          <p:cNvPr id="20" name="Text 15"/>
          <p:cNvSpPr txBox="1"/>
          <p:nvPr/>
        </p:nvSpPr>
        <p:spPr>
          <a:xfrm>
            <a:off x="4983480" y="3017520"/>
            <a:ext cx="3474720" cy="347472"/>
          </a:xfrm>
          <a:prstGeom prst="rect">
            <a:avLst/>
          </a:prstGeom>
          <a:noFill/>
          <a:ln/>
        </p:spPr>
        <p:txBody>
          <a:bodyPr wrap="square" lIns="0" tIns="0" rIns="0" bIns="0" rtlCol="0" anchor="t"/>
          <a:lstStyle/>
          <a:p>
            <a:pPr marL="0" indent="0">
              <a:buNone/>
            </a:pPr>
            <a:r>
              <a:rPr lang="en-US" sz="1250" dirty="0">
                <a:solidFill>
                  <a:srgbClr val="E9B44C"/>
                </a:solidFill>
                <a:latin typeface="Calibri" pitchFamily="34" charset="0"/>
                <a:ea typeface="Calibri" pitchFamily="34" charset="-122"/>
                <a:cs typeface="Calibri" pitchFamily="34" charset="-120"/>
              </a:rPr>
              <a:t>•  </a:t>
            </a:r>
            <a:r>
              <a:rPr lang="en-US" sz="1250" dirty="0">
                <a:solidFill>
                  <a:srgbClr val="C9D3EE"/>
                </a:solidFill>
                <a:latin typeface="Calibri" pitchFamily="34" charset="0"/>
                <a:ea typeface="Calibri" pitchFamily="34" charset="-122"/>
                <a:cs typeface="Calibri" pitchFamily="34" charset="-120"/>
              </a:rPr>
              <a:t>Autocorrect and predictive text</a:t>
            </a:r>
            <a:endParaRPr lang="en-US" sz="1250" dirty="0"/>
          </a:p>
        </p:txBody>
      </p:sp>
      <p:sp>
        <p:nvSpPr>
          <p:cNvPr id="21" name="Text 16"/>
          <p:cNvSpPr txBox="1"/>
          <p:nvPr/>
        </p:nvSpPr>
        <p:spPr>
          <a:xfrm>
            <a:off x="4983480" y="3383280"/>
            <a:ext cx="3474720" cy="347472"/>
          </a:xfrm>
          <a:prstGeom prst="rect">
            <a:avLst/>
          </a:prstGeom>
          <a:noFill/>
          <a:ln/>
        </p:spPr>
        <p:txBody>
          <a:bodyPr wrap="square" lIns="0" tIns="0" rIns="0" bIns="0" rtlCol="0" anchor="t"/>
          <a:lstStyle/>
          <a:p>
            <a:pPr marL="0" indent="0">
              <a:buNone/>
            </a:pPr>
            <a:r>
              <a:rPr lang="en-US" sz="1250" dirty="0">
                <a:solidFill>
                  <a:srgbClr val="E9B44C"/>
                </a:solidFill>
                <a:latin typeface="Calibri" pitchFamily="34" charset="0"/>
                <a:ea typeface="Calibri" pitchFamily="34" charset="-122"/>
                <a:cs typeface="Calibri" pitchFamily="34" charset="-120"/>
              </a:rPr>
              <a:t>•  </a:t>
            </a:r>
            <a:r>
              <a:rPr lang="en-US" sz="1250" dirty="0">
                <a:solidFill>
                  <a:srgbClr val="C9D3EE"/>
                </a:solidFill>
                <a:latin typeface="Calibri" pitchFamily="34" charset="0"/>
                <a:ea typeface="Calibri" pitchFamily="34" charset="-122"/>
                <a:cs typeface="Calibri" pitchFamily="34" charset="-120"/>
              </a:rPr>
              <a:t>Photo tagging and face grouping</a:t>
            </a:r>
            <a:endParaRPr lang="en-US" sz="1250" dirty="0"/>
          </a:p>
        </p:txBody>
      </p:sp>
      <p:sp>
        <p:nvSpPr>
          <p:cNvPr id="22" name="Text 17"/>
          <p:cNvSpPr txBox="1"/>
          <p:nvPr/>
        </p:nvSpPr>
        <p:spPr>
          <a:xfrm>
            <a:off x="4983480" y="3749040"/>
            <a:ext cx="3474720" cy="347472"/>
          </a:xfrm>
          <a:prstGeom prst="rect">
            <a:avLst/>
          </a:prstGeom>
          <a:noFill/>
          <a:ln/>
        </p:spPr>
        <p:txBody>
          <a:bodyPr wrap="square" lIns="0" tIns="0" rIns="0" bIns="0" rtlCol="0" anchor="t"/>
          <a:lstStyle/>
          <a:p>
            <a:pPr marL="0" indent="0">
              <a:buNone/>
            </a:pPr>
            <a:r>
              <a:rPr lang="en-US" sz="1250" dirty="0">
                <a:solidFill>
                  <a:srgbClr val="E9B44C"/>
                </a:solidFill>
                <a:latin typeface="Calibri" pitchFamily="34" charset="0"/>
                <a:ea typeface="Calibri" pitchFamily="34" charset="-122"/>
                <a:cs typeface="Calibri" pitchFamily="34" charset="-120"/>
              </a:rPr>
              <a:t>•  </a:t>
            </a:r>
            <a:r>
              <a:rPr lang="en-US" sz="1250" dirty="0">
                <a:solidFill>
                  <a:srgbClr val="C9D3EE"/>
                </a:solidFill>
                <a:latin typeface="Calibri" pitchFamily="34" charset="0"/>
                <a:ea typeface="Calibri" pitchFamily="34" charset="-122"/>
                <a:cs typeface="Calibri" pitchFamily="34" charset="-120"/>
              </a:rPr>
              <a:t>Streaming service recommendations</a:t>
            </a:r>
            <a:endParaRPr lang="en-US" sz="1250" dirty="0"/>
          </a:p>
        </p:txBody>
      </p:sp>
      <p:sp>
        <p:nvSpPr>
          <p:cNvPr id="23" name="Text 18"/>
          <p:cNvSpPr txBox="1"/>
          <p:nvPr/>
        </p:nvSpPr>
        <p:spPr>
          <a:xfrm>
            <a:off x="4983480" y="4114800"/>
            <a:ext cx="3474720" cy="347472"/>
          </a:xfrm>
          <a:prstGeom prst="rect">
            <a:avLst/>
          </a:prstGeom>
          <a:noFill/>
          <a:ln/>
        </p:spPr>
        <p:txBody>
          <a:bodyPr wrap="square" lIns="0" tIns="0" rIns="0" bIns="0" rtlCol="0" anchor="t"/>
          <a:lstStyle/>
          <a:p>
            <a:pPr marL="0" indent="0">
              <a:buNone/>
            </a:pPr>
            <a:r>
              <a:rPr lang="en-US" sz="1250" dirty="0">
                <a:solidFill>
                  <a:srgbClr val="E9B44C"/>
                </a:solidFill>
                <a:latin typeface="Calibri" pitchFamily="34" charset="0"/>
                <a:ea typeface="Calibri" pitchFamily="34" charset="-122"/>
                <a:cs typeface="Calibri" pitchFamily="34" charset="-120"/>
              </a:rPr>
              <a:t>•  </a:t>
            </a:r>
            <a:r>
              <a:rPr lang="en-US" sz="1250" dirty="0">
                <a:solidFill>
                  <a:srgbClr val="C9D3EE"/>
                </a:solidFill>
                <a:latin typeface="Calibri" pitchFamily="34" charset="0"/>
                <a:ea typeface="Calibri" pitchFamily="34" charset="-122"/>
                <a:cs typeface="Calibri" pitchFamily="34" charset="-120"/>
              </a:rPr>
              <a:t>Maps traffic prediction</a:t>
            </a:r>
            <a:endParaRPr lang="en-US" sz="1250" dirty="0"/>
          </a:p>
        </p:txBody>
      </p:sp>
      <p:sp>
        <p:nvSpPr>
          <p:cNvPr id="24" name="Text 19"/>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25" name="Text 20"/>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276856"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276856"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1  |  INTRODUCTION TO AI</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AI, ML, Deep Learning &amp; Generative AI</a:t>
            </a:r>
            <a:endParaRPr lang="en-US" sz="2900" dirty="0"/>
          </a:p>
        </p:txBody>
      </p:sp>
      <p:sp>
        <p:nvSpPr>
          <p:cNvPr id="5" name="Shape 3"/>
          <p:cNvSpPr/>
          <p:nvPr/>
        </p:nvSpPr>
        <p:spPr>
          <a:xfrm>
            <a:off x="640080" y="1371600"/>
            <a:ext cx="7863840" cy="676656"/>
          </a:xfrm>
          <a:prstGeom prst="roundRect">
            <a:avLst>
              <a:gd name="adj" fmla="val 16216"/>
            </a:avLst>
          </a:prstGeom>
          <a:solidFill>
            <a:srgbClr val="0F1B3D"/>
          </a:solidFill>
          <a:ln w="6350">
            <a:solidFill>
              <a:srgbClr val="0F1B3D"/>
            </a:solidFill>
            <a:prstDash val="solid"/>
          </a:ln>
        </p:spPr>
      </p:sp>
      <p:sp>
        <p:nvSpPr>
          <p:cNvPr id="6" name="Text 4"/>
          <p:cNvSpPr txBox="1"/>
          <p:nvPr/>
        </p:nvSpPr>
        <p:spPr>
          <a:xfrm>
            <a:off x="640080" y="1435608"/>
            <a:ext cx="7863840" cy="274320"/>
          </a:xfrm>
          <a:prstGeom prst="rect">
            <a:avLst/>
          </a:prstGeom>
          <a:noFill/>
          <a:ln/>
        </p:spPr>
        <p:txBody>
          <a:bodyPr wrap="square" lIns="0" tIns="0" rIns="0" bIns="0" rtlCol="0" anchor="t"/>
          <a:lstStyle/>
          <a:p>
            <a:pPr marL="0" indent="0" algn="ctr">
              <a:buNone/>
            </a:pPr>
            <a:r>
              <a:rPr lang="en-US" sz="1550" b="1" dirty="0">
                <a:solidFill>
                  <a:srgbClr val="FFFFFF"/>
                </a:solidFill>
                <a:latin typeface="Calibri" pitchFamily="34" charset="0"/>
                <a:ea typeface="Calibri" pitchFamily="34" charset="-122"/>
                <a:cs typeface="Calibri" pitchFamily="34" charset="-120"/>
              </a:rPr>
              <a:t>Artificial Intelligence</a:t>
            </a:r>
            <a:endParaRPr lang="en-US" sz="1550" dirty="0"/>
          </a:p>
        </p:txBody>
      </p:sp>
      <p:sp>
        <p:nvSpPr>
          <p:cNvPr id="7" name="Text 5"/>
          <p:cNvSpPr txBox="1"/>
          <p:nvPr/>
        </p:nvSpPr>
        <p:spPr>
          <a:xfrm>
            <a:off x="640080" y="1728216"/>
            <a:ext cx="7863840" cy="256032"/>
          </a:xfrm>
          <a:prstGeom prst="rect">
            <a:avLst/>
          </a:prstGeom>
          <a:noFill/>
          <a:ln/>
        </p:spPr>
        <p:txBody>
          <a:bodyPr wrap="square" lIns="0" tIns="0" rIns="0" bIns="0" rtlCol="0" anchor="t"/>
          <a:lstStyle/>
          <a:p>
            <a:pPr marL="0" indent="0" algn="ctr">
              <a:buNone/>
            </a:pPr>
            <a:r>
              <a:rPr lang="en-US" sz="1050" dirty="0">
                <a:solidFill>
                  <a:srgbClr val="C9D3EE"/>
                </a:solidFill>
                <a:latin typeface="Calibri" pitchFamily="34" charset="0"/>
                <a:ea typeface="Calibri" pitchFamily="34" charset="-122"/>
                <a:cs typeface="Calibri" pitchFamily="34" charset="-120"/>
              </a:rPr>
              <a:t>Machines that mimic human tasks</a:t>
            </a:r>
            <a:endParaRPr lang="en-US" sz="1050" dirty="0"/>
          </a:p>
        </p:txBody>
      </p:sp>
      <p:sp>
        <p:nvSpPr>
          <p:cNvPr id="8" name="Shape 6"/>
          <p:cNvSpPr/>
          <p:nvPr/>
        </p:nvSpPr>
        <p:spPr>
          <a:xfrm>
            <a:off x="1554480" y="2167128"/>
            <a:ext cx="6035040" cy="676656"/>
          </a:xfrm>
          <a:prstGeom prst="roundRect">
            <a:avLst>
              <a:gd name="adj" fmla="val 16216"/>
            </a:avLst>
          </a:prstGeom>
          <a:solidFill>
            <a:srgbClr val="1C2D5E"/>
          </a:solidFill>
          <a:ln w="6350">
            <a:solidFill>
              <a:srgbClr val="1C2D5E"/>
            </a:solidFill>
            <a:prstDash val="solid"/>
          </a:ln>
        </p:spPr>
      </p:sp>
      <p:sp>
        <p:nvSpPr>
          <p:cNvPr id="9" name="Text 7"/>
          <p:cNvSpPr txBox="1"/>
          <p:nvPr/>
        </p:nvSpPr>
        <p:spPr>
          <a:xfrm>
            <a:off x="1554480" y="2231136"/>
            <a:ext cx="6035040" cy="274320"/>
          </a:xfrm>
          <a:prstGeom prst="rect">
            <a:avLst/>
          </a:prstGeom>
          <a:noFill/>
          <a:ln/>
        </p:spPr>
        <p:txBody>
          <a:bodyPr wrap="square" lIns="0" tIns="0" rIns="0" bIns="0" rtlCol="0" anchor="t"/>
          <a:lstStyle/>
          <a:p>
            <a:pPr marL="0" indent="0" algn="ctr">
              <a:buNone/>
            </a:pPr>
            <a:r>
              <a:rPr lang="en-US" sz="1550" b="1" dirty="0">
                <a:solidFill>
                  <a:srgbClr val="FFFFFF"/>
                </a:solidFill>
                <a:latin typeface="Calibri" pitchFamily="34" charset="0"/>
                <a:ea typeface="Calibri" pitchFamily="34" charset="-122"/>
                <a:cs typeface="Calibri" pitchFamily="34" charset="-120"/>
              </a:rPr>
              <a:t>Machine Learning</a:t>
            </a:r>
            <a:endParaRPr lang="en-US" sz="1550" dirty="0"/>
          </a:p>
        </p:txBody>
      </p:sp>
      <p:sp>
        <p:nvSpPr>
          <p:cNvPr id="10" name="Text 8"/>
          <p:cNvSpPr txBox="1"/>
          <p:nvPr/>
        </p:nvSpPr>
        <p:spPr>
          <a:xfrm>
            <a:off x="1554480" y="2523744"/>
            <a:ext cx="6035040" cy="256032"/>
          </a:xfrm>
          <a:prstGeom prst="rect">
            <a:avLst/>
          </a:prstGeom>
          <a:noFill/>
          <a:ln/>
        </p:spPr>
        <p:txBody>
          <a:bodyPr wrap="square" lIns="0" tIns="0" rIns="0" bIns="0" rtlCol="0" anchor="t"/>
          <a:lstStyle/>
          <a:p>
            <a:pPr marL="0" indent="0" algn="ctr">
              <a:buNone/>
            </a:pPr>
            <a:r>
              <a:rPr lang="en-US" sz="1050" dirty="0">
                <a:solidFill>
                  <a:srgbClr val="C9D3EE"/>
                </a:solidFill>
                <a:latin typeface="Calibri" pitchFamily="34" charset="0"/>
                <a:ea typeface="Calibri" pitchFamily="34" charset="-122"/>
                <a:cs typeface="Calibri" pitchFamily="34" charset="-120"/>
              </a:rPr>
              <a:t>Systems that learn patterns from data</a:t>
            </a:r>
            <a:endParaRPr lang="en-US" sz="1050" dirty="0"/>
          </a:p>
        </p:txBody>
      </p:sp>
      <p:sp>
        <p:nvSpPr>
          <p:cNvPr id="11" name="Shape 9"/>
          <p:cNvSpPr/>
          <p:nvPr/>
        </p:nvSpPr>
        <p:spPr>
          <a:xfrm>
            <a:off x="2468880" y="2962656"/>
            <a:ext cx="4206240" cy="676656"/>
          </a:xfrm>
          <a:prstGeom prst="roundRect">
            <a:avLst>
              <a:gd name="adj" fmla="val 16216"/>
            </a:avLst>
          </a:prstGeom>
          <a:solidFill>
            <a:srgbClr val="22B8A8"/>
          </a:solidFill>
          <a:ln w="6350">
            <a:solidFill>
              <a:srgbClr val="22B8A8"/>
            </a:solidFill>
            <a:prstDash val="solid"/>
          </a:ln>
        </p:spPr>
      </p:sp>
      <p:sp>
        <p:nvSpPr>
          <p:cNvPr id="12" name="Text 10"/>
          <p:cNvSpPr txBox="1"/>
          <p:nvPr/>
        </p:nvSpPr>
        <p:spPr>
          <a:xfrm>
            <a:off x="2468880" y="3026664"/>
            <a:ext cx="4206240" cy="274320"/>
          </a:xfrm>
          <a:prstGeom prst="rect">
            <a:avLst/>
          </a:prstGeom>
          <a:noFill/>
          <a:ln/>
        </p:spPr>
        <p:txBody>
          <a:bodyPr wrap="square" lIns="0" tIns="0" rIns="0" bIns="0" rtlCol="0" anchor="t"/>
          <a:lstStyle/>
          <a:p>
            <a:pPr marL="0" indent="0" algn="ctr">
              <a:buNone/>
            </a:pPr>
            <a:r>
              <a:rPr lang="en-US" sz="1550" b="1" dirty="0">
                <a:solidFill>
                  <a:srgbClr val="0F1B3D"/>
                </a:solidFill>
                <a:latin typeface="Calibri" pitchFamily="34" charset="0"/>
                <a:ea typeface="Calibri" pitchFamily="34" charset="-122"/>
                <a:cs typeface="Calibri" pitchFamily="34" charset="-120"/>
              </a:rPr>
              <a:t>Deep Learning</a:t>
            </a:r>
            <a:endParaRPr lang="en-US" sz="1550" dirty="0"/>
          </a:p>
        </p:txBody>
      </p:sp>
      <p:sp>
        <p:nvSpPr>
          <p:cNvPr id="13" name="Text 11"/>
          <p:cNvSpPr txBox="1"/>
          <p:nvPr/>
        </p:nvSpPr>
        <p:spPr>
          <a:xfrm>
            <a:off x="2468880" y="3319272"/>
            <a:ext cx="4206240" cy="256032"/>
          </a:xfrm>
          <a:prstGeom prst="rect">
            <a:avLst/>
          </a:prstGeom>
          <a:noFill/>
          <a:ln/>
        </p:spPr>
        <p:txBody>
          <a:bodyPr wrap="square" lIns="0" tIns="0" rIns="0" bIns="0" rtlCol="0" anchor="t"/>
          <a:lstStyle/>
          <a:p>
            <a:pPr marL="0" indent="0" algn="ctr">
              <a:buNone/>
            </a:pPr>
            <a:r>
              <a:rPr lang="en-US" sz="1050" dirty="0">
                <a:solidFill>
                  <a:srgbClr val="3A4258"/>
                </a:solidFill>
                <a:latin typeface="Calibri" pitchFamily="34" charset="0"/>
                <a:ea typeface="Calibri" pitchFamily="34" charset="-122"/>
                <a:cs typeface="Calibri" pitchFamily="34" charset="-120"/>
              </a:rPr>
              <a:t>Learning using layered neural networks</a:t>
            </a:r>
            <a:endParaRPr lang="en-US" sz="1050" dirty="0"/>
          </a:p>
        </p:txBody>
      </p:sp>
      <p:sp>
        <p:nvSpPr>
          <p:cNvPr id="14" name="Shape 12"/>
          <p:cNvSpPr/>
          <p:nvPr/>
        </p:nvSpPr>
        <p:spPr>
          <a:xfrm>
            <a:off x="3337560" y="3758184"/>
            <a:ext cx="2468880" cy="676656"/>
          </a:xfrm>
          <a:prstGeom prst="roundRect">
            <a:avLst>
              <a:gd name="adj" fmla="val 16216"/>
            </a:avLst>
          </a:prstGeom>
          <a:solidFill>
            <a:srgbClr val="E9B44C"/>
          </a:solidFill>
          <a:ln w="6350">
            <a:solidFill>
              <a:srgbClr val="E9B44C"/>
            </a:solidFill>
            <a:prstDash val="solid"/>
          </a:ln>
        </p:spPr>
      </p:sp>
      <p:sp>
        <p:nvSpPr>
          <p:cNvPr id="15" name="Text 13"/>
          <p:cNvSpPr txBox="1"/>
          <p:nvPr/>
        </p:nvSpPr>
        <p:spPr>
          <a:xfrm>
            <a:off x="3337560" y="3822192"/>
            <a:ext cx="2468880" cy="274320"/>
          </a:xfrm>
          <a:prstGeom prst="rect">
            <a:avLst/>
          </a:prstGeom>
          <a:noFill/>
          <a:ln/>
        </p:spPr>
        <p:txBody>
          <a:bodyPr wrap="square" lIns="0" tIns="0" rIns="0" bIns="0" rtlCol="0" anchor="t"/>
          <a:lstStyle/>
          <a:p>
            <a:pPr marL="0" indent="0" algn="ctr">
              <a:buNone/>
            </a:pPr>
            <a:r>
              <a:rPr lang="en-US" sz="1550" b="1" dirty="0">
                <a:solidFill>
                  <a:srgbClr val="0F1B3D"/>
                </a:solidFill>
                <a:latin typeface="Calibri" pitchFamily="34" charset="0"/>
                <a:ea typeface="Calibri" pitchFamily="34" charset="-122"/>
                <a:cs typeface="Calibri" pitchFamily="34" charset="-120"/>
              </a:rPr>
              <a:t>Generative AI</a:t>
            </a:r>
            <a:endParaRPr lang="en-US" sz="1550" dirty="0"/>
          </a:p>
        </p:txBody>
      </p:sp>
      <p:sp>
        <p:nvSpPr>
          <p:cNvPr id="16" name="Text 14"/>
          <p:cNvSpPr txBox="1"/>
          <p:nvPr/>
        </p:nvSpPr>
        <p:spPr>
          <a:xfrm>
            <a:off x="3337560" y="4114800"/>
            <a:ext cx="2468880" cy="256032"/>
          </a:xfrm>
          <a:prstGeom prst="rect">
            <a:avLst/>
          </a:prstGeom>
          <a:noFill/>
          <a:ln/>
        </p:spPr>
        <p:txBody>
          <a:bodyPr wrap="square" lIns="0" tIns="0" rIns="0" bIns="0" rtlCol="0" anchor="t"/>
          <a:lstStyle/>
          <a:p>
            <a:pPr marL="0" indent="0" algn="ctr">
              <a:buNone/>
            </a:pPr>
            <a:r>
              <a:rPr lang="en-US" sz="1050" dirty="0">
                <a:solidFill>
                  <a:srgbClr val="3A4258"/>
                </a:solidFill>
                <a:latin typeface="Calibri" pitchFamily="34" charset="0"/>
                <a:ea typeface="Calibri" pitchFamily="34" charset="-122"/>
                <a:cs typeface="Calibri" pitchFamily="34" charset="-120"/>
              </a:rPr>
              <a:t>Creates new text, images, code and more</a:t>
            </a:r>
            <a:endParaRPr lang="en-US" sz="1050" dirty="0"/>
          </a:p>
        </p:txBody>
      </p:sp>
      <p:sp>
        <p:nvSpPr>
          <p:cNvPr id="17" name="Text 15"/>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18" name="Text 16"/>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432304"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432304"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2  |  GENERATIVE AI &amp; LLMS</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What Generative AI Can Create</a:t>
            </a:r>
            <a:endParaRPr lang="en-US" sz="2900" dirty="0"/>
          </a:p>
        </p:txBody>
      </p:sp>
      <p:sp>
        <p:nvSpPr>
          <p:cNvPr id="5" name="Shape 3"/>
          <p:cNvSpPr/>
          <p:nvPr/>
        </p:nvSpPr>
        <p:spPr>
          <a:xfrm>
            <a:off x="457200" y="141732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640080" y="1600200"/>
            <a:ext cx="457200" cy="45720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754380" y="1714500"/>
            <a:ext cx="228600" cy="228600"/>
          </a:xfrm>
          <a:prstGeom prst="rect">
            <a:avLst/>
          </a:prstGeom>
        </p:spPr>
      </p:pic>
      <p:sp>
        <p:nvSpPr>
          <p:cNvPr id="8" name="Text 5"/>
          <p:cNvSpPr txBox="1"/>
          <p:nvPr/>
        </p:nvSpPr>
        <p:spPr>
          <a:xfrm>
            <a:off x="1234440" y="161848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Text</a:t>
            </a:r>
            <a:endParaRPr lang="en-US" sz="1450" dirty="0"/>
          </a:p>
        </p:txBody>
      </p:sp>
      <p:sp>
        <p:nvSpPr>
          <p:cNvPr id="9" name="Text 6"/>
          <p:cNvSpPr txBox="1"/>
          <p:nvPr/>
        </p:nvSpPr>
        <p:spPr>
          <a:xfrm>
            <a:off x="640080" y="207568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Essays, code, summaries, conversations</a:t>
            </a:r>
            <a:endParaRPr lang="en-US" sz="1100" dirty="0"/>
          </a:p>
        </p:txBody>
      </p:sp>
      <p:sp>
        <p:nvSpPr>
          <p:cNvPr id="10" name="Shape 7"/>
          <p:cNvSpPr/>
          <p:nvPr/>
        </p:nvSpPr>
        <p:spPr>
          <a:xfrm>
            <a:off x="3278124" y="141732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1" name="Shape 8"/>
          <p:cNvSpPr/>
          <p:nvPr/>
        </p:nvSpPr>
        <p:spPr>
          <a:xfrm>
            <a:off x="3461004" y="1600200"/>
            <a:ext cx="457200" cy="457200"/>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3575304" y="1714500"/>
            <a:ext cx="228600" cy="228600"/>
          </a:xfrm>
          <a:prstGeom prst="rect">
            <a:avLst/>
          </a:prstGeom>
        </p:spPr>
      </p:pic>
      <p:sp>
        <p:nvSpPr>
          <p:cNvPr id="13" name="Text 9"/>
          <p:cNvSpPr txBox="1"/>
          <p:nvPr/>
        </p:nvSpPr>
        <p:spPr>
          <a:xfrm>
            <a:off x="4055364" y="161848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Images</a:t>
            </a:r>
            <a:endParaRPr lang="en-US" sz="1450" dirty="0"/>
          </a:p>
        </p:txBody>
      </p:sp>
      <p:sp>
        <p:nvSpPr>
          <p:cNvPr id="14" name="Text 10"/>
          <p:cNvSpPr txBox="1"/>
          <p:nvPr/>
        </p:nvSpPr>
        <p:spPr>
          <a:xfrm>
            <a:off x="3461004" y="207568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Illustrations, designs, edited photos</a:t>
            </a:r>
            <a:endParaRPr lang="en-US" sz="1100" dirty="0"/>
          </a:p>
        </p:txBody>
      </p:sp>
      <p:sp>
        <p:nvSpPr>
          <p:cNvPr id="15" name="Shape 11"/>
          <p:cNvSpPr/>
          <p:nvPr/>
        </p:nvSpPr>
        <p:spPr>
          <a:xfrm>
            <a:off x="6099048" y="141732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6" name="Shape 12"/>
          <p:cNvSpPr/>
          <p:nvPr/>
        </p:nvSpPr>
        <p:spPr>
          <a:xfrm>
            <a:off x="6281928" y="1600200"/>
            <a:ext cx="457200" cy="457200"/>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6396228" y="1714500"/>
            <a:ext cx="228600" cy="228600"/>
          </a:xfrm>
          <a:prstGeom prst="rect">
            <a:avLst/>
          </a:prstGeom>
        </p:spPr>
      </p:pic>
      <p:sp>
        <p:nvSpPr>
          <p:cNvPr id="18" name="Text 13"/>
          <p:cNvSpPr txBox="1"/>
          <p:nvPr/>
        </p:nvSpPr>
        <p:spPr>
          <a:xfrm>
            <a:off x="6876288" y="161848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Audio</a:t>
            </a:r>
            <a:endParaRPr lang="en-US" sz="1450" dirty="0"/>
          </a:p>
        </p:txBody>
      </p:sp>
      <p:sp>
        <p:nvSpPr>
          <p:cNvPr id="19" name="Text 14"/>
          <p:cNvSpPr txBox="1"/>
          <p:nvPr/>
        </p:nvSpPr>
        <p:spPr>
          <a:xfrm>
            <a:off x="6281928" y="207568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Speech, music, voice cloning</a:t>
            </a:r>
            <a:endParaRPr lang="en-US" sz="1100" dirty="0"/>
          </a:p>
        </p:txBody>
      </p:sp>
      <p:sp>
        <p:nvSpPr>
          <p:cNvPr id="20" name="Shape 15"/>
          <p:cNvSpPr/>
          <p:nvPr/>
        </p:nvSpPr>
        <p:spPr>
          <a:xfrm>
            <a:off x="457200" y="265176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1" name="Shape 16"/>
          <p:cNvSpPr/>
          <p:nvPr/>
        </p:nvSpPr>
        <p:spPr>
          <a:xfrm>
            <a:off x="640080" y="2834640"/>
            <a:ext cx="457200" cy="457200"/>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754380" y="2948940"/>
            <a:ext cx="228600" cy="228600"/>
          </a:xfrm>
          <a:prstGeom prst="rect">
            <a:avLst/>
          </a:prstGeom>
        </p:spPr>
      </p:pic>
      <p:sp>
        <p:nvSpPr>
          <p:cNvPr id="23" name="Text 17"/>
          <p:cNvSpPr txBox="1"/>
          <p:nvPr/>
        </p:nvSpPr>
        <p:spPr>
          <a:xfrm>
            <a:off x="1234440" y="285292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Video</a:t>
            </a:r>
            <a:endParaRPr lang="en-US" sz="1450" dirty="0"/>
          </a:p>
        </p:txBody>
      </p:sp>
      <p:sp>
        <p:nvSpPr>
          <p:cNvPr id="24" name="Text 18"/>
          <p:cNvSpPr txBox="1"/>
          <p:nvPr/>
        </p:nvSpPr>
        <p:spPr>
          <a:xfrm>
            <a:off x="640080" y="331012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Short clips, animations, avatars</a:t>
            </a:r>
            <a:endParaRPr lang="en-US" sz="1100" dirty="0"/>
          </a:p>
        </p:txBody>
      </p:sp>
      <p:sp>
        <p:nvSpPr>
          <p:cNvPr id="25" name="Shape 19"/>
          <p:cNvSpPr/>
          <p:nvPr/>
        </p:nvSpPr>
        <p:spPr>
          <a:xfrm>
            <a:off x="3278124" y="265176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6" name="Shape 20"/>
          <p:cNvSpPr/>
          <p:nvPr/>
        </p:nvSpPr>
        <p:spPr>
          <a:xfrm>
            <a:off x="3461004" y="2834640"/>
            <a:ext cx="457200" cy="457200"/>
          </a:xfrm>
          <a:prstGeom prst="ellipse">
            <a:avLst/>
          </a:prstGeom>
          <a:solidFill>
            <a:srgbClr val="38A3F5"/>
          </a:solidFill>
          <a:ln w="6350">
            <a:solidFill>
              <a:srgbClr val="38A3F5"/>
            </a:solidFill>
            <a:prstDash val="solid"/>
          </a:ln>
        </p:spPr>
      </p:sp>
      <p:pic>
        <p:nvPicPr>
          <p:cNvPr id="27" name="Image 4" descr="preencoded.png"/>
          <p:cNvPicPr>
            <a:picLocks noChangeAspect="1"/>
          </p:cNvPicPr>
          <p:nvPr/>
        </p:nvPicPr>
        <p:blipFill>
          <a:blip r:embed="rId8"/>
          <a:stretch>
            <a:fillRect/>
          </a:stretch>
        </p:blipFill>
        <p:spPr>
          <a:xfrm>
            <a:off x="3575304" y="2948940"/>
            <a:ext cx="228600" cy="228600"/>
          </a:xfrm>
          <a:prstGeom prst="rect">
            <a:avLst/>
          </a:prstGeom>
        </p:spPr>
      </p:pic>
      <p:sp>
        <p:nvSpPr>
          <p:cNvPr id="28" name="Text 21"/>
          <p:cNvSpPr txBox="1"/>
          <p:nvPr/>
        </p:nvSpPr>
        <p:spPr>
          <a:xfrm>
            <a:off x="4055364" y="285292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Code</a:t>
            </a:r>
            <a:endParaRPr lang="en-US" sz="1450" dirty="0"/>
          </a:p>
        </p:txBody>
      </p:sp>
      <p:sp>
        <p:nvSpPr>
          <p:cNvPr id="29" name="Text 22"/>
          <p:cNvSpPr txBox="1"/>
          <p:nvPr/>
        </p:nvSpPr>
        <p:spPr>
          <a:xfrm>
            <a:off x="3461004" y="331012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Functions, scripts, whole applications</a:t>
            </a:r>
            <a:endParaRPr lang="en-US" sz="1100" dirty="0"/>
          </a:p>
        </p:txBody>
      </p:sp>
      <p:sp>
        <p:nvSpPr>
          <p:cNvPr id="30" name="Shape 23"/>
          <p:cNvSpPr/>
          <p:nvPr/>
        </p:nvSpPr>
        <p:spPr>
          <a:xfrm>
            <a:off x="6099048" y="2651760"/>
            <a:ext cx="2587752" cy="1097280"/>
          </a:xfrm>
          <a:prstGeom prst="roundRect">
            <a:avLst>
              <a:gd name="adj" fmla="val 10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31" name="Shape 24"/>
          <p:cNvSpPr/>
          <p:nvPr/>
        </p:nvSpPr>
        <p:spPr>
          <a:xfrm>
            <a:off x="6281928" y="2834640"/>
            <a:ext cx="457200" cy="457200"/>
          </a:xfrm>
          <a:prstGeom prst="ellipse">
            <a:avLst/>
          </a:prstGeom>
          <a:solidFill>
            <a:srgbClr val="E9B44C"/>
          </a:solidFill>
          <a:ln w="6350">
            <a:solidFill>
              <a:srgbClr val="E9B44C"/>
            </a:solidFill>
            <a:prstDash val="solid"/>
          </a:ln>
        </p:spPr>
      </p:sp>
      <p:pic>
        <p:nvPicPr>
          <p:cNvPr id="32" name="Image 5" descr="preencoded.png"/>
          <p:cNvPicPr>
            <a:picLocks noChangeAspect="1"/>
          </p:cNvPicPr>
          <p:nvPr/>
        </p:nvPicPr>
        <p:blipFill>
          <a:blip r:embed="rId9"/>
          <a:stretch>
            <a:fillRect/>
          </a:stretch>
        </p:blipFill>
        <p:spPr>
          <a:xfrm>
            <a:off x="6396228" y="2948940"/>
            <a:ext cx="228600" cy="228600"/>
          </a:xfrm>
          <a:prstGeom prst="rect">
            <a:avLst/>
          </a:prstGeom>
        </p:spPr>
      </p:pic>
      <p:sp>
        <p:nvSpPr>
          <p:cNvPr id="33" name="Text 25"/>
          <p:cNvSpPr txBox="1"/>
          <p:nvPr/>
        </p:nvSpPr>
        <p:spPr>
          <a:xfrm>
            <a:off x="6876288" y="2852928"/>
            <a:ext cx="1691640" cy="274320"/>
          </a:xfrm>
          <a:prstGeom prst="rect">
            <a:avLst/>
          </a:prstGeom>
          <a:noFill/>
          <a:ln/>
        </p:spPr>
        <p:txBody>
          <a:bodyPr wrap="square" lIns="0" tIns="0" rIns="0" bIns="0" rtlCol="0" anchor="t"/>
          <a:lstStyle/>
          <a:p>
            <a:pPr marL="0" indent="0">
              <a:buNone/>
            </a:pPr>
            <a:r>
              <a:rPr lang="en-US" sz="1450" b="1" dirty="0">
                <a:solidFill>
                  <a:srgbClr val="0F1B3D"/>
                </a:solidFill>
                <a:latin typeface="Calibri" pitchFamily="34" charset="0"/>
                <a:ea typeface="Calibri" pitchFamily="34" charset="-122"/>
                <a:cs typeface="Calibri" pitchFamily="34" charset="-120"/>
              </a:rPr>
              <a:t>3D &amp; Data</a:t>
            </a:r>
            <a:endParaRPr lang="en-US" sz="1450" dirty="0"/>
          </a:p>
        </p:txBody>
      </p:sp>
      <p:sp>
        <p:nvSpPr>
          <p:cNvPr id="34" name="Text 26"/>
          <p:cNvSpPr txBox="1"/>
          <p:nvPr/>
        </p:nvSpPr>
        <p:spPr>
          <a:xfrm>
            <a:off x="6281928" y="3310128"/>
            <a:ext cx="2240280" cy="384048"/>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Models, synthetic datasets, simulations</a:t>
            </a:r>
            <a:endParaRPr lang="en-US" sz="1100" dirty="0"/>
          </a:p>
        </p:txBody>
      </p:sp>
      <p:sp>
        <p:nvSpPr>
          <p:cNvPr id="35" name="Shape 27"/>
          <p:cNvSpPr/>
          <p:nvPr/>
        </p:nvSpPr>
        <p:spPr>
          <a:xfrm>
            <a:off x="457200" y="3931920"/>
            <a:ext cx="8229600" cy="566928"/>
          </a:xfrm>
          <a:prstGeom prst="roundRect">
            <a:avLst>
              <a:gd name="adj" fmla="val 19355"/>
            </a:avLst>
          </a:prstGeom>
          <a:solidFill>
            <a:srgbClr val="0F1B3D"/>
          </a:solidFill>
          <a:ln w="9525">
            <a:solidFill>
              <a:srgbClr val="0F1B3D"/>
            </a:solidFill>
            <a:prstDash val="solid"/>
          </a:ln>
        </p:spPr>
      </p:sp>
      <p:sp>
        <p:nvSpPr>
          <p:cNvPr id="36" name="Text 28"/>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1250" b="1" dirty="0">
                <a:solidFill>
                  <a:srgbClr val="E9B44C"/>
                </a:solidFill>
                <a:latin typeface="Calibri" pitchFamily="34" charset="0"/>
                <a:ea typeface="Calibri" pitchFamily="34" charset="-122"/>
                <a:cs typeface="Calibri" pitchFamily="34" charset="-120"/>
              </a:rPr>
              <a:t>LLM = Large Language Model   </a:t>
            </a:r>
            <a:r>
              <a:rPr lang="en-US" sz="1250" dirty="0">
                <a:solidFill>
                  <a:srgbClr val="FFFFFF"/>
                </a:solidFill>
                <a:latin typeface="Calibri" pitchFamily="34" charset="0"/>
                <a:ea typeface="Calibri" pitchFamily="34" charset="-122"/>
                <a:cs typeface="Calibri" pitchFamily="34" charset="-120"/>
              </a:rPr>
              <a:t>a Generative AI model trained on massive amounts of text to understand and produce language</a:t>
            </a:r>
            <a:endParaRPr lang="en-US" sz="1250" dirty="0"/>
          </a:p>
        </p:txBody>
      </p:sp>
      <p:sp>
        <p:nvSpPr>
          <p:cNvPr id="37" name="Text 29"/>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38" name="Text 30"/>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432304"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432304"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2  |  GENERATIVE AI &amp; LLMS</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Training vs. Inference</a:t>
            </a:r>
            <a:endParaRPr lang="en-US" sz="2900" dirty="0"/>
          </a:p>
        </p:txBody>
      </p:sp>
      <p:sp>
        <p:nvSpPr>
          <p:cNvPr id="5" name="Shape 3"/>
          <p:cNvSpPr/>
          <p:nvPr/>
        </p:nvSpPr>
        <p:spPr>
          <a:xfrm>
            <a:off x="457200" y="1417320"/>
            <a:ext cx="4023360" cy="3063240"/>
          </a:xfrm>
          <a:prstGeom prst="roundRect">
            <a:avLst>
              <a:gd name="adj" fmla="val 3582"/>
            </a:avLst>
          </a:prstGeom>
          <a:solidFill>
            <a:srgbClr val="0F1B3D"/>
          </a:solidFill>
          <a:ln w="9525">
            <a:solidFill>
              <a:srgbClr val="0F1B3D"/>
            </a:solidFill>
            <a:prstDash val="solid"/>
          </a:ln>
        </p:spPr>
      </p:sp>
      <p:sp>
        <p:nvSpPr>
          <p:cNvPr id="6" name="Text 4"/>
          <p:cNvSpPr txBox="1"/>
          <p:nvPr/>
        </p:nvSpPr>
        <p:spPr>
          <a:xfrm>
            <a:off x="777240" y="1618488"/>
            <a:ext cx="3383280" cy="36576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Training</a:t>
            </a:r>
            <a:endParaRPr lang="en-US" sz="2200" dirty="0"/>
          </a:p>
        </p:txBody>
      </p:sp>
      <p:sp>
        <p:nvSpPr>
          <p:cNvPr id="7" name="Text 5"/>
          <p:cNvSpPr txBox="1"/>
          <p:nvPr/>
        </p:nvSpPr>
        <p:spPr>
          <a:xfrm>
            <a:off x="777240" y="1984248"/>
            <a:ext cx="3383280" cy="292608"/>
          </a:xfrm>
          <a:prstGeom prst="rect">
            <a:avLst/>
          </a:prstGeom>
          <a:noFill/>
          <a:ln/>
        </p:spPr>
        <p:txBody>
          <a:bodyPr wrap="square" lIns="0" tIns="0" rIns="0" bIns="0" rtlCol="0" anchor="t"/>
          <a:lstStyle/>
          <a:p>
            <a:pPr marL="0" indent="0">
              <a:buNone/>
            </a:pPr>
            <a:r>
              <a:rPr lang="en-US" sz="1150" i="1" dirty="0">
                <a:solidFill>
                  <a:srgbClr val="E9B44C"/>
                </a:solidFill>
                <a:latin typeface="Calibri" pitchFamily="34" charset="0"/>
                <a:ea typeface="Calibri" pitchFamily="34" charset="-122"/>
                <a:cs typeface="Calibri" pitchFamily="34" charset="-120"/>
              </a:rPr>
              <a:t>Happens once, before you ever use the tool</a:t>
            </a:r>
            <a:endParaRPr lang="en-US" sz="1150" dirty="0"/>
          </a:p>
        </p:txBody>
      </p:sp>
      <p:sp>
        <p:nvSpPr>
          <p:cNvPr id="8" name="Text 6"/>
          <p:cNvSpPr txBox="1"/>
          <p:nvPr/>
        </p:nvSpPr>
        <p:spPr>
          <a:xfrm>
            <a:off x="777240" y="2395728"/>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C9D3EE"/>
                </a:solidFill>
                <a:latin typeface="Calibri" pitchFamily="34" charset="0"/>
                <a:ea typeface="Calibri" pitchFamily="34" charset="-122"/>
                <a:cs typeface="Calibri" pitchFamily="34" charset="-120"/>
              </a:rPr>
              <a:t>Model reads huge amounts of text</a:t>
            </a:r>
            <a:endParaRPr lang="en-US" sz="1250" dirty="0"/>
          </a:p>
        </p:txBody>
      </p:sp>
      <p:sp>
        <p:nvSpPr>
          <p:cNvPr id="9" name="Text 7"/>
          <p:cNvSpPr txBox="1"/>
          <p:nvPr/>
        </p:nvSpPr>
        <p:spPr>
          <a:xfrm>
            <a:off x="777240" y="2871216"/>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C9D3EE"/>
                </a:solidFill>
                <a:latin typeface="Calibri" pitchFamily="34" charset="0"/>
                <a:ea typeface="Calibri" pitchFamily="34" charset="-122"/>
                <a:cs typeface="Calibri" pitchFamily="34" charset="-120"/>
              </a:rPr>
              <a:t>Learns patterns, grammar, facts and style</a:t>
            </a:r>
            <a:endParaRPr lang="en-US" sz="1250" dirty="0"/>
          </a:p>
        </p:txBody>
      </p:sp>
      <p:sp>
        <p:nvSpPr>
          <p:cNvPr id="10" name="Text 8"/>
          <p:cNvSpPr txBox="1"/>
          <p:nvPr/>
        </p:nvSpPr>
        <p:spPr>
          <a:xfrm>
            <a:off x="777240" y="3346704"/>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C9D3EE"/>
                </a:solidFill>
                <a:latin typeface="Calibri" pitchFamily="34" charset="0"/>
                <a:ea typeface="Calibri" pitchFamily="34" charset="-122"/>
                <a:cs typeface="Calibri" pitchFamily="34" charset="-120"/>
              </a:rPr>
              <a:t>Adjusts billions of internal parameters</a:t>
            </a:r>
            <a:endParaRPr lang="en-US" sz="1250" dirty="0"/>
          </a:p>
        </p:txBody>
      </p:sp>
      <p:sp>
        <p:nvSpPr>
          <p:cNvPr id="11" name="Text 9"/>
          <p:cNvSpPr txBox="1"/>
          <p:nvPr/>
        </p:nvSpPr>
        <p:spPr>
          <a:xfrm>
            <a:off x="777240" y="3822192"/>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C9D3EE"/>
                </a:solidFill>
                <a:latin typeface="Calibri" pitchFamily="34" charset="0"/>
                <a:ea typeface="Calibri" pitchFamily="34" charset="-122"/>
                <a:cs typeface="Calibri" pitchFamily="34" charset="-120"/>
              </a:rPr>
              <a:t>Takes weeks and massive computing power</a:t>
            </a:r>
            <a:endParaRPr lang="en-US" sz="1250" dirty="0"/>
          </a:p>
        </p:txBody>
      </p:sp>
      <p:sp>
        <p:nvSpPr>
          <p:cNvPr id="12" name="Shape 10"/>
          <p:cNvSpPr/>
          <p:nvPr/>
        </p:nvSpPr>
        <p:spPr>
          <a:xfrm>
            <a:off x="4663440" y="1417320"/>
            <a:ext cx="4023360" cy="3063240"/>
          </a:xfrm>
          <a:prstGeom prst="roundRect">
            <a:avLst>
              <a:gd name="adj" fmla="val 358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3" name="Text 11"/>
          <p:cNvSpPr txBox="1"/>
          <p:nvPr/>
        </p:nvSpPr>
        <p:spPr>
          <a:xfrm>
            <a:off x="4983480" y="1618488"/>
            <a:ext cx="3383280" cy="365760"/>
          </a:xfrm>
          <a:prstGeom prst="rect">
            <a:avLst/>
          </a:prstGeom>
          <a:noFill/>
          <a:ln/>
        </p:spPr>
        <p:txBody>
          <a:bodyPr wrap="square" lIns="0" tIns="0" rIns="0" bIns="0" rtlCol="0" anchor="t"/>
          <a:lstStyle/>
          <a:p>
            <a:pPr marL="0" indent="0">
              <a:buNone/>
            </a:pPr>
            <a:r>
              <a:rPr lang="en-US" sz="2200" b="1" dirty="0">
                <a:solidFill>
                  <a:srgbClr val="0F1B3D"/>
                </a:solidFill>
                <a:latin typeface="Cambria" pitchFamily="34" charset="0"/>
                <a:ea typeface="Cambria" pitchFamily="34" charset="-122"/>
                <a:cs typeface="Cambria" pitchFamily="34" charset="-120"/>
              </a:rPr>
              <a:t>Inference</a:t>
            </a:r>
            <a:endParaRPr lang="en-US" sz="2200" dirty="0"/>
          </a:p>
        </p:txBody>
      </p:sp>
      <p:sp>
        <p:nvSpPr>
          <p:cNvPr id="14" name="Text 12"/>
          <p:cNvSpPr txBox="1"/>
          <p:nvPr/>
        </p:nvSpPr>
        <p:spPr>
          <a:xfrm>
            <a:off x="4983480" y="1984248"/>
            <a:ext cx="3383280" cy="292608"/>
          </a:xfrm>
          <a:prstGeom prst="rect">
            <a:avLst/>
          </a:prstGeom>
          <a:noFill/>
          <a:ln/>
        </p:spPr>
        <p:txBody>
          <a:bodyPr wrap="square" lIns="0" tIns="0" rIns="0" bIns="0" rtlCol="0" anchor="t"/>
          <a:lstStyle/>
          <a:p>
            <a:pPr marL="0" indent="0">
              <a:buNone/>
            </a:pPr>
            <a:r>
              <a:rPr lang="en-US" sz="1150" i="1" dirty="0">
                <a:solidFill>
                  <a:srgbClr val="0B7A70"/>
                </a:solidFill>
                <a:latin typeface="Calibri" pitchFamily="34" charset="0"/>
                <a:ea typeface="Calibri" pitchFamily="34" charset="-122"/>
                <a:cs typeface="Calibri" pitchFamily="34" charset="-120"/>
              </a:rPr>
              <a:t>Happens every time you send a prompt</a:t>
            </a:r>
            <a:endParaRPr lang="en-US" sz="1150" dirty="0"/>
          </a:p>
        </p:txBody>
      </p:sp>
      <p:sp>
        <p:nvSpPr>
          <p:cNvPr id="15" name="Text 13"/>
          <p:cNvSpPr txBox="1"/>
          <p:nvPr/>
        </p:nvSpPr>
        <p:spPr>
          <a:xfrm>
            <a:off x="4983480" y="2395728"/>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1A2033"/>
                </a:solidFill>
                <a:latin typeface="Calibri" pitchFamily="34" charset="0"/>
                <a:ea typeface="Calibri" pitchFamily="34" charset="-122"/>
                <a:cs typeface="Calibri" pitchFamily="34" charset="-120"/>
              </a:rPr>
              <a:t>You type a prompt</a:t>
            </a:r>
            <a:endParaRPr lang="en-US" sz="1250" dirty="0"/>
          </a:p>
        </p:txBody>
      </p:sp>
      <p:sp>
        <p:nvSpPr>
          <p:cNvPr id="16" name="Text 14"/>
          <p:cNvSpPr txBox="1"/>
          <p:nvPr/>
        </p:nvSpPr>
        <p:spPr>
          <a:xfrm>
            <a:off x="4983480" y="2871216"/>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1A2033"/>
                </a:solidFill>
                <a:latin typeface="Calibri" pitchFamily="34" charset="0"/>
                <a:ea typeface="Calibri" pitchFamily="34" charset="-122"/>
                <a:cs typeface="Calibri" pitchFamily="34" charset="-120"/>
              </a:rPr>
              <a:t>The trained model predicts a response</a:t>
            </a:r>
            <a:endParaRPr lang="en-US" sz="1250" dirty="0"/>
          </a:p>
        </p:txBody>
      </p:sp>
      <p:sp>
        <p:nvSpPr>
          <p:cNvPr id="17" name="Text 15"/>
          <p:cNvSpPr txBox="1"/>
          <p:nvPr/>
        </p:nvSpPr>
        <p:spPr>
          <a:xfrm>
            <a:off x="4983480" y="3346704"/>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1A2033"/>
                </a:solidFill>
                <a:latin typeface="Calibri" pitchFamily="34" charset="0"/>
                <a:ea typeface="Calibri" pitchFamily="34" charset="-122"/>
                <a:cs typeface="Calibri" pitchFamily="34" charset="-120"/>
              </a:rPr>
              <a:t>Happens in seconds on existing knowledge</a:t>
            </a:r>
            <a:endParaRPr lang="en-US" sz="1250" dirty="0"/>
          </a:p>
        </p:txBody>
      </p:sp>
      <p:sp>
        <p:nvSpPr>
          <p:cNvPr id="18" name="Text 16"/>
          <p:cNvSpPr txBox="1"/>
          <p:nvPr/>
        </p:nvSpPr>
        <p:spPr>
          <a:xfrm>
            <a:off x="4983480" y="3822192"/>
            <a:ext cx="3429000" cy="438912"/>
          </a:xfrm>
          <a:prstGeom prst="rect">
            <a:avLst/>
          </a:prstGeom>
          <a:noFill/>
          <a:ln/>
        </p:spPr>
        <p:txBody>
          <a:bodyPr wrap="square" lIns="0" tIns="0" rIns="0" bIns="0" rtlCol="0" anchor="t"/>
          <a:lstStyle/>
          <a:p>
            <a:pPr marL="342900" indent="-342900">
              <a:buSzPct val="100000"/>
              <a:buChar char="•"/>
            </a:pPr>
            <a:r>
              <a:rPr lang="en-US" sz="1250" dirty="0">
                <a:solidFill>
                  <a:srgbClr val="1A2033"/>
                </a:solidFill>
                <a:latin typeface="Calibri" pitchFamily="34" charset="0"/>
                <a:ea typeface="Calibri" pitchFamily="34" charset="-122"/>
                <a:cs typeface="Calibri" pitchFamily="34" charset="-120"/>
              </a:rPr>
              <a:t>The model does not learn from this chat</a:t>
            </a:r>
            <a:endParaRPr lang="en-US" sz="1250" dirty="0"/>
          </a:p>
        </p:txBody>
      </p:sp>
      <p:sp>
        <p:nvSpPr>
          <p:cNvPr id="19" name="Text 17"/>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20" name="Text 18"/>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510028"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510028"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3  |  HOW LLMS PROCESS TEXT</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Tokens &amp; the Context Window</a:t>
            </a:r>
            <a:endParaRPr lang="en-US" sz="2900" dirty="0"/>
          </a:p>
        </p:txBody>
      </p:sp>
      <p:sp>
        <p:nvSpPr>
          <p:cNvPr id="5" name="Text 3"/>
          <p:cNvSpPr txBox="1"/>
          <p:nvPr/>
        </p:nvSpPr>
        <p:spPr>
          <a:xfrm>
            <a:off x="457200" y="1417320"/>
            <a:ext cx="4572000" cy="228600"/>
          </a:xfrm>
          <a:prstGeom prst="rect">
            <a:avLst/>
          </a:prstGeom>
          <a:noFill/>
          <a:ln/>
        </p:spPr>
        <p:txBody>
          <a:bodyPr wrap="square" lIns="0" tIns="0" rIns="0" bIns="0" rtlCol="0" anchor="t"/>
          <a:lstStyle/>
          <a:p>
            <a:pPr marL="0" indent="0">
              <a:buNone/>
            </a:pPr>
            <a:r>
              <a:rPr lang="en-US" sz="1100" b="1" kern="0" spc="200" dirty="0">
                <a:solidFill>
                  <a:srgbClr val="8A5F0A"/>
                </a:solidFill>
                <a:latin typeface="Calibri" pitchFamily="34" charset="0"/>
                <a:ea typeface="Calibri" pitchFamily="34" charset="-122"/>
                <a:cs typeface="Calibri" pitchFamily="34" charset="-120"/>
              </a:rPr>
              <a:t>A TOKEN IS A CHUNK OF TEXT</a:t>
            </a:r>
            <a:endParaRPr lang="en-US" sz="1100" dirty="0"/>
          </a:p>
        </p:txBody>
      </p:sp>
      <p:sp>
        <p:nvSpPr>
          <p:cNvPr id="6" name="Shape 4"/>
          <p:cNvSpPr/>
          <p:nvPr/>
        </p:nvSpPr>
        <p:spPr>
          <a:xfrm>
            <a:off x="457200" y="1737360"/>
            <a:ext cx="740664" cy="402336"/>
          </a:xfrm>
          <a:prstGeom prst="roundRect">
            <a:avLst>
              <a:gd name="adj" fmla="val 18182"/>
            </a:avLst>
          </a:prstGeom>
          <a:solidFill>
            <a:srgbClr val="E9B44C"/>
          </a:solidFill>
          <a:ln w="6350">
            <a:solidFill>
              <a:srgbClr val="E9B44C"/>
            </a:solidFill>
            <a:prstDash val="solid"/>
          </a:ln>
        </p:spPr>
      </p:sp>
      <p:sp>
        <p:nvSpPr>
          <p:cNvPr id="7" name="Text 5"/>
          <p:cNvSpPr txBox="1"/>
          <p:nvPr/>
        </p:nvSpPr>
        <p:spPr>
          <a:xfrm>
            <a:off x="457200" y="1737360"/>
            <a:ext cx="740664"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Under</a:t>
            </a:r>
            <a:endParaRPr lang="en-US" sz="1250" dirty="0"/>
          </a:p>
        </p:txBody>
      </p:sp>
      <p:sp>
        <p:nvSpPr>
          <p:cNvPr id="8" name="Shape 6"/>
          <p:cNvSpPr/>
          <p:nvPr/>
        </p:nvSpPr>
        <p:spPr>
          <a:xfrm>
            <a:off x="1243584" y="1737360"/>
            <a:ext cx="740664" cy="402336"/>
          </a:xfrm>
          <a:prstGeom prst="roundRect">
            <a:avLst>
              <a:gd name="adj" fmla="val 18182"/>
            </a:avLst>
          </a:prstGeom>
          <a:solidFill>
            <a:srgbClr val="22B8A8"/>
          </a:solidFill>
          <a:ln w="6350">
            <a:solidFill>
              <a:srgbClr val="22B8A8"/>
            </a:solidFill>
            <a:prstDash val="solid"/>
          </a:ln>
        </p:spPr>
      </p:sp>
      <p:sp>
        <p:nvSpPr>
          <p:cNvPr id="9" name="Text 7"/>
          <p:cNvSpPr txBox="1"/>
          <p:nvPr/>
        </p:nvSpPr>
        <p:spPr>
          <a:xfrm>
            <a:off x="1243584" y="1737360"/>
            <a:ext cx="740664"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stand</a:t>
            </a:r>
            <a:endParaRPr lang="en-US" sz="1250" dirty="0"/>
          </a:p>
        </p:txBody>
      </p:sp>
      <p:sp>
        <p:nvSpPr>
          <p:cNvPr id="10" name="Shape 8"/>
          <p:cNvSpPr/>
          <p:nvPr/>
        </p:nvSpPr>
        <p:spPr>
          <a:xfrm>
            <a:off x="2029968" y="1737360"/>
            <a:ext cx="502920" cy="402336"/>
          </a:xfrm>
          <a:prstGeom prst="roundRect">
            <a:avLst>
              <a:gd name="adj" fmla="val 18182"/>
            </a:avLst>
          </a:prstGeom>
          <a:solidFill>
            <a:srgbClr val="6C63FF"/>
          </a:solidFill>
          <a:ln w="6350">
            <a:solidFill>
              <a:srgbClr val="6C63FF"/>
            </a:solidFill>
            <a:prstDash val="solid"/>
          </a:ln>
        </p:spPr>
      </p:sp>
      <p:sp>
        <p:nvSpPr>
          <p:cNvPr id="11" name="Text 9"/>
          <p:cNvSpPr txBox="1"/>
          <p:nvPr/>
        </p:nvSpPr>
        <p:spPr>
          <a:xfrm>
            <a:off x="2029968" y="1737360"/>
            <a:ext cx="5029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ing</a:t>
            </a:r>
            <a:endParaRPr lang="en-US" sz="1250" dirty="0"/>
          </a:p>
        </p:txBody>
      </p:sp>
      <p:sp>
        <p:nvSpPr>
          <p:cNvPr id="12" name="Shape 10"/>
          <p:cNvSpPr/>
          <p:nvPr/>
        </p:nvSpPr>
        <p:spPr>
          <a:xfrm>
            <a:off x="2578608" y="1737360"/>
            <a:ext cx="502920" cy="402336"/>
          </a:xfrm>
          <a:prstGeom prst="roundRect">
            <a:avLst>
              <a:gd name="adj" fmla="val 18182"/>
            </a:avLst>
          </a:prstGeom>
          <a:solidFill>
            <a:srgbClr val="F26B5B"/>
          </a:solidFill>
          <a:ln w="6350">
            <a:solidFill>
              <a:srgbClr val="F26B5B"/>
            </a:solidFill>
            <a:prstDash val="solid"/>
          </a:ln>
        </p:spPr>
      </p:sp>
      <p:sp>
        <p:nvSpPr>
          <p:cNvPr id="13" name="Text 11"/>
          <p:cNvSpPr txBox="1"/>
          <p:nvPr/>
        </p:nvSpPr>
        <p:spPr>
          <a:xfrm>
            <a:off x="2578608" y="1737360"/>
            <a:ext cx="5029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 AI</a:t>
            </a:r>
            <a:endParaRPr lang="en-US" sz="1250" dirty="0"/>
          </a:p>
        </p:txBody>
      </p:sp>
      <p:sp>
        <p:nvSpPr>
          <p:cNvPr id="14" name="Shape 12"/>
          <p:cNvSpPr/>
          <p:nvPr/>
        </p:nvSpPr>
        <p:spPr>
          <a:xfrm>
            <a:off x="3127248" y="1737360"/>
            <a:ext cx="978408" cy="402336"/>
          </a:xfrm>
          <a:prstGeom prst="roundRect">
            <a:avLst>
              <a:gd name="adj" fmla="val 18182"/>
            </a:avLst>
          </a:prstGeom>
          <a:solidFill>
            <a:srgbClr val="38A3F5"/>
          </a:solidFill>
          <a:ln w="6350">
            <a:solidFill>
              <a:srgbClr val="38A3F5"/>
            </a:solidFill>
            <a:prstDash val="solid"/>
          </a:ln>
        </p:spPr>
      </p:sp>
      <p:sp>
        <p:nvSpPr>
          <p:cNvPr id="15" name="Text 13"/>
          <p:cNvSpPr txBox="1"/>
          <p:nvPr/>
        </p:nvSpPr>
        <p:spPr>
          <a:xfrm>
            <a:off x="3127248" y="1737360"/>
            <a:ext cx="978408"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 prompt</a:t>
            </a:r>
            <a:endParaRPr lang="en-US" sz="1250" dirty="0"/>
          </a:p>
        </p:txBody>
      </p:sp>
      <p:sp>
        <p:nvSpPr>
          <p:cNvPr id="16" name="Shape 14"/>
          <p:cNvSpPr/>
          <p:nvPr/>
        </p:nvSpPr>
        <p:spPr>
          <a:xfrm>
            <a:off x="4151376" y="1737360"/>
            <a:ext cx="502920" cy="402336"/>
          </a:xfrm>
          <a:prstGeom prst="roundRect">
            <a:avLst>
              <a:gd name="adj" fmla="val 18182"/>
            </a:avLst>
          </a:prstGeom>
          <a:solidFill>
            <a:srgbClr val="1C2D5E"/>
          </a:solidFill>
          <a:ln w="6350">
            <a:solidFill>
              <a:srgbClr val="1C2D5E"/>
            </a:solidFill>
            <a:prstDash val="solid"/>
          </a:ln>
        </p:spPr>
      </p:sp>
      <p:sp>
        <p:nvSpPr>
          <p:cNvPr id="17" name="Text 15"/>
          <p:cNvSpPr txBox="1"/>
          <p:nvPr/>
        </p:nvSpPr>
        <p:spPr>
          <a:xfrm>
            <a:off x="4151376" y="1737360"/>
            <a:ext cx="50292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ing</a:t>
            </a:r>
            <a:endParaRPr lang="en-US" sz="1250" dirty="0"/>
          </a:p>
        </p:txBody>
      </p:sp>
      <p:sp>
        <p:nvSpPr>
          <p:cNvPr id="18" name="Text 16"/>
          <p:cNvSpPr txBox="1"/>
          <p:nvPr/>
        </p:nvSpPr>
        <p:spPr>
          <a:xfrm>
            <a:off x="457200" y="2249424"/>
            <a:ext cx="4206240" cy="320040"/>
          </a:xfrm>
          <a:prstGeom prst="rect">
            <a:avLst/>
          </a:prstGeom>
          <a:noFill/>
          <a:ln/>
        </p:spPr>
        <p:txBody>
          <a:bodyPr wrap="square" lIns="0" tIns="0" rIns="0" bIns="0" rtlCol="0" anchor="t"/>
          <a:lstStyle/>
          <a:p>
            <a:pPr marL="0" indent="0">
              <a:buNone/>
            </a:pPr>
            <a:r>
              <a:rPr lang="en-US" sz="1150" i="1" dirty="0">
                <a:solidFill>
                  <a:srgbClr val="5B6478"/>
                </a:solidFill>
                <a:latin typeface="Calibri" pitchFamily="34" charset="0"/>
                <a:ea typeface="Calibri" pitchFamily="34" charset="-122"/>
                <a:cs typeface="Calibri" pitchFamily="34" charset="-120"/>
              </a:rPr>
              <a:t>“Understanding AI prompting” breaks into 6 tokens</a:t>
            </a:r>
            <a:endParaRPr lang="en-US" sz="1150" dirty="0"/>
          </a:p>
        </p:txBody>
      </p:sp>
      <p:sp>
        <p:nvSpPr>
          <p:cNvPr id="19" name="Shape 17"/>
          <p:cNvSpPr/>
          <p:nvPr/>
        </p:nvSpPr>
        <p:spPr>
          <a:xfrm>
            <a:off x="457200" y="2880360"/>
            <a:ext cx="457200" cy="457200"/>
          </a:xfrm>
          <a:prstGeom prst="ellipse">
            <a:avLst/>
          </a:prstGeom>
          <a:solidFill>
            <a:srgbClr val="F26B5B"/>
          </a:solidFill>
          <a:ln w="6350">
            <a:solidFill>
              <a:srgbClr val="F26B5B"/>
            </a:solidFill>
            <a:prstDash val="solid"/>
          </a:ln>
        </p:spPr>
      </p:sp>
      <p:pic>
        <p:nvPicPr>
          <p:cNvPr id="20" name="Image 0" descr="preencoded.png"/>
          <p:cNvPicPr>
            <a:picLocks noChangeAspect="1"/>
          </p:cNvPicPr>
          <p:nvPr/>
        </p:nvPicPr>
        <p:blipFill>
          <a:blip r:embed="rId4"/>
          <a:stretch>
            <a:fillRect/>
          </a:stretch>
        </p:blipFill>
        <p:spPr>
          <a:xfrm>
            <a:off x="571500" y="2994660"/>
            <a:ext cx="228600" cy="228600"/>
          </a:xfrm>
          <a:prstGeom prst="rect">
            <a:avLst/>
          </a:prstGeom>
        </p:spPr>
      </p:pic>
      <p:sp>
        <p:nvSpPr>
          <p:cNvPr id="21" name="Text 18"/>
          <p:cNvSpPr txBox="1"/>
          <p:nvPr/>
        </p:nvSpPr>
        <p:spPr>
          <a:xfrm>
            <a:off x="1051560" y="2880360"/>
            <a:ext cx="292608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Context window</a:t>
            </a:r>
            <a:endParaRPr lang="en-US" sz="1400" dirty="0"/>
          </a:p>
        </p:txBody>
      </p:sp>
      <p:sp>
        <p:nvSpPr>
          <p:cNvPr id="22" name="Text 19"/>
          <p:cNvSpPr txBox="1"/>
          <p:nvPr/>
        </p:nvSpPr>
        <p:spPr>
          <a:xfrm>
            <a:off x="1051560" y="3191256"/>
            <a:ext cx="3108960" cy="59436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The amount of text the model can “see” at once: your prompt, the conversation so far, and its reply</a:t>
            </a:r>
            <a:endParaRPr lang="en-US" sz="1050" dirty="0"/>
          </a:p>
        </p:txBody>
      </p:sp>
      <p:sp>
        <p:nvSpPr>
          <p:cNvPr id="23" name="Shape 20"/>
          <p:cNvSpPr/>
          <p:nvPr/>
        </p:nvSpPr>
        <p:spPr>
          <a:xfrm>
            <a:off x="457200" y="3794760"/>
            <a:ext cx="457200" cy="457200"/>
          </a:xfrm>
          <a:prstGeom prst="ellipse">
            <a:avLst/>
          </a:prstGeom>
          <a:solidFill>
            <a:srgbClr val="6C63FF"/>
          </a:solidFill>
          <a:ln w="6350">
            <a:solidFill>
              <a:srgbClr val="6C63FF"/>
            </a:solidFill>
            <a:prstDash val="solid"/>
          </a:ln>
        </p:spPr>
      </p:sp>
      <p:pic>
        <p:nvPicPr>
          <p:cNvPr id="24" name="Image 1" descr="preencoded.png"/>
          <p:cNvPicPr>
            <a:picLocks noChangeAspect="1"/>
          </p:cNvPicPr>
          <p:nvPr/>
        </p:nvPicPr>
        <p:blipFill>
          <a:blip r:embed="rId5"/>
          <a:stretch>
            <a:fillRect/>
          </a:stretch>
        </p:blipFill>
        <p:spPr>
          <a:xfrm>
            <a:off x="571500" y="3909060"/>
            <a:ext cx="228600" cy="228600"/>
          </a:xfrm>
          <a:prstGeom prst="rect">
            <a:avLst/>
          </a:prstGeom>
        </p:spPr>
      </p:pic>
      <p:sp>
        <p:nvSpPr>
          <p:cNvPr id="25" name="Text 21"/>
          <p:cNvSpPr txBox="1"/>
          <p:nvPr/>
        </p:nvSpPr>
        <p:spPr>
          <a:xfrm>
            <a:off x="1051560" y="3794760"/>
            <a:ext cx="292608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Parameters</a:t>
            </a:r>
            <a:endParaRPr lang="en-US" sz="1400" dirty="0"/>
          </a:p>
        </p:txBody>
      </p:sp>
      <p:sp>
        <p:nvSpPr>
          <p:cNvPr id="26" name="Text 22"/>
          <p:cNvSpPr txBox="1"/>
          <p:nvPr/>
        </p:nvSpPr>
        <p:spPr>
          <a:xfrm>
            <a:off x="1051560" y="4105656"/>
            <a:ext cx="3108960" cy="59436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Internal values tuned during training; more parameters generally means more capability</a:t>
            </a:r>
            <a:endParaRPr lang="en-US" sz="1050" dirty="0"/>
          </a:p>
        </p:txBody>
      </p:sp>
      <p:sp>
        <p:nvSpPr>
          <p:cNvPr id="27" name="Shape 23"/>
          <p:cNvSpPr/>
          <p:nvPr/>
        </p:nvSpPr>
        <p:spPr>
          <a:xfrm>
            <a:off x="4846320" y="1417320"/>
            <a:ext cx="3840480" cy="3200400"/>
          </a:xfrm>
          <a:prstGeom prst="roundRect">
            <a:avLst>
              <a:gd name="adj" fmla="val 4000"/>
            </a:avLst>
          </a:prstGeom>
          <a:solidFill>
            <a:srgbClr val="0F1B3D"/>
          </a:solidFill>
          <a:ln w="9525">
            <a:solidFill>
              <a:srgbClr val="0F1B3D"/>
            </a:solidFill>
            <a:prstDash val="solid"/>
          </a:ln>
        </p:spPr>
      </p:sp>
      <p:sp>
        <p:nvSpPr>
          <p:cNvPr id="28" name="Text 24"/>
          <p:cNvSpPr txBox="1"/>
          <p:nvPr/>
        </p:nvSpPr>
        <p:spPr>
          <a:xfrm>
            <a:off x="5074920" y="1627632"/>
            <a:ext cx="3474720" cy="228600"/>
          </a:xfrm>
          <a:prstGeom prst="rect">
            <a:avLst/>
          </a:prstGeom>
          <a:noFill/>
          <a:ln/>
        </p:spPr>
        <p:txBody>
          <a:bodyPr wrap="square" lIns="0" tIns="0" rIns="0" bIns="0" rtlCol="0" anchor="t"/>
          <a:lstStyle/>
          <a:p>
            <a:pPr marL="0" indent="0">
              <a:buNone/>
            </a:pPr>
            <a:r>
              <a:rPr lang="en-US" sz="1050" b="1" kern="0" spc="200" dirty="0">
                <a:solidFill>
                  <a:srgbClr val="E9B44C"/>
                </a:solidFill>
                <a:latin typeface="Calibri" pitchFamily="34" charset="0"/>
                <a:ea typeface="Calibri" pitchFamily="34" charset="-122"/>
                <a:cs typeface="Calibri" pitchFamily="34" charset="-120"/>
              </a:rPr>
              <a:t>NEXT-TOKEN PREDICTION</a:t>
            </a:r>
            <a:endParaRPr lang="en-US" sz="1050" dirty="0"/>
          </a:p>
        </p:txBody>
      </p:sp>
      <p:sp>
        <p:nvSpPr>
          <p:cNvPr id="29" name="Text 25"/>
          <p:cNvSpPr txBox="1"/>
          <p:nvPr/>
        </p:nvSpPr>
        <p:spPr>
          <a:xfrm>
            <a:off x="5074920" y="1920240"/>
            <a:ext cx="3337560" cy="10058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model generates a reply one token at a time, each time predicting the single most likely next token given everything written so far.</a:t>
            </a:r>
            <a:endParaRPr lang="en-US" sz="1400" dirty="0"/>
          </a:p>
        </p:txBody>
      </p:sp>
      <p:sp>
        <p:nvSpPr>
          <p:cNvPr id="30" name="Shape 26"/>
          <p:cNvSpPr/>
          <p:nvPr/>
        </p:nvSpPr>
        <p:spPr>
          <a:xfrm>
            <a:off x="5074920" y="3063240"/>
            <a:ext cx="3337560" cy="0"/>
          </a:xfrm>
          <a:prstGeom prst="line">
            <a:avLst/>
          </a:prstGeom>
          <a:noFill/>
          <a:ln w="12700">
            <a:solidFill>
              <a:srgbClr val="3A4E96"/>
            </a:solidFill>
            <a:prstDash val="solid"/>
          </a:ln>
        </p:spPr>
      </p:sp>
      <p:sp>
        <p:nvSpPr>
          <p:cNvPr id="31" name="Text 27"/>
          <p:cNvSpPr txBox="1"/>
          <p:nvPr/>
        </p:nvSpPr>
        <p:spPr>
          <a:xfrm>
            <a:off x="5074920" y="3246120"/>
            <a:ext cx="3337560" cy="1234440"/>
          </a:xfrm>
          <a:prstGeom prst="rect">
            <a:avLst/>
          </a:prstGeom>
          <a:noFill/>
          <a:ln/>
        </p:spPr>
        <p:txBody>
          <a:bodyPr wrap="square" lIns="0" tIns="0" rIns="0" bIns="0" rtlCol="0" anchor="t"/>
          <a:lstStyle/>
          <a:p>
            <a:pPr marL="0" indent="0">
              <a:buNone/>
            </a:pPr>
            <a:r>
              <a:rPr lang="en-US" sz="1250" dirty="0">
                <a:solidFill>
                  <a:srgbClr val="C9D3EE"/>
                </a:solidFill>
                <a:latin typeface="Calibri" pitchFamily="34" charset="0"/>
                <a:ea typeface="Calibri" pitchFamily="34" charset="-122"/>
                <a:cs typeface="Calibri" pitchFamily="34" charset="-120"/>
              </a:rPr>
              <a:t>Once a chat gets too long, the earliest messages fall out of the context window - the model simply can't “see” them anymore.</a:t>
            </a:r>
            <a:endParaRPr lang="en-US" sz="1250" dirty="0"/>
          </a:p>
        </p:txBody>
      </p:sp>
      <p:sp>
        <p:nvSpPr>
          <p:cNvPr id="32" name="Text 28"/>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33" name="Text 29"/>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743200"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743200"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4  |  UNDERSTANDING AI PROMPTS</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Anatomy of a Good Prompt</a:t>
            </a:r>
            <a:endParaRPr lang="en-US" sz="2900" dirty="0"/>
          </a:p>
        </p:txBody>
      </p:sp>
      <p:sp>
        <p:nvSpPr>
          <p:cNvPr id="5" name="Shape 3"/>
          <p:cNvSpPr/>
          <p:nvPr/>
        </p:nvSpPr>
        <p:spPr>
          <a:xfrm>
            <a:off x="457200" y="141732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621792" y="1563624"/>
            <a:ext cx="420624" cy="420624"/>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726948" y="1668780"/>
            <a:ext cx="210312" cy="210312"/>
          </a:xfrm>
          <a:prstGeom prst="rect">
            <a:avLst/>
          </a:prstGeom>
        </p:spPr>
      </p:pic>
      <p:sp>
        <p:nvSpPr>
          <p:cNvPr id="8" name="Text 5"/>
          <p:cNvSpPr txBox="1"/>
          <p:nvPr/>
        </p:nvSpPr>
        <p:spPr>
          <a:xfrm>
            <a:off x="1133856" y="159105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Task</a:t>
            </a:r>
            <a:endParaRPr lang="en-US" sz="1400" dirty="0"/>
          </a:p>
        </p:txBody>
      </p:sp>
      <p:sp>
        <p:nvSpPr>
          <p:cNvPr id="9" name="Text 6"/>
          <p:cNvSpPr txBox="1"/>
          <p:nvPr/>
        </p:nvSpPr>
        <p:spPr>
          <a:xfrm>
            <a:off x="621792" y="202082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What exactly do you want done?</a:t>
            </a:r>
            <a:endParaRPr lang="en-US" sz="1050" dirty="0"/>
          </a:p>
        </p:txBody>
      </p:sp>
      <p:sp>
        <p:nvSpPr>
          <p:cNvPr id="10" name="Text 7"/>
          <p:cNvSpPr txBox="1"/>
          <p:nvPr/>
        </p:nvSpPr>
        <p:spPr>
          <a:xfrm>
            <a:off x="621792" y="235915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“Summarize this research paper”</a:t>
            </a:r>
            <a:endParaRPr lang="en-US" sz="1000" dirty="0"/>
          </a:p>
        </p:txBody>
      </p:sp>
      <p:sp>
        <p:nvSpPr>
          <p:cNvPr id="11" name="Shape 8"/>
          <p:cNvSpPr/>
          <p:nvPr/>
        </p:nvSpPr>
        <p:spPr>
          <a:xfrm>
            <a:off x="3278124" y="141732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2" name="Shape 9"/>
          <p:cNvSpPr/>
          <p:nvPr/>
        </p:nvSpPr>
        <p:spPr>
          <a:xfrm>
            <a:off x="3442716" y="1563624"/>
            <a:ext cx="420624" cy="420624"/>
          </a:xfrm>
          <a:prstGeom prst="ellipse">
            <a:avLst/>
          </a:prstGeom>
          <a:solidFill>
            <a:srgbClr val="22B8A8"/>
          </a:solidFill>
          <a:ln w="6350">
            <a:solidFill>
              <a:srgbClr val="22B8A8"/>
            </a:solidFill>
            <a:prstDash val="solid"/>
          </a:ln>
        </p:spPr>
      </p:sp>
      <p:pic>
        <p:nvPicPr>
          <p:cNvPr id="13" name="Image 1" descr="preencoded.png"/>
          <p:cNvPicPr>
            <a:picLocks noChangeAspect="1"/>
          </p:cNvPicPr>
          <p:nvPr/>
        </p:nvPicPr>
        <p:blipFill>
          <a:blip r:embed="rId5"/>
          <a:stretch>
            <a:fillRect/>
          </a:stretch>
        </p:blipFill>
        <p:spPr>
          <a:xfrm>
            <a:off x="3547872" y="1668780"/>
            <a:ext cx="210312" cy="210312"/>
          </a:xfrm>
          <a:prstGeom prst="rect">
            <a:avLst/>
          </a:prstGeom>
        </p:spPr>
      </p:pic>
      <p:sp>
        <p:nvSpPr>
          <p:cNvPr id="14" name="Text 10"/>
          <p:cNvSpPr txBox="1"/>
          <p:nvPr/>
        </p:nvSpPr>
        <p:spPr>
          <a:xfrm>
            <a:off x="3954780" y="159105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Context</a:t>
            </a:r>
            <a:endParaRPr lang="en-US" sz="1400" dirty="0"/>
          </a:p>
        </p:txBody>
      </p:sp>
      <p:sp>
        <p:nvSpPr>
          <p:cNvPr id="15" name="Text 11"/>
          <p:cNvSpPr txBox="1"/>
          <p:nvPr/>
        </p:nvSpPr>
        <p:spPr>
          <a:xfrm>
            <a:off x="3442716" y="202082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Background the model needs</a:t>
            </a:r>
            <a:endParaRPr lang="en-US" sz="1050" dirty="0"/>
          </a:p>
        </p:txBody>
      </p:sp>
      <p:sp>
        <p:nvSpPr>
          <p:cNvPr id="16" name="Text 12"/>
          <p:cNvSpPr txBox="1"/>
          <p:nvPr/>
        </p:nvSpPr>
        <p:spPr>
          <a:xfrm>
            <a:off x="3442716" y="235915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“It's for a first-year engineering audience”</a:t>
            </a:r>
            <a:endParaRPr lang="en-US" sz="1000" dirty="0"/>
          </a:p>
        </p:txBody>
      </p:sp>
      <p:sp>
        <p:nvSpPr>
          <p:cNvPr id="17" name="Shape 13"/>
          <p:cNvSpPr/>
          <p:nvPr/>
        </p:nvSpPr>
        <p:spPr>
          <a:xfrm>
            <a:off x="6099048" y="141732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8" name="Shape 14"/>
          <p:cNvSpPr/>
          <p:nvPr/>
        </p:nvSpPr>
        <p:spPr>
          <a:xfrm>
            <a:off x="6263640" y="1563624"/>
            <a:ext cx="420624" cy="420624"/>
          </a:xfrm>
          <a:prstGeom prst="ellipse">
            <a:avLst/>
          </a:prstGeom>
          <a:solidFill>
            <a:srgbClr val="F26B5B"/>
          </a:solidFill>
          <a:ln w="6350">
            <a:solidFill>
              <a:srgbClr val="F26B5B"/>
            </a:solidFill>
            <a:prstDash val="solid"/>
          </a:ln>
        </p:spPr>
      </p:sp>
      <p:pic>
        <p:nvPicPr>
          <p:cNvPr id="19" name="Image 2" descr="preencoded.png"/>
          <p:cNvPicPr>
            <a:picLocks noChangeAspect="1"/>
          </p:cNvPicPr>
          <p:nvPr/>
        </p:nvPicPr>
        <p:blipFill>
          <a:blip r:embed="rId6"/>
          <a:stretch>
            <a:fillRect/>
          </a:stretch>
        </p:blipFill>
        <p:spPr>
          <a:xfrm>
            <a:off x="6368796" y="1668780"/>
            <a:ext cx="210312" cy="210312"/>
          </a:xfrm>
          <a:prstGeom prst="rect">
            <a:avLst/>
          </a:prstGeom>
        </p:spPr>
      </p:pic>
      <p:sp>
        <p:nvSpPr>
          <p:cNvPr id="20" name="Text 15"/>
          <p:cNvSpPr txBox="1"/>
          <p:nvPr/>
        </p:nvSpPr>
        <p:spPr>
          <a:xfrm>
            <a:off x="6775704" y="159105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Role</a:t>
            </a:r>
            <a:endParaRPr lang="en-US" sz="1400" dirty="0"/>
          </a:p>
        </p:txBody>
      </p:sp>
      <p:sp>
        <p:nvSpPr>
          <p:cNvPr id="21" name="Text 16"/>
          <p:cNvSpPr txBox="1"/>
          <p:nvPr/>
        </p:nvSpPr>
        <p:spPr>
          <a:xfrm>
            <a:off x="6263640" y="202082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Who should the AI act as?</a:t>
            </a:r>
            <a:endParaRPr lang="en-US" sz="1050" dirty="0"/>
          </a:p>
        </p:txBody>
      </p:sp>
      <p:sp>
        <p:nvSpPr>
          <p:cNvPr id="22" name="Text 17"/>
          <p:cNvSpPr txBox="1"/>
          <p:nvPr/>
        </p:nvSpPr>
        <p:spPr>
          <a:xfrm>
            <a:off x="6263640" y="235915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“Act as a patient writing tutor”</a:t>
            </a:r>
            <a:endParaRPr lang="en-US" sz="1000" dirty="0"/>
          </a:p>
        </p:txBody>
      </p:sp>
      <p:sp>
        <p:nvSpPr>
          <p:cNvPr id="23" name="Shape 18"/>
          <p:cNvSpPr/>
          <p:nvPr/>
        </p:nvSpPr>
        <p:spPr>
          <a:xfrm>
            <a:off x="457200" y="297180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4" name="Shape 19"/>
          <p:cNvSpPr/>
          <p:nvPr/>
        </p:nvSpPr>
        <p:spPr>
          <a:xfrm>
            <a:off x="621792" y="3118104"/>
            <a:ext cx="420624" cy="420624"/>
          </a:xfrm>
          <a:prstGeom prst="ellipse">
            <a:avLst/>
          </a:prstGeom>
          <a:solidFill>
            <a:srgbClr val="6C63FF"/>
          </a:solidFill>
          <a:ln w="6350">
            <a:solidFill>
              <a:srgbClr val="6C63FF"/>
            </a:solidFill>
            <a:prstDash val="solid"/>
          </a:ln>
        </p:spPr>
      </p:sp>
      <p:pic>
        <p:nvPicPr>
          <p:cNvPr id="25" name="Image 3" descr="preencoded.png"/>
          <p:cNvPicPr>
            <a:picLocks noChangeAspect="1"/>
          </p:cNvPicPr>
          <p:nvPr/>
        </p:nvPicPr>
        <p:blipFill>
          <a:blip r:embed="rId7"/>
          <a:stretch>
            <a:fillRect/>
          </a:stretch>
        </p:blipFill>
        <p:spPr>
          <a:xfrm>
            <a:off x="726948" y="3223260"/>
            <a:ext cx="210312" cy="210312"/>
          </a:xfrm>
          <a:prstGeom prst="rect">
            <a:avLst/>
          </a:prstGeom>
        </p:spPr>
      </p:pic>
      <p:sp>
        <p:nvSpPr>
          <p:cNvPr id="26" name="Text 20"/>
          <p:cNvSpPr txBox="1"/>
          <p:nvPr/>
        </p:nvSpPr>
        <p:spPr>
          <a:xfrm>
            <a:off x="1133856" y="314553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Constraints</a:t>
            </a:r>
            <a:endParaRPr lang="en-US" sz="1400" dirty="0"/>
          </a:p>
        </p:txBody>
      </p:sp>
      <p:sp>
        <p:nvSpPr>
          <p:cNvPr id="27" name="Text 21"/>
          <p:cNvSpPr txBox="1"/>
          <p:nvPr/>
        </p:nvSpPr>
        <p:spPr>
          <a:xfrm>
            <a:off x="621792" y="357530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Limits on length, tone, scope</a:t>
            </a:r>
            <a:endParaRPr lang="en-US" sz="1050" dirty="0"/>
          </a:p>
        </p:txBody>
      </p:sp>
      <p:sp>
        <p:nvSpPr>
          <p:cNvPr id="28" name="Text 22"/>
          <p:cNvSpPr txBox="1"/>
          <p:nvPr/>
        </p:nvSpPr>
        <p:spPr>
          <a:xfrm>
            <a:off x="621792" y="391363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“Keep it under 150 words, no jargon”</a:t>
            </a:r>
            <a:endParaRPr lang="en-US" sz="1000" dirty="0"/>
          </a:p>
        </p:txBody>
      </p:sp>
      <p:sp>
        <p:nvSpPr>
          <p:cNvPr id="29" name="Shape 23"/>
          <p:cNvSpPr/>
          <p:nvPr/>
        </p:nvSpPr>
        <p:spPr>
          <a:xfrm>
            <a:off x="3278124" y="297180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30" name="Shape 24"/>
          <p:cNvSpPr/>
          <p:nvPr/>
        </p:nvSpPr>
        <p:spPr>
          <a:xfrm>
            <a:off x="3442716" y="3118104"/>
            <a:ext cx="420624" cy="420624"/>
          </a:xfrm>
          <a:prstGeom prst="ellipse">
            <a:avLst/>
          </a:prstGeom>
          <a:solidFill>
            <a:srgbClr val="38A3F5"/>
          </a:solidFill>
          <a:ln w="6350">
            <a:solidFill>
              <a:srgbClr val="38A3F5"/>
            </a:solidFill>
            <a:prstDash val="solid"/>
          </a:ln>
        </p:spPr>
      </p:sp>
      <p:pic>
        <p:nvPicPr>
          <p:cNvPr id="31" name="Image 4" descr="preencoded.png"/>
          <p:cNvPicPr>
            <a:picLocks noChangeAspect="1"/>
          </p:cNvPicPr>
          <p:nvPr/>
        </p:nvPicPr>
        <p:blipFill>
          <a:blip r:embed="rId8"/>
          <a:stretch>
            <a:fillRect/>
          </a:stretch>
        </p:blipFill>
        <p:spPr>
          <a:xfrm>
            <a:off x="3547872" y="3223260"/>
            <a:ext cx="210312" cy="210312"/>
          </a:xfrm>
          <a:prstGeom prst="rect">
            <a:avLst/>
          </a:prstGeom>
        </p:spPr>
      </p:pic>
      <p:sp>
        <p:nvSpPr>
          <p:cNvPr id="32" name="Text 25"/>
          <p:cNvSpPr txBox="1"/>
          <p:nvPr/>
        </p:nvSpPr>
        <p:spPr>
          <a:xfrm>
            <a:off x="3954780" y="314553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Output format</a:t>
            </a:r>
            <a:endParaRPr lang="en-US" sz="1400" dirty="0"/>
          </a:p>
        </p:txBody>
      </p:sp>
      <p:sp>
        <p:nvSpPr>
          <p:cNvPr id="33" name="Text 26"/>
          <p:cNvSpPr txBox="1"/>
          <p:nvPr/>
        </p:nvSpPr>
        <p:spPr>
          <a:xfrm>
            <a:off x="3442716" y="357530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How should the answer look?</a:t>
            </a:r>
            <a:endParaRPr lang="en-US" sz="1050" dirty="0"/>
          </a:p>
        </p:txBody>
      </p:sp>
      <p:sp>
        <p:nvSpPr>
          <p:cNvPr id="34" name="Text 27"/>
          <p:cNvSpPr txBox="1"/>
          <p:nvPr/>
        </p:nvSpPr>
        <p:spPr>
          <a:xfrm>
            <a:off x="3442716" y="391363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“Return 5 bullet points”</a:t>
            </a:r>
            <a:endParaRPr lang="en-US" sz="1000" dirty="0"/>
          </a:p>
        </p:txBody>
      </p:sp>
      <p:sp>
        <p:nvSpPr>
          <p:cNvPr id="35" name="Shape 28"/>
          <p:cNvSpPr/>
          <p:nvPr/>
        </p:nvSpPr>
        <p:spPr>
          <a:xfrm>
            <a:off x="6099048" y="2971800"/>
            <a:ext cx="2587752" cy="1417320"/>
          </a:xfrm>
          <a:prstGeom prst="roundRect">
            <a:avLst>
              <a:gd name="adj" fmla="val 7742"/>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36" name="Shape 29"/>
          <p:cNvSpPr/>
          <p:nvPr/>
        </p:nvSpPr>
        <p:spPr>
          <a:xfrm>
            <a:off x="6263640" y="3118104"/>
            <a:ext cx="420624" cy="420624"/>
          </a:xfrm>
          <a:prstGeom prst="ellipse">
            <a:avLst/>
          </a:prstGeom>
          <a:solidFill>
            <a:srgbClr val="E9B44C"/>
          </a:solidFill>
          <a:ln w="6350">
            <a:solidFill>
              <a:srgbClr val="E9B44C"/>
            </a:solidFill>
            <a:prstDash val="solid"/>
          </a:ln>
        </p:spPr>
      </p:sp>
      <p:pic>
        <p:nvPicPr>
          <p:cNvPr id="37" name="Image 5" descr="preencoded.png"/>
          <p:cNvPicPr>
            <a:picLocks noChangeAspect="1"/>
          </p:cNvPicPr>
          <p:nvPr/>
        </p:nvPicPr>
        <p:blipFill>
          <a:blip r:embed="rId9"/>
          <a:stretch>
            <a:fillRect/>
          </a:stretch>
        </p:blipFill>
        <p:spPr>
          <a:xfrm>
            <a:off x="6368796" y="3223260"/>
            <a:ext cx="210312" cy="210312"/>
          </a:xfrm>
          <a:prstGeom prst="rect">
            <a:avLst/>
          </a:prstGeom>
        </p:spPr>
      </p:pic>
      <p:sp>
        <p:nvSpPr>
          <p:cNvPr id="38" name="Text 30"/>
          <p:cNvSpPr txBox="1"/>
          <p:nvPr/>
        </p:nvSpPr>
        <p:spPr>
          <a:xfrm>
            <a:off x="6775704" y="3145536"/>
            <a:ext cx="1828800" cy="274320"/>
          </a:xfrm>
          <a:prstGeom prst="rect">
            <a:avLst/>
          </a:prstGeom>
          <a:noFill/>
          <a:ln/>
        </p:spPr>
        <p:txBody>
          <a:bodyPr wrap="square" lIns="0" tIns="0" rIns="0" bIns="0" rtlCol="0" anchor="t"/>
          <a:lstStyle/>
          <a:p>
            <a:pPr marL="0" indent="0">
              <a:buNone/>
            </a:pPr>
            <a:r>
              <a:rPr lang="en-US" sz="1400" b="1" dirty="0">
                <a:solidFill>
                  <a:srgbClr val="0F1B3D"/>
                </a:solidFill>
                <a:latin typeface="Calibri" pitchFamily="34" charset="0"/>
                <a:ea typeface="Calibri" pitchFamily="34" charset="-122"/>
                <a:cs typeface="Calibri" pitchFamily="34" charset="-120"/>
              </a:rPr>
              <a:t>Iteration</a:t>
            </a:r>
            <a:endParaRPr lang="en-US" sz="1400" dirty="0"/>
          </a:p>
        </p:txBody>
      </p:sp>
      <p:sp>
        <p:nvSpPr>
          <p:cNvPr id="39" name="Text 31"/>
          <p:cNvSpPr txBox="1"/>
          <p:nvPr/>
        </p:nvSpPr>
        <p:spPr>
          <a:xfrm>
            <a:off x="6263640" y="3575304"/>
            <a:ext cx="2286000" cy="320040"/>
          </a:xfrm>
          <a:prstGeom prst="rect">
            <a:avLst/>
          </a:prstGeom>
          <a:noFill/>
          <a:ln/>
        </p:spPr>
        <p:txBody>
          <a:bodyPr wrap="square" lIns="0" tIns="0" rIns="0" bIns="0" rtlCol="0" anchor="t"/>
          <a:lstStyle/>
          <a:p>
            <a:pPr marL="0" indent="0">
              <a:buNone/>
            </a:pPr>
            <a:r>
              <a:rPr lang="en-US" sz="1050" dirty="0">
                <a:solidFill>
                  <a:srgbClr val="5B6478"/>
                </a:solidFill>
                <a:latin typeface="Calibri" pitchFamily="34" charset="0"/>
                <a:ea typeface="Calibri" pitchFamily="34" charset="-122"/>
                <a:cs typeface="Calibri" pitchFamily="34" charset="-120"/>
              </a:rPr>
              <a:t>Refine based on the result</a:t>
            </a:r>
            <a:endParaRPr lang="en-US" sz="1050" dirty="0"/>
          </a:p>
        </p:txBody>
      </p:sp>
      <p:sp>
        <p:nvSpPr>
          <p:cNvPr id="40" name="Text 32"/>
          <p:cNvSpPr txBox="1"/>
          <p:nvPr/>
        </p:nvSpPr>
        <p:spPr>
          <a:xfrm>
            <a:off x="6263640" y="3913632"/>
            <a:ext cx="2286000" cy="411480"/>
          </a:xfrm>
          <a:prstGeom prst="rect">
            <a:avLst/>
          </a:prstGeom>
          <a:noFill/>
          <a:ln/>
        </p:spPr>
        <p:txBody>
          <a:bodyPr wrap="square" lIns="0" tIns="0" rIns="0" bIns="0" rtlCol="0" anchor="t"/>
          <a:lstStyle/>
          <a:p>
            <a:pPr marL="0" indent="0">
              <a:buNone/>
            </a:pPr>
            <a:r>
              <a:rPr lang="en-US" sz="1000" i="1" dirty="0">
                <a:solidFill>
                  <a:srgbClr val="0B7A70"/>
                </a:solidFill>
                <a:latin typeface="Calibri" pitchFamily="34" charset="0"/>
                <a:ea typeface="Calibri" pitchFamily="34" charset="-122"/>
                <a:cs typeface="Calibri" pitchFamily="34" charset="-120"/>
              </a:rPr>
              <a:t>“Make the third point more specific”</a:t>
            </a:r>
            <a:endParaRPr lang="en-US" sz="1000" dirty="0"/>
          </a:p>
        </p:txBody>
      </p:sp>
      <p:sp>
        <p:nvSpPr>
          <p:cNvPr id="41" name="Text 33"/>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42" name="Text 34"/>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354580"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354580"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5  |  PRACTICAL PROMPTING</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Basic vs. Detailed Prompts</a:t>
            </a:r>
            <a:endParaRPr lang="en-US" sz="2900" dirty="0"/>
          </a:p>
        </p:txBody>
      </p:sp>
      <p:sp>
        <p:nvSpPr>
          <p:cNvPr id="5" name="Shape 3"/>
          <p:cNvSpPr/>
          <p:nvPr/>
        </p:nvSpPr>
        <p:spPr>
          <a:xfrm>
            <a:off x="457200" y="1417320"/>
            <a:ext cx="3931920" cy="3108960"/>
          </a:xfrm>
          <a:prstGeom prst="roundRect">
            <a:avLst>
              <a:gd name="adj" fmla="val 3529"/>
            </a:avLst>
          </a:prstGeom>
          <a:solidFill>
            <a:srgbClr val="FDECEC"/>
          </a:solidFill>
          <a:ln w="9525">
            <a:solidFill>
              <a:srgbClr val="FDECEC"/>
            </a:solidFill>
            <a:prstDash val="solid"/>
          </a:ln>
        </p:spPr>
      </p:sp>
      <p:sp>
        <p:nvSpPr>
          <p:cNvPr id="6" name="Shape 4"/>
          <p:cNvSpPr/>
          <p:nvPr/>
        </p:nvSpPr>
        <p:spPr>
          <a:xfrm>
            <a:off x="685800" y="1600200"/>
            <a:ext cx="384048" cy="384048"/>
          </a:xfrm>
          <a:prstGeom prst="ellipse">
            <a:avLst/>
          </a:prstGeom>
          <a:solidFill>
            <a:srgbClr val="D64545"/>
          </a:solidFill>
          <a:ln w="6350">
            <a:solidFill>
              <a:srgbClr val="D64545"/>
            </a:solidFill>
            <a:prstDash val="solid"/>
          </a:ln>
        </p:spPr>
      </p:sp>
      <p:pic>
        <p:nvPicPr>
          <p:cNvPr id="7" name="Image 0" descr="preencoded.png"/>
          <p:cNvPicPr>
            <a:picLocks noChangeAspect="1"/>
          </p:cNvPicPr>
          <p:nvPr/>
        </p:nvPicPr>
        <p:blipFill>
          <a:blip r:embed="rId4"/>
          <a:stretch>
            <a:fillRect/>
          </a:stretch>
        </p:blipFill>
        <p:spPr>
          <a:xfrm>
            <a:off x="781812" y="1696212"/>
            <a:ext cx="192024" cy="192024"/>
          </a:xfrm>
          <a:prstGeom prst="rect">
            <a:avLst/>
          </a:prstGeom>
        </p:spPr>
      </p:pic>
      <p:sp>
        <p:nvSpPr>
          <p:cNvPr id="8" name="Text 5"/>
          <p:cNvSpPr txBox="1"/>
          <p:nvPr/>
        </p:nvSpPr>
        <p:spPr>
          <a:xfrm>
            <a:off x="1188720" y="1600200"/>
            <a:ext cx="2743200" cy="384048"/>
          </a:xfrm>
          <a:prstGeom prst="rect">
            <a:avLst/>
          </a:prstGeom>
          <a:noFill/>
          <a:ln/>
        </p:spPr>
        <p:txBody>
          <a:bodyPr wrap="square" lIns="0" tIns="0" rIns="0" bIns="0" rtlCol="0" anchor="ctr"/>
          <a:lstStyle/>
          <a:p>
            <a:pPr marL="0" indent="0">
              <a:buNone/>
            </a:pPr>
            <a:r>
              <a:rPr lang="en-US" sz="1150" b="1" kern="0" spc="150" dirty="0">
                <a:solidFill>
                  <a:srgbClr val="B03030"/>
                </a:solidFill>
                <a:latin typeface="Calibri" pitchFamily="34" charset="0"/>
                <a:ea typeface="Calibri" pitchFamily="34" charset="-122"/>
                <a:cs typeface="Calibri" pitchFamily="34" charset="-120"/>
              </a:rPr>
              <a:t>BASIC PROMPT</a:t>
            </a:r>
            <a:endParaRPr lang="en-US" sz="1150" dirty="0"/>
          </a:p>
        </p:txBody>
      </p:sp>
      <p:sp>
        <p:nvSpPr>
          <p:cNvPr id="9" name="Text 6"/>
          <p:cNvSpPr txBox="1"/>
          <p:nvPr/>
        </p:nvSpPr>
        <p:spPr>
          <a:xfrm>
            <a:off x="685800" y="2148840"/>
            <a:ext cx="3474720" cy="548640"/>
          </a:xfrm>
          <a:prstGeom prst="rect">
            <a:avLst/>
          </a:prstGeom>
          <a:noFill/>
          <a:ln/>
        </p:spPr>
        <p:txBody>
          <a:bodyPr wrap="square" lIns="0" tIns="0" rIns="0" bIns="0" rtlCol="0" anchor="t"/>
          <a:lstStyle/>
          <a:p>
            <a:pPr marL="0" indent="0">
              <a:buNone/>
            </a:pPr>
            <a:r>
              <a:rPr lang="en-US" sz="1700" b="1" dirty="0">
                <a:solidFill>
                  <a:srgbClr val="1A2033"/>
                </a:solidFill>
                <a:latin typeface="Calibri" pitchFamily="34" charset="0"/>
                <a:ea typeface="Calibri" pitchFamily="34" charset="-122"/>
                <a:cs typeface="Calibri" pitchFamily="34" charset="-120"/>
              </a:rPr>
              <a:t>“Explain machine learning”</a:t>
            </a:r>
            <a:endParaRPr lang="en-US" sz="1700" dirty="0"/>
          </a:p>
        </p:txBody>
      </p:sp>
      <p:sp>
        <p:nvSpPr>
          <p:cNvPr id="10" name="Text 7"/>
          <p:cNvSpPr txBox="1"/>
          <p:nvPr/>
        </p:nvSpPr>
        <p:spPr>
          <a:xfrm>
            <a:off x="685800" y="2788920"/>
            <a:ext cx="3474720" cy="1463040"/>
          </a:xfrm>
          <a:prstGeom prst="rect">
            <a:avLst/>
          </a:prstGeom>
          <a:noFill/>
          <a:ln/>
        </p:spPr>
        <p:txBody>
          <a:bodyPr wrap="square" lIns="0" tIns="0" rIns="0" bIns="0" rtlCol="0" anchor="t"/>
          <a:lstStyle/>
          <a:p>
            <a:pPr marL="0" indent="0">
              <a:buNone/>
            </a:pPr>
            <a:r>
              <a:rPr lang="en-US" sz="1250" dirty="0">
                <a:solidFill>
                  <a:srgbClr val="6B4040"/>
                </a:solidFill>
                <a:latin typeface="Calibri" pitchFamily="34" charset="0"/>
                <a:ea typeface="Calibri" pitchFamily="34" charset="-122"/>
                <a:cs typeface="Calibri" pitchFamily="34" charset="-120"/>
              </a:rPr>
              <a:t>Result: a generic, unfocused answer that may be too basic or too advanced, in no particular format.</a:t>
            </a:r>
            <a:endParaRPr lang="en-US" sz="1250" dirty="0"/>
          </a:p>
        </p:txBody>
      </p:sp>
      <p:sp>
        <p:nvSpPr>
          <p:cNvPr id="11" name="Shape 8"/>
          <p:cNvSpPr/>
          <p:nvPr/>
        </p:nvSpPr>
        <p:spPr>
          <a:xfrm>
            <a:off x="4754880" y="1417320"/>
            <a:ext cx="3931920" cy="3108960"/>
          </a:xfrm>
          <a:prstGeom prst="roundRect">
            <a:avLst>
              <a:gd name="adj" fmla="val 3529"/>
            </a:avLst>
          </a:prstGeom>
          <a:solidFill>
            <a:srgbClr val="E1F6F3"/>
          </a:solidFill>
          <a:ln w="9525">
            <a:solidFill>
              <a:srgbClr val="E1F6F3"/>
            </a:solidFill>
            <a:prstDash val="solid"/>
          </a:ln>
        </p:spPr>
      </p:sp>
      <p:sp>
        <p:nvSpPr>
          <p:cNvPr id="12" name="Shape 9"/>
          <p:cNvSpPr/>
          <p:nvPr/>
        </p:nvSpPr>
        <p:spPr>
          <a:xfrm>
            <a:off x="4983480" y="1600200"/>
            <a:ext cx="384048" cy="384048"/>
          </a:xfrm>
          <a:prstGeom prst="ellipse">
            <a:avLst/>
          </a:prstGeom>
          <a:solidFill>
            <a:srgbClr val="0B7A70"/>
          </a:solidFill>
          <a:ln w="6350">
            <a:solidFill>
              <a:srgbClr val="0B7A70"/>
            </a:solidFill>
            <a:prstDash val="solid"/>
          </a:ln>
        </p:spPr>
      </p:sp>
      <p:pic>
        <p:nvPicPr>
          <p:cNvPr id="13" name="Image 1" descr="preencoded.png"/>
          <p:cNvPicPr>
            <a:picLocks noChangeAspect="1"/>
          </p:cNvPicPr>
          <p:nvPr/>
        </p:nvPicPr>
        <p:blipFill>
          <a:blip r:embed="rId5"/>
          <a:stretch>
            <a:fillRect/>
          </a:stretch>
        </p:blipFill>
        <p:spPr>
          <a:xfrm>
            <a:off x="5079492" y="1696212"/>
            <a:ext cx="192024" cy="192024"/>
          </a:xfrm>
          <a:prstGeom prst="rect">
            <a:avLst/>
          </a:prstGeom>
        </p:spPr>
      </p:pic>
      <p:sp>
        <p:nvSpPr>
          <p:cNvPr id="14" name="Text 10"/>
          <p:cNvSpPr txBox="1"/>
          <p:nvPr/>
        </p:nvSpPr>
        <p:spPr>
          <a:xfrm>
            <a:off x="5486400" y="1600200"/>
            <a:ext cx="2743200" cy="384048"/>
          </a:xfrm>
          <a:prstGeom prst="rect">
            <a:avLst/>
          </a:prstGeom>
          <a:noFill/>
          <a:ln/>
        </p:spPr>
        <p:txBody>
          <a:bodyPr wrap="square" lIns="0" tIns="0" rIns="0" bIns="0" rtlCol="0" anchor="ctr"/>
          <a:lstStyle/>
          <a:p>
            <a:pPr marL="0" indent="0">
              <a:buNone/>
            </a:pPr>
            <a:r>
              <a:rPr lang="en-US" sz="1150" b="1" kern="0" spc="150" dirty="0">
                <a:solidFill>
                  <a:srgbClr val="0B7A70"/>
                </a:solidFill>
                <a:latin typeface="Calibri" pitchFamily="34" charset="0"/>
                <a:ea typeface="Calibri" pitchFamily="34" charset="-122"/>
                <a:cs typeface="Calibri" pitchFamily="34" charset="-120"/>
              </a:rPr>
              <a:t>DETAILED PROMPT</a:t>
            </a:r>
            <a:endParaRPr lang="en-US" sz="1150" dirty="0"/>
          </a:p>
        </p:txBody>
      </p:sp>
      <p:sp>
        <p:nvSpPr>
          <p:cNvPr id="15" name="Text 11"/>
          <p:cNvSpPr txBox="1"/>
          <p:nvPr/>
        </p:nvSpPr>
        <p:spPr>
          <a:xfrm>
            <a:off x="4983480" y="2148840"/>
            <a:ext cx="3566160" cy="1051560"/>
          </a:xfrm>
          <a:prstGeom prst="rect">
            <a:avLst/>
          </a:prstGeom>
          <a:noFill/>
          <a:ln/>
        </p:spPr>
        <p:txBody>
          <a:bodyPr wrap="square" lIns="0" tIns="0" rIns="0" bIns="0" rtlCol="0" anchor="t"/>
          <a:lstStyle/>
          <a:p>
            <a:pPr marL="0" indent="0">
              <a:buNone/>
            </a:pPr>
            <a:r>
              <a:rPr lang="en-US" sz="1400" b="1" dirty="0">
                <a:solidFill>
                  <a:srgbClr val="1A2033"/>
                </a:solidFill>
                <a:latin typeface="Calibri" pitchFamily="34" charset="0"/>
                <a:ea typeface="Calibri" pitchFamily="34" charset="-122"/>
                <a:cs typeface="Calibri" pitchFamily="34" charset="-120"/>
              </a:rPr>
              <a:t>“Explain machine learning to a first-year engineering student in 4 bullet points, using a real-world analogy”</a:t>
            </a:r>
            <a:endParaRPr lang="en-US" sz="1400" dirty="0"/>
          </a:p>
        </p:txBody>
      </p:sp>
      <p:sp>
        <p:nvSpPr>
          <p:cNvPr id="16" name="Text 12"/>
          <p:cNvSpPr txBox="1"/>
          <p:nvPr/>
        </p:nvSpPr>
        <p:spPr>
          <a:xfrm>
            <a:off x="4983480" y="3246120"/>
            <a:ext cx="3566160" cy="1005840"/>
          </a:xfrm>
          <a:prstGeom prst="rect">
            <a:avLst/>
          </a:prstGeom>
          <a:noFill/>
          <a:ln/>
        </p:spPr>
        <p:txBody>
          <a:bodyPr wrap="square" lIns="0" tIns="0" rIns="0" bIns="0" rtlCol="0" anchor="t"/>
          <a:lstStyle/>
          <a:p>
            <a:pPr marL="0" indent="0">
              <a:buNone/>
            </a:pPr>
            <a:r>
              <a:rPr lang="en-US" sz="1250" dirty="0">
                <a:solidFill>
                  <a:srgbClr val="2A5C55"/>
                </a:solidFill>
                <a:latin typeface="Calibri" pitchFamily="34" charset="0"/>
                <a:ea typeface="Calibri" pitchFamily="34" charset="-122"/>
                <a:cs typeface="Calibri" pitchFamily="34" charset="-120"/>
              </a:rPr>
              <a:t>Result: a focused, appropriately-pitched answer in the exact format you need.</a:t>
            </a:r>
            <a:endParaRPr lang="en-US" sz="1250" dirty="0"/>
          </a:p>
        </p:txBody>
      </p:sp>
      <p:sp>
        <p:nvSpPr>
          <p:cNvPr id="17" name="Text 13"/>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18" name="Text 14"/>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354580"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354580"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5  |  PRACTICAL PROMPTING</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Prompting Is a Conversation, Not One Shot</a:t>
            </a:r>
            <a:endParaRPr lang="en-US" sz="2900" dirty="0"/>
          </a:p>
        </p:txBody>
      </p:sp>
      <p:sp>
        <p:nvSpPr>
          <p:cNvPr id="5" name="Shape 3"/>
          <p:cNvSpPr/>
          <p:nvPr/>
        </p:nvSpPr>
        <p:spPr>
          <a:xfrm>
            <a:off x="457200" y="1554480"/>
            <a:ext cx="1920240" cy="2286000"/>
          </a:xfrm>
          <a:prstGeom prst="roundRect">
            <a:avLst>
              <a:gd name="adj" fmla="val 5714"/>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1170432" y="1783080"/>
            <a:ext cx="502920" cy="50292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1296162" y="1908810"/>
            <a:ext cx="251460" cy="251460"/>
          </a:xfrm>
          <a:prstGeom prst="rect">
            <a:avLst/>
          </a:prstGeom>
        </p:spPr>
      </p:pic>
      <p:sp>
        <p:nvSpPr>
          <p:cNvPr id="8" name="Text 5"/>
          <p:cNvSpPr txBox="1"/>
          <p:nvPr/>
        </p:nvSpPr>
        <p:spPr>
          <a:xfrm>
            <a:off x="457200" y="2331720"/>
            <a:ext cx="1920240" cy="292608"/>
          </a:xfrm>
          <a:prstGeom prst="rect">
            <a:avLst/>
          </a:prstGeom>
          <a:noFill/>
          <a:ln/>
        </p:spPr>
        <p:txBody>
          <a:bodyPr wrap="square" lIns="0" tIns="0" rIns="0" bIns="0" rtlCol="0" anchor="t"/>
          <a:lstStyle/>
          <a:p>
            <a:pPr marL="0" indent="0" algn="ctr">
              <a:buNone/>
            </a:pPr>
            <a:r>
              <a:rPr lang="en-US" sz="1500" b="1" dirty="0">
                <a:solidFill>
                  <a:srgbClr val="0F1B3D"/>
                </a:solidFill>
                <a:latin typeface="Calibri" pitchFamily="34" charset="0"/>
                <a:ea typeface="Calibri" pitchFamily="34" charset="-122"/>
                <a:cs typeface="Calibri" pitchFamily="34" charset="-120"/>
              </a:rPr>
              <a:t>Ask</a:t>
            </a:r>
            <a:endParaRPr lang="en-US" sz="1500" dirty="0"/>
          </a:p>
        </p:txBody>
      </p:sp>
      <p:sp>
        <p:nvSpPr>
          <p:cNvPr id="9" name="Text 6"/>
          <p:cNvSpPr txBox="1"/>
          <p:nvPr/>
        </p:nvSpPr>
        <p:spPr>
          <a:xfrm>
            <a:off x="594360" y="2651760"/>
            <a:ext cx="1645920" cy="1005840"/>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Start with your best first attempt at the prompt</a:t>
            </a:r>
            <a:endParaRPr lang="en-US" sz="1100" dirty="0"/>
          </a:p>
        </p:txBody>
      </p:sp>
      <p:sp>
        <p:nvSpPr>
          <p:cNvPr id="10" name="Shape 7"/>
          <p:cNvSpPr/>
          <p:nvPr/>
        </p:nvSpPr>
        <p:spPr>
          <a:xfrm>
            <a:off x="2560320" y="1554480"/>
            <a:ext cx="1920240" cy="2286000"/>
          </a:xfrm>
          <a:prstGeom prst="roundRect">
            <a:avLst>
              <a:gd name="adj" fmla="val 5714"/>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1" name="Shape 8"/>
          <p:cNvSpPr/>
          <p:nvPr/>
        </p:nvSpPr>
        <p:spPr>
          <a:xfrm>
            <a:off x="3273552" y="1783080"/>
            <a:ext cx="502920" cy="502920"/>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3399282" y="1908810"/>
            <a:ext cx="251460" cy="251460"/>
          </a:xfrm>
          <a:prstGeom prst="rect">
            <a:avLst/>
          </a:prstGeom>
        </p:spPr>
      </p:pic>
      <p:sp>
        <p:nvSpPr>
          <p:cNvPr id="13" name="Text 9"/>
          <p:cNvSpPr txBox="1"/>
          <p:nvPr/>
        </p:nvSpPr>
        <p:spPr>
          <a:xfrm>
            <a:off x="2560320" y="2331720"/>
            <a:ext cx="1920240" cy="292608"/>
          </a:xfrm>
          <a:prstGeom prst="rect">
            <a:avLst/>
          </a:prstGeom>
          <a:noFill/>
          <a:ln/>
        </p:spPr>
        <p:txBody>
          <a:bodyPr wrap="square" lIns="0" tIns="0" rIns="0" bIns="0" rtlCol="0" anchor="t"/>
          <a:lstStyle/>
          <a:p>
            <a:pPr marL="0" indent="0" algn="ctr">
              <a:buNone/>
            </a:pPr>
            <a:r>
              <a:rPr lang="en-US" sz="1500" b="1" dirty="0">
                <a:solidFill>
                  <a:srgbClr val="0F1B3D"/>
                </a:solidFill>
                <a:latin typeface="Calibri" pitchFamily="34" charset="0"/>
                <a:ea typeface="Calibri" pitchFamily="34" charset="-122"/>
                <a:cs typeface="Calibri" pitchFamily="34" charset="-120"/>
              </a:rPr>
              <a:t>Evaluate</a:t>
            </a:r>
            <a:endParaRPr lang="en-US" sz="1500" dirty="0"/>
          </a:p>
        </p:txBody>
      </p:sp>
      <p:sp>
        <p:nvSpPr>
          <p:cNvPr id="14" name="Text 10"/>
          <p:cNvSpPr txBox="1"/>
          <p:nvPr/>
        </p:nvSpPr>
        <p:spPr>
          <a:xfrm>
            <a:off x="2697480" y="2651760"/>
            <a:ext cx="1645920" cy="1005840"/>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Read the response critically - what's missing or wrong?</a:t>
            </a:r>
            <a:endParaRPr lang="en-US" sz="1100" dirty="0"/>
          </a:p>
        </p:txBody>
      </p:sp>
      <p:sp>
        <p:nvSpPr>
          <p:cNvPr id="15" name="Shape 11"/>
          <p:cNvSpPr/>
          <p:nvPr/>
        </p:nvSpPr>
        <p:spPr>
          <a:xfrm>
            <a:off x="4663440" y="1554480"/>
            <a:ext cx="1920240" cy="2286000"/>
          </a:xfrm>
          <a:prstGeom prst="roundRect">
            <a:avLst>
              <a:gd name="adj" fmla="val 5714"/>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6" name="Shape 12"/>
          <p:cNvSpPr/>
          <p:nvPr/>
        </p:nvSpPr>
        <p:spPr>
          <a:xfrm>
            <a:off x="5376672" y="1783080"/>
            <a:ext cx="502920" cy="502920"/>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5502402" y="1908810"/>
            <a:ext cx="251460" cy="251460"/>
          </a:xfrm>
          <a:prstGeom prst="rect">
            <a:avLst/>
          </a:prstGeom>
        </p:spPr>
      </p:pic>
      <p:sp>
        <p:nvSpPr>
          <p:cNvPr id="18" name="Text 13"/>
          <p:cNvSpPr txBox="1"/>
          <p:nvPr/>
        </p:nvSpPr>
        <p:spPr>
          <a:xfrm>
            <a:off x="4663440" y="2331720"/>
            <a:ext cx="1920240" cy="292608"/>
          </a:xfrm>
          <a:prstGeom prst="rect">
            <a:avLst/>
          </a:prstGeom>
          <a:noFill/>
          <a:ln/>
        </p:spPr>
        <p:txBody>
          <a:bodyPr wrap="square" lIns="0" tIns="0" rIns="0" bIns="0" rtlCol="0" anchor="t"/>
          <a:lstStyle/>
          <a:p>
            <a:pPr marL="0" indent="0" algn="ctr">
              <a:buNone/>
            </a:pPr>
            <a:r>
              <a:rPr lang="en-US" sz="1500" b="1" dirty="0">
                <a:solidFill>
                  <a:srgbClr val="0F1B3D"/>
                </a:solidFill>
                <a:latin typeface="Calibri" pitchFamily="34" charset="0"/>
                <a:ea typeface="Calibri" pitchFamily="34" charset="-122"/>
                <a:cs typeface="Calibri" pitchFamily="34" charset="-120"/>
              </a:rPr>
              <a:t>Refine</a:t>
            </a:r>
            <a:endParaRPr lang="en-US" sz="1500" dirty="0"/>
          </a:p>
        </p:txBody>
      </p:sp>
      <p:sp>
        <p:nvSpPr>
          <p:cNvPr id="19" name="Text 14"/>
          <p:cNvSpPr txBox="1"/>
          <p:nvPr/>
        </p:nvSpPr>
        <p:spPr>
          <a:xfrm>
            <a:off x="4800600" y="2651760"/>
            <a:ext cx="1645920" cy="1005840"/>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Ask for changes: shorter, simpler, more examples, different tone</a:t>
            </a:r>
            <a:endParaRPr lang="en-US" sz="1100" dirty="0"/>
          </a:p>
        </p:txBody>
      </p:sp>
      <p:sp>
        <p:nvSpPr>
          <p:cNvPr id="20" name="Shape 15"/>
          <p:cNvSpPr/>
          <p:nvPr/>
        </p:nvSpPr>
        <p:spPr>
          <a:xfrm>
            <a:off x="6766560" y="1554480"/>
            <a:ext cx="1920240" cy="2286000"/>
          </a:xfrm>
          <a:prstGeom prst="roundRect">
            <a:avLst>
              <a:gd name="adj" fmla="val 5714"/>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1" name="Shape 16"/>
          <p:cNvSpPr/>
          <p:nvPr/>
        </p:nvSpPr>
        <p:spPr>
          <a:xfrm>
            <a:off x="7479792" y="1783080"/>
            <a:ext cx="502920" cy="502920"/>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7605522" y="1908810"/>
            <a:ext cx="251460" cy="251460"/>
          </a:xfrm>
          <a:prstGeom prst="rect">
            <a:avLst/>
          </a:prstGeom>
        </p:spPr>
      </p:pic>
      <p:sp>
        <p:nvSpPr>
          <p:cNvPr id="23" name="Text 17"/>
          <p:cNvSpPr txBox="1"/>
          <p:nvPr/>
        </p:nvSpPr>
        <p:spPr>
          <a:xfrm>
            <a:off x="6766560" y="2331720"/>
            <a:ext cx="1920240" cy="292608"/>
          </a:xfrm>
          <a:prstGeom prst="rect">
            <a:avLst/>
          </a:prstGeom>
          <a:noFill/>
          <a:ln/>
        </p:spPr>
        <p:txBody>
          <a:bodyPr wrap="square" lIns="0" tIns="0" rIns="0" bIns="0" rtlCol="0" anchor="t"/>
          <a:lstStyle/>
          <a:p>
            <a:pPr marL="0" indent="0" algn="ctr">
              <a:buNone/>
            </a:pPr>
            <a:r>
              <a:rPr lang="en-US" sz="1500" b="1" dirty="0">
                <a:solidFill>
                  <a:srgbClr val="0F1B3D"/>
                </a:solidFill>
                <a:latin typeface="Calibri" pitchFamily="34" charset="0"/>
                <a:ea typeface="Calibri" pitchFamily="34" charset="-122"/>
                <a:cs typeface="Calibri" pitchFamily="34" charset="-120"/>
              </a:rPr>
              <a:t>Repeat</a:t>
            </a:r>
            <a:endParaRPr lang="en-US" sz="1500" dirty="0"/>
          </a:p>
        </p:txBody>
      </p:sp>
      <p:sp>
        <p:nvSpPr>
          <p:cNvPr id="24" name="Text 18"/>
          <p:cNvSpPr txBox="1"/>
          <p:nvPr/>
        </p:nvSpPr>
        <p:spPr>
          <a:xfrm>
            <a:off x="6903720" y="2651760"/>
            <a:ext cx="1645920" cy="1005840"/>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Keep iterating until the response actually works for you</a:t>
            </a:r>
            <a:endParaRPr lang="en-US" sz="1100" dirty="0"/>
          </a:p>
        </p:txBody>
      </p:sp>
      <p:sp>
        <p:nvSpPr>
          <p:cNvPr id="25" name="Shape 19"/>
          <p:cNvSpPr/>
          <p:nvPr/>
        </p:nvSpPr>
        <p:spPr>
          <a:xfrm>
            <a:off x="2359152" y="2496312"/>
            <a:ext cx="219456" cy="219456"/>
          </a:xfrm>
          <a:prstGeom prst="ellipse">
            <a:avLst/>
          </a:prstGeom>
          <a:solidFill>
            <a:srgbClr val="E9B44C"/>
          </a:solidFill>
          <a:ln w="12700">
            <a:solidFill>
              <a:srgbClr val="E9B44C"/>
            </a:solidFill>
            <a:prstDash val="solid"/>
          </a:ln>
        </p:spPr>
      </p:sp>
      <p:sp>
        <p:nvSpPr>
          <p:cNvPr id="26" name="Shape 20"/>
          <p:cNvSpPr/>
          <p:nvPr/>
        </p:nvSpPr>
        <p:spPr>
          <a:xfrm>
            <a:off x="4462272" y="2496312"/>
            <a:ext cx="219456" cy="219456"/>
          </a:xfrm>
          <a:prstGeom prst="ellipse">
            <a:avLst/>
          </a:prstGeom>
          <a:solidFill>
            <a:srgbClr val="E9B44C"/>
          </a:solidFill>
          <a:ln w="12700">
            <a:solidFill>
              <a:srgbClr val="E9B44C"/>
            </a:solidFill>
            <a:prstDash val="solid"/>
          </a:ln>
        </p:spPr>
      </p:sp>
      <p:sp>
        <p:nvSpPr>
          <p:cNvPr id="27" name="Shape 21"/>
          <p:cNvSpPr/>
          <p:nvPr/>
        </p:nvSpPr>
        <p:spPr>
          <a:xfrm>
            <a:off x="6565392" y="2496312"/>
            <a:ext cx="219456" cy="219456"/>
          </a:xfrm>
          <a:prstGeom prst="ellipse">
            <a:avLst/>
          </a:prstGeom>
          <a:solidFill>
            <a:srgbClr val="E9B44C"/>
          </a:solidFill>
          <a:ln w="12700">
            <a:solidFill>
              <a:srgbClr val="E9B44C"/>
            </a:solidFill>
            <a:prstDash val="solid"/>
          </a:ln>
        </p:spPr>
      </p:sp>
      <p:sp>
        <p:nvSpPr>
          <p:cNvPr id="28" name="Shape 22"/>
          <p:cNvSpPr/>
          <p:nvPr/>
        </p:nvSpPr>
        <p:spPr>
          <a:xfrm>
            <a:off x="457200" y="4023360"/>
            <a:ext cx="8229600" cy="502920"/>
          </a:xfrm>
          <a:prstGeom prst="roundRect">
            <a:avLst>
              <a:gd name="adj" fmla="val 21818"/>
            </a:avLst>
          </a:prstGeom>
          <a:solidFill>
            <a:srgbClr val="0F1B3D"/>
          </a:solidFill>
          <a:ln w="9525">
            <a:solidFill>
              <a:srgbClr val="0F1B3D"/>
            </a:solidFill>
            <a:prstDash val="solid"/>
          </a:ln>
        </p:spPr>
      </p:sp>
      <p:sp>
        <p:nvSpPr>
          <p:cNvPr id="29" name="Text 23"/>
          <p:cNvSpPr txBox="1"/>
          <p:nvPr/>
        </p:nvSpPr>
        <p:spPr>
          <a:xfrm>
            <a:off x="457200" y="4023360"/>
            <a:ext cx="8229600" cy="50292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Even experts rarely get the perfect prompt on the first try - refining is the normal workflow.</a:t>
            </a:r>
            <a:endParaRPr lang="en-US" sz="1300" dirty="0"/>
          </a:p>
        </p:txBody>
      </p:sp>
      <p:sp>
        <p:nvSpPr>
          <p:cNvPr id="30" name="Text 24"/>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31" name="Text 25"/>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898648"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898648"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6  |  CAPABILITIES &amp; LIMITATIONS</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AI Sounds Confident. It Isn't Always Right.</a:t>
            </a:r>
            <a:endParaRPr lang="en-US" sz="2900" dirty="0"/>
          </a:p>
        </p:txBody>
      </p:sp>
      <p:sp>
        <p:nvSpPr>
          <p:cNvPr id="5" name="Shape 3"/>
          <p:cNvSpPr/>
          <p:nvPr/>
        </p:nvSpPr>
        <p:spPr>
          <a:xfrm>
            <a:off x="457200" y="1463040"/>
            <a:ext cx="4023360" cy="1371600"/>
          </a:xfrm>
          <a:prstGeom prst="roundRect">
            <a:avLst>
              <a:gd name="adj" fmla="val 9333"/>
            </a:avLst>
          </a:prstGeom>
          <a:solidFill>
            <a:srgbClr val="1C2D5E"/>
          </a:solidFill>
          <a:ln w="9525">
            <a:solidFill>
              <a:srgbClr val="3A4E96"/>
            </a:solidFill>
            <a:prstDash val="solid"/>
          </a:ln>
        </p:spPr>
      </p:sp>
      <p:sp>
        <p:nvSpPr>
          <p:cNvPr id="6" name="Shape 4"/>
          <p:cNvSpPr/>
          <p:nvPr/>
        </p:nvSpPr>
        <p:spPr>
          <a:xfrm>
            <a:off x="685800" y="1828800"/>
            <a:ext cx="640080" cy="64008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845820" y="1988820"/>
            <a:ext cx="320040" cy="320040"/>
          </a:xfrm>
          <a:prstGeom prst="rect">
            <a:avLst/>
          </a:prstGeom>
        </p:spPr>
      </p:pic>
      <p:sp>
        <p:nvSpPr>
          <p:cNvPr id="8" name="Text 5"/>
          <p:cNvSpPr txBox="1"/>
          <p:nvPr/>
        </p:nvSpPr>
        <p:spPr>
          <a:xfrm>
            <a:off x="1508760" y="1737360"/>
            <a:ext cx="2743200" cy="365760"/>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Hallucinations</a:t>
            </a:r>
            <a:endParaRPr lang="en-US" sz="1650" dirty="0"/>
          </a:p>
        </p:txBody>
      </p:sp>
      <p:sp>
        <p:nvSpPr>
          <p:cNvPr id="9" name="Text 6"/>
          <p:cNvSpPr txBox="1"/>
          <p:nvPr/>
        </p:nvSpPr>
        <p:spPr>
          <a:xfrm>
            <a:off x="1508760" y="2148840"/>
            <a:ext cx="2788920" cy="594360"/>
          </a:xfrm>
          <a:prstGeom prst="rect">
            <a:avLst/>
          </a:prstGeom>
          <a:noFill/>
          <a:ln/>
        </p:spPr>
        <p:txBody>
          <a:bodyPr wrap="square" lIns="0" tIns="0" rIns="0" bIns="0" rtlCol="0" anchor="t"/>
          <a:lstStyle/>
          <a:p>
            <a:pPr marL="0" indent="0">
              <a:buNone/>
            </a:pPr>
            <a:r>
              <a:rPr lang="en-US" sz="1150" dirty="0">
                <a:solidFill>
                  <a:srgbClr val="C9D3EE"/>
                </a:solidFill>
                <a:latin typeface="Calibri" pitchFamily="34" charset="0"/>
                <a:ea typeface="Calibri" pitchFamily="34" charset="-122"/>
                <a:cs typeface="Calibri" pitchFamily="34" charset="-120"/>
              </a:rPr>
              <a:t>AI can generate plausible-sounding facts, quotes or sources that are simply made up</a:t>
            </a:r>
            <a:endParaRPr lang="en-US" sz="1150" dirty="0"/>
          </a:p>
        </p:txBody>
      </p:sp>
      <p:sp>
        <p:nvSpPr>
          <p:cNvPr id="10" name="Shape 7"/>
          <p:cNvSpPr/>
          <p:nvPr/>
        </p:nvSpPr>
        <p:spPr>
          <a:xfrm>
            <a:off x="4663440" y="1463040"/>
            <a:ext cx="4023360" cy="1371600"/>
          </a:xfrm>
          <a:prstGeom prst="roundRect">
            <a:avLst>
              <a:gd name="adj" fmla="val 9333"/>
            </a:avLst>
          </a:prstGeom>
          <a:solidFill>
            <a:srgbClr val="1C2D5E"/>
          </a:solidFill>
          <a:ln w="9525">
            <a:solidFill>
              <a:srgbClr val="3A4E96"/>
            </a:solidFill>
            <a:prstDash val="solid"/>
          </a:ln>
        </p:spPr>
      </p:sp>
      <p:sp>
        <p:nvSpPr>
          <p:cNvPr id="11" name="Shape 8"/>
          <p:cNvSpPr/>
          <p:nvPr/>
        </p:nvSpPr>
        <p:spPr>
          <a:xfrm>
            <a:off x="4892040" y="1828800"/>
            <a:ext cx="640080" cy="640080"/>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5052060" y="1988820"/>
            <a:ext cx="320040" cy="320040"/>
          </a:xfrm>
          <a:prstGeom prst="rect">
            <a:avLst/>
          </a:prstGeom>
        </p:spPr>
      </p:pic>
      <p:sp>
        <p:nvSpPr>
          <p:cNvPr id="13" name="Text 9"/>
          <p:cNvSpPr txBox="1"/>
          <p:nvPr/>
        </p:nvSpPr>
        <p:spPr>
          <a:xfrm>
            <a:off x="5715000" y="1737360"/>
            <a:ext cx="2743200" cy="365760"/>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Outdated information</a:t>
            </a:r>
            <a:endParaRPr lang="en-US" sz="1650" dirty="0"/>
          </a:p>
        </p:txBody>
      </p:sp>
      <p:sp>
        <p:nvSpPr>
          <p:cNvPr id="14" name="Text 10"/>
          <p:cNvSpPr txBox="1"/>
          <p:nvPr/>
        </p:nvSpPr>
        <p:spPr>
          <a:xfrm>
            <a:off x="5715000" y="2148840"/>
            <a:ext cx="2788920" cy="594360"/>
          </a:xfrm>
          <a:prstGeom prst="rect">
            <a:avLst/>
          </a:prstGeom>
          <a:noFill/>
          <a:ln/>
        </p:spPr>
        <p:txBody>
          <a:bodyPr wrap="square" lIns="0" tIns="0" rIns="0" bIns="0" rtlCol="0" anchor="t"/>
          <a:lstStyle/>
          <a:p>
            <a:pPr marL="0" indent="0">
              <a:buNone/>
            </a:pPr>
            <a:r>
              <a:rPr lang="en-US" sz="1150" dirty="0">
                <a:solidFill>
                  <a:srgbClr val="C9D3EE"/>
                </a:solidFill>
                <a:latin typeface="Calibri" pitchFamily="34" charset="0"/>
                <a:ea typeface="Calibri" pitchFamily="34" charset="-122"/>
                <a:cs typeface="Calibri" pitchFamily="34" charset="-120"/>
              </a:rPr>
              <a:t>The model's knowledge has a cutoff date and may not reflect recent events</a:t>
            </a:r>
            <a:endParaRPr lang="en-US" sz="1150" dirty="0"/>
          </a:p>
        </p:txBody>
      </p:sp>
      <p:sp>
        <p:nvSpPr>
          <p:cNvPr id="15" name="Shape 11"/>
          <p:cNvSpPr/>
          <p:nvPr/>
        </p:nvSpPr>
        <p:spPr>
          <a:xfrm>
            <a:off x="457200" y="3017520"/>
            <a:ext cx="4023360" cy="1371600"/>
          </a:xfrm>
          <a:prstGeom prst="roundRect">
            <a:avLst>
              <a:gd name="adj" fmla="val 9333"/>
            </a:avLst>
          </a:prstGeom>
          <a:solidFill>
            <a:srgbClr val="1C2D5E"/>
          </a:solidFill>
          <a:ln w="9525">
            <a:solidFill>
              <a:srgbClr val="3A4E96"/>
            </a:solidFill>
            <a:prstDash val="solid"/>
          </a:ln>
        </p:spPr>
      </p:sp>
      <p:sp>
        <p:nvSpPr>
          <p:cNvPr id="16" name="Shape 12"/>
          <p:cNvSpPr/>
          <p:nvPr/>
        </p:nvSpPr>
        <p:spPr>
          <a:xfrm>
            <a:off x="685800" y="3383280"/>
            <a:ext cx="640080" cy="640080"/>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845820" y="3543300"/>
            <a:ext cx="320040" cy="320040"/>
          </a:xfrm>
          <a:prstGeom prst="rect">
            <a:avLst/>
          </a:prstGeom>
        </p:spPr>
      </p:pic>
      <p:sp>
        <p:nvSpPr>
          <p:cNvPr id="18" name="Text 13"/>
          <p:cNvSpPr txBox="1"/>
          <p:nvPr/>
        </p:nvSpPr>
        <p:spPr>
          <a:xfrm>
            <a:off x="1508760" y="3291840"/>
            <a:ext cx="2743200" cy="365760"/>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Fabricated citations</a:t>
            </a:r>
            <a:endParaRPr lang="en-US" sz="1650" dirty="0"/>
          </a:p>
        </p:txBody>
      </p:sp>
      <p:sp>
        <p:nvSpPr>
          <p:cNvPr id="19" name="Text 14"/>
          <p:cNvSpPr txBox="1"/>
          <p:nvPr/>
        </p:nvSpPr>
        <p:spPr>
          <a:xfrm>
            <a:off x="1508760" y="3703320"/>
            <a:ext cx="2788920" cy="594360"/>
          </a:xfrm>
          <a:prstGeom prst="rect">
            <a:avLst/>
          </a:prstGeom>
          <a:noFill/>
          <a:ln/>
        </p:spPr>
        <p:txBody>
          <a:bodyPr wrap="square" lIns="0" tIns="0" rIns="0" bIns="0" rtlCol="0" anchor="t"/>
          <a:lstStyle/>
          <a:p>
            <a:pPr marL="0" indent="0">
              <a:buNone/>
            </a:pPr>
            <a:r>
              <a:rPr lang="en-US" sz="1150" dirty="0">
                <a:solidFill>
                  <a:srgbClr val="C9D3EE"/>
                </a:solidFill>
                <a:latin typeface="Calibri" pitchFamily="34" charset="0"/>
                <a:ea typeface="Calibri" pitchFamily="34" charset="-122"/>
                <a:cs typeface="Calibri" pitchFamily="34" charset="-120"/>
              </a:rPr>
              <a:t>Paper titles, authors and DOIs can look completely real and still not exist</a:t>
            </a:r>
            <a:endParaRPr lang="en-US" sz="1150" dirty="0"/>
          </a:p>
        </p:txBody>
      </p:sp>
      <p:sp>
        <p:nvSpPr>
          <p:cNvPr id="20" name="Shape 15"/>
          <p:cNvSpPr/>
          <p:nvPr/>
        </p:nvSpPr>
        <p:spPr>
          <a:xfrm>
            <a:off x="4663440" y="3017520"/>
            <a:ext cx="4023360" cy="1371600"/>
          </a:xfrm>
          <a:prstGeom prst="roundRect">
            <a:avLst>
              <a:gd name="adj" fmla="val 9333"/>
            </a:avLst>
          </a:prstGeom>
          <a:solidFill>
            <a:srgbClr val="1C2D5E"/>
          </a:solidFill>
          <a:ln w="9525">
            <a:solidFill>
              <a:srgbClr val="3A4E96"/>
            </a:solidFill>
            <a:prstDash val="solid"/>
          </a:ln>
        </p:spPr>
      </p:sp>
      <p:sp>
        <p:nvSpPr>
          <p:cNvPr id="21" name="Shape 16"/>
          <p:cNvSpPr/>
          <p:nvPr/>
        </p:nvSpPr>
        <p:spPr>
          <a:xfrm>
            <a:off x="4892040" y="3383280"/>
            <a:ext cx="640080" cy="640080"/>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5052060" y="3543300"/>
            <a:ext cx="320040" cy="320040"/>
          </a:xfrm>
          <a:prstGeom prst="rect">
            <a:avLst/>
          </a:prstGeom>
        </p:spPr>
      </p:pic>
      <p:sp>
        <p:nvSpPr>
          <p:cNvPr id="23" name="Text 17"/>
          <p:cNvSpPr txBox="1"/>
          <p:nvPr/>
        </p:nvSpPr>
        <p:spPr>
          <a:xfrm>
            <a:off x="5715000" y="3291840"/>
            <a:ext cx="2743200" cy="365760"/>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Bias &amp; reliability</a:t>
            </a:r>
            <a:endParaRPr lang="en-US" sz="1650" dirty="0"/>
          </a:p>
        </p:txBody>
      </p:sp>
      <p:sp>
        <p:nvSpPr>
          <p:cNvPr id="24" name="Text 18"/>
          <p:cNvSpPr txBox="1"/>
          <p:nvPr/>
        </p:nvSpPr>
        <p:spPr>
          <a:xfrm>
            <a:off x="5715000" y="3703320"/>
            <a:ext cx="2788920" cy="594360"/>
          </a:xfrm>
          <a:prstGeom prst="rect">
            <a:avLst/>
          </a:prstGeom>
          <a:noFill/>
          <a:ln/>
        </p:spPr>
        <p:txBody>
          <a:bodyPr wrap="square" lIns="0" tIns="0" rIns="0" bIns="0" rtlCol="0" anchor="t"/>
          <a:lstStyle/>
          <a:p>
            <a:pPr marL="0" indent="0">
              <a:buNone/>
            </a:pPr>
            <a:r>
              <a:rPr lang="en-US" sz="1150" dirty="0">
                <a:solidFill>
                  <a:srgbClr val="C9D3EE"/>
                </a:solidFill>
                <a:latin typeface="Calibri" pitchFamily="34" charset="0"/>
                <a:ea typeface="Calibri" pitchFamily="34" charset="-122"/>
                <a:cs typeface="Calibri" pitchFamily="34" charset="-120"/>
              </a:rPr>
              <a:t>Training data can carry hidden biases that shape AI responses</a:t>
            </a:r>
            <a:endParaRPr lang="en-US" sz="1150" dirty="0"/>
          </a:p>
        </p:txBody>
      </p:sp>
      <p:sp>
        <p:nvSpPr>
          <p:cNvPr id="25" name="Text 19"/>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8FA0C8"/>
                </a:solidFill>
                <a:latin typeface="Calibri" pitchFamily="34" charset="0"/>
                <a:ea typeface="Calibri" pitchFamily="34" charset="-122"/>
                <a:cs typeface="Calibri" pitchFamily="34" charset="-120"/>
              </a:rPr>
              <a:t>Introduction to AI &amp; Generative AI  |  Session 0</a:t>
            </a:r>
            <a:endParaRPr lang="en-US" sz="900" dirty="0"/>
          </a:p>
        </p:txBody>
      </p:sp>
      <p:sp>
        <p:nvSpPr>
          <p:cNvPr id="26" name="Text 20"/>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8FA0C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898648"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898648"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6  |  CAPABILITIES &amp; LIMITATIONS</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Why Human Verification Matters</a:t>
            </a:r>
            <a:endParaRPr lang="en-US" sz="2900" dirty="0"/>
          </a:p>
        </p:txBody>
      </p:sp>
      <p:sp>
        <p:nvSpPr>
          <p:cNvPr id="5" name="Shape 3"/>
          <p:cNvSpPr/>
          <p:nvPr/>
        </p:nvSpPr>
        <p:spPr>
          <a:xfrm>
            <a:off x="457200" y="1463040"/>
            <a:ext cx="3931920" cy="3063240"/>
          </a:xfrm>
          <a:prstGeom prst="roundRect">
            <a:avLst>
              <a:gd name="adj" fmla="val 3582"/>
            </a:avLst>
          </a:prstGeom>
          <a:solidFill>
            <a:srgbClr val="0F1B3D"/>
          </a:solidFill>
          <a:ln w="9525">
            <a:solidFill>
              <a:srgbClr val="0F1B3D"/>
            </a:solidFill>
            <a:prstDash val="solid"/>
          </a:ln>
        </p:spPr>
      </p:sp>
      <p:sp>
        <p:nvSpPr>
          <p:cNvPr id="6" name="Shape 4"/>
          <p:cNvSpPr/>
          <p:nvPr/>
        </p:nvSpPr>
        <p:spPr>
          <a:xfrm>
            <a:off x="777240" y="1737360"/>
            <a:ext cx="685800" cy="68580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948690" y="1908810"/>
            <a:ext cx="342900" cy="342900"/>
          </a:xfrm>
          <a:prstGeom prst="rect">
            <a:avLst/>
          </a:prstGeom>
        </p:spPr>
      </p:pic>
      <p:sp>
        <p:nvSpPr>
          <p:cNvPr id="8" name="Text 5"/>
          <p:cNvSpPr txBox="1"/>
          <p:nvPr/>
        </p:nvSpPr>
        <p:spPr>
          <a:xfrm>
            <a:off x="777240" y="2606040"/>
            <a:ext cx="3291840" cy="45720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You are the verifier</a:t>
            </a:r>
            <a:endParaRPr lang="en-US" sz="2200" dirty="0"/>
          </a:p>
        </p:txBody>
      </p:sp>
      <p:sp>
        <p:nvSpPr>
          <p:cNvPr id="9" name="Text 6"/>
          <p:cNvSpPr txBox="1"/>
          <p:nvPr/>
        </p:nvSpPr>
        <p:spPr>
          <a:xfrm>
            <a:off x="777240" y="3108960"/>
            <a:ext cx="3291840" cy="1188720"/>
          </a:xfrm>
          <a:prstGeom prst="rect">
            <a:avLst/>
          </a:prstGeom>
          <a:noFill/>
          <a:ln/>
        </p:spPr>
        <p:txBody>
          <a:bodyPr wrap="square" lIns="0" tIns="0" rIns="0" bIns="0" rtlCol="0" anchor="t"/>
          <a:lstStyle/>
          <a:p>
            <a:pPr marL="0" indent="0">
              <a:buNone/>
            </a:pPr>
            <a:r>
              <a:rPr lang="en-US" sz="1350" dirty="0">
                <a:solidFill>
                  <a:srgbClr val="C9D3EE"/>
                </a:solidFill>
                <a:latin typeface="Calibri" pitchFamily="34" charset="0"/>
                <a:ea typeface="Calibri" pitchFamily="34" charset="-122"/>
                <a:cs typeface="Calibri" pitchFamily="34" charset="-120"/>
              </a:rPr>
              <a:t>AI is a fast first draft, not a final authority. The responsibility for accuracy stays with you.</a:t>
            </a:r>
            <a:endParaRPr lang="en-US" sz="1350" dirty="0"/>
          </a:p>
        </p:txBody>
      </p:sp>
      <p:sp>
        <p:nvSpPr>
          <p:cNvPr id="10" name="Shape 7"/>
          <p:cNvSpPr/>
          <p:nvPr/>
        </p:nvSpPr>
        <p:spPr>
          <a:xfrm>
            <a:off x="4709160" y="1554480"/>
            <a:ext cx="457200" cy="457200"/>
          </a:xfrm>
          <a:prstGeom prst="ellipse">
            <a:avLst/>
          </a:prstGeom>
          <a:solidFill>
            <a:srgbClr val="E9B44C"/>
          </a:solidFill>
          <a:ln w="6350">
            <a:solidFill>
              <a:srgbClr val="E9B44C"/>
            </a:solidFill>
            <a:prstDash val="solid"/>
          </a:ln>
        </p:spPr>
      </p:sp>
      <p:pic>
        <p:nvPicPr>
          <p:cNvPr id="11" name="Image 1" descr="preencoded.png"/>
          <p:cNvPicPr>
            <a:picLocks noChangeAspect="1"/>
          </p:cNvPicPr>
          <p:nvPr/>
        </p:nvPicPr>
        <p:blipFill>
          <a:blip r:embed="rId5"/>
          <a:stretch>
            <a:fillRect/>
          </a:stretch>
        </p:blipFill>
        <p:spPr>
          <a:xfrm>
            <a:off x="4823460" y="1668780"/>
            <a:ext cx="228600" cy="228600"/>
          </a:xfrm>
          <a:prstGeom prst="rect">
            <a:avLst/>
          </a:prstGeom>
        </p:spPr>
      </p:pic>
      <p:sp>
        <p:nvSpPr>
          <p:cNvPr id="12" name="Text 8"/>
          <p:cNvSpPr txBox="1"/>
          <p:nvPr/>
        </p:nvSpPr>
        <p:spPr>
          <a:xfrm>
            <a:off x="5303520" y="1554480"/>
            <a:ext cx="3383280" cy="640080"/>
          </a:xfrm>
          <a:prstGeom prst="rect">
            <a:avLst/>
          </a:prstGeom>
          <a:noFill/>
          <a:ln/>
        </p:spPr>
        <p:txBody>
          <a:bodyPr wrap="square" lIns="0" tIns="0" rIns="0" bIns="0" rtlCol="0" anchor="ctr"/>
          <a:lstStyle/>
          <a:p>
            <a:pPr marL="0" indent="0">
              <a:buNone/>
            </a:pPr>
            <a:r>
              <a:rPr lang="en-US" sz="1350" dirty="0">
                <a:solidFill>
                  <a:srgbClr val="1A2033"/>
                </a:solidFill>
                <a:latin typeface="Calibri" pitchFamily="34" charset="0"/>
                <a:ea typeface="Calibri" pitchFamily="34" charset="-122"/>
                <a:cs typeface="Calibri" pitchFamily="34" charset="-120"/>
              </a:rPr>
              <a:t>Check facts, quotes and figures at the original source</a:t>
            </a:r>
            <a:endParaRPr lang="en-US" sz="1350" dirty="0"/>
          </a:p>
        </p:txBody>
      </p:sp>
      <p:sp>
        <p:nvSpPr>
          <p:cNvPr id="13" name="Shape 9"/>
          <p:cNvSpPr/>
          <p:nvPr/>
        </p:nvSpPr>
        <p:spPr>
          <a:xfrm>
            <a:off x="4709160" y="2286000"/>
            <a:ext cx="457200" cy="457200"/>
          </a:xfrm>
          <a:prstGeom prst="ellipse">
            <a:avLst/>
          </a:prstGeom>
          <a:solidFill>
            <a:srgbClr val="22B8A8"/>
          </a:solidFill>
          <a:ln w="6350">
            <a:solidFill>
              <a:srgbClr val="22B8A8"/>
            </a:solidFill>
            <a:prstDash val="solid"/>
          </a:ln>
        </p:spPr>
      </p:sp>
      <p:pic>
        <p:nvPicPr>
          <p:cNvPr id="14" name="Image 2" descr="preencoded.png"/>
          <p:cNvPicPr>
            <a:picLocks noChangeAspect="1"/>
          </p:cNvPicPr>
          <p:nvPr/>
        </p:nvPicPr>
        <p:blipFill>
          <a:blip r:embed="rId6"/>
          <a:stretch>
            <a:fillRect/>
          </a:stretch>
        </p:blipFill>
        <p:spPr>
          <a:xfrm>
            <a:off x="4823460" y="2400300"/>
            <a:ext cx="228600" cy="228600"/>
          </a:xfrm>
          <a:prstGeom prst="rect">
            <a:avLst/>
          </a:prstGeom>
        </p:spPr>
      </p:pic>
      <p:sp>
        <p:nvSpPr>
          <p:cNvPr id="15" name="Text 10"/>
          <p:cNvSpPr txBox="1"/>
          <p:nvPr/>
        </p:nvSpPr>
        <p:spPr>
          <a:xfrm>
            <a:off x="5303520" y="2286000"/>
            <a:ext cx="3383280" cy="640080"/>
          </a:xfrm>
          <a:prstGeom prst="rect">
            <a:avLst/>
          </a:prstGeom>
          <a:noFill/>
          <a:ln/>
        </p:spPr>
        <p:txBody>
          <a:bodyPr wrap="square" lIns="0" tIns="0" rIns="0" bIns="0" rtlCol="0" anchor="ctr"/>
          <a:lstStyle/>
          <a:p>
            <a:pPr marL="0" indent="0">
              <a:buNone/>
            </a:pPr>
            <a:r>
              <a:rPr lang="en-US" sz="1350" dirty="0">
                <a:solidFill>
                  <a:srgbClr val="1A2033"/>
                </a:solidFill>
                <a:latin typeface="Calibri" pitchFamily="34" charset="0"/>
                <a:ea typeface="Calibri" pitchFamily="34" charset="-122"/>
                <a:cs typeface="Calibri" pitchFamily="34" charset="-120"/>
              </a:rPr>
              <a:t>Confirm citations and links actually exist</a:t>
            </a:r>
            <a:endParaRPr lang="en-US" sz="1350" dirty="0"/>
          </a:p>
        </p:txBody>
      </p:sp>
      <p:sp>
        <p:nvSpPr>
          <p:cNvPr id="16" name="Shape 11"/>
          <p:cNvSpPr/>
          <p:nvPr/>
        </p:nvSpPr>
        <p:spPr>
          <a:xfrm>
            <a:off x="4709160" y="3017520"/>
            <a:ext cx="457200" cy="457200"/>
          </a:xfrm>
          <a:prstGeom prst="ellipse">
            <a:avLst/>
          </a:prstGeom>
          <a:solidFill>
            <a:srgbClr val="F26B5B"/>
          </a:solidFill>
          <a:ln w="6350">
            <a:solidFill>
              <a:srgbClr val="F26B5B"/>
            </a:solidFill>
            <a:prstDash val="solid"/>
          </a:ln>
        </p:spPr>
      </p:sp>
      <p:pic>
        <p:nvPicPr>
          <p:cNvPr id="17" name="Image 3" descr="preencoded.png"/>
          <p:cNvPicPr>
            <a:picLocks noChangeAspect="1"/>
          </p:cNvPicPr>
          <p:nvPr/>
        </p:nvPicPr>
        <p:blipFill>
          <a:blip r:embed="rId7"/>
          <a:stretch>
            <a:fillRect/>
          </a:stretch>
        </p:blipFill>
        <p:spPr>
          <a:xfrm>
            <a:off x="4823460" y="3131820"/>
            <a:ext cx="228600" cy="228600"/>
          </a:xfrm>
          <a:prstGeom prst="rect">
            <a:avLst/>
          </a:prstGeom>
        </p:spPr>
      </p:pic>
      <p:sp>
        <p:nvSpPr>
          <p:cNvPr id="18" name="Text 12"/>
          <p:cNvSpPr txBox="1"/>
          <p:nvPr/>
        </p:nvSpPr>
        <p:spPr>
          <a:xfrm>
            <a:off x="5303520" y="3017520"/>
            <a:ext cx="3383280" cy="640080"/>
          </a:xfrm>
          <a:prstGeom prst="rect">
            <a:avLst/>
          </a:prstGeom>
          <a:noFill/>
          <a:ln/>
        </p:spPr>
        <p:txBody>
          <a:bodyPr wrap="square" lIns="0" tIns="0" rIns="0" bIns="0" rtlCol="0" anchor="ctr"/>
          <a:lstStyle/>
          <a:p>
            <a:pPr marL="0" indent="0">
              <a:buNone/>
            </a:pPr>
            <a:r>
              <a:rPr lang="en-US" sz="1350" dirty="0">
                <a:solidFill>
                  <a:srgbClr val="1A2033"/>
                </a:solidFill>
                <a:latin typeface="Calibri" pitchFamily="34" charset="0"/>
                <a:ea typeface="Calibri" pitchFamily="34" charset="-122"/>
                <a:cs typeface="Calibri" pitchFamily="34" charset="-120"/>
              </a:rPr>
              <a:t>Never submit content you can't explain yourself</a:t>
            </a:r>
            <a:endParaRPr lang="en-US" sz="1350" dirty="0"/>
          </a:p>
        </p:txBody>
      </p:sp>
      <p:sp>
        <p:nvSpPr>
          <p:cNvPr id="19" name="Shape 13"/>
          <p:cNvSpPr/>
          <p:nvPr/>
        </p:nvSpPr>
        <p:spPr>
          <a:xfrm>
            <a:off x="4709160" y="3749040"/>
            <a:ext cx="457200" cy="457200"/>
          </a:xfrm>
          <a:prstGeom prst="ellipse">
            <a:avLst/>
          </a:prstGeom>
          <a:solidFill>
            <a:srgbClr val="6C63FF"/>
          </a:solidFill>
          <a:ln w="6350">
            <a:solidFill>
              <a:srgbClr val="6C63FF"/>
            </a:solidFill>
            <a:prstDash val="solid"/>
          </a:ln>
        </p:spPr>
      </p:sp>
      <p:pic>
        <p:nvPicPr>
          <p:cNvPr id="20" name="Image 4" descr="preencoded.png"/>
          <p:cNvPicPr>
            <a:picLocks noChangeAspect="1"/>
          </p:cNvPicPr>
          <p:nvPr/>
        </p:nvPicPr>
        <p:blipFill>
          <a:blip r:embed="rId8"/>
          <a:stretch>
            <a:fillRect/>
          </a:stretch>
        </p:blipFill>
        <p:spPr>
          <a:xfrm>
            <a:off x="4823460" y="3863340"/>
            <a:ext cx="228600" cy="228600"/>
          </a:xfrm>
          <a:prstGeom prst="rect">
            <a:avLst/>
          </a:prstGeom>
        </p:spPr>
      </p:pic>
      <p:sp>
        <p:nvSpPr>
          <p:cNvPr id="21" name="Text 14"/>
          <p:cNvSpPr txBox="1"/>
          <p:nvPr/>
        </p:nvSpPr>
        <p:spPr>
          <a:xfrm>
            <a:off x="5303520" y="3749040"/>
            <a:ext cx="3383280" cy="640080"/>
          </a:xfrm>
          <a:prstGeom prst="rect">
            <a:avLst/>
          </a:prstGeom>
          <a:noFill/>
          <a:ln/>
        </p:spPr>
        <p:txBody>
          <a:bodyPr wrap="square" lIns="0" tIns="0" rIns="0" bIns="0" rtlCol="0" anchor="ctr"/>
          <a:lstStyle/>
          <a:p>
            <a:pPr marL="0" indent="0">
              <a:buNone/>
            </a:pPr>
            <a:r>
              <a:rPr lang="en-US" sz="1350" dirty="0">
                <a:solidFill>
                  <a:srgbClr val="1A2033"/>
                </a:solidFill>
                <a:latin typeface="Calibri" pitchFamily="34" charset="0"/>
                <a:ea typeface="Calibri" pitchFamily="34" charset="-122"/>
                <a:cs typeface="Calibri" pitchFamily="34" charset="-120"/>
              </a:rPr>
              <a:t>Test and run any AI-generated code before trusting it</a:t>
            </a:r>
            <a:endParaRPr lang="en-US" sz="1350" dirty="0"/>
          </a:p>
        </p:txBody>
      </p:sp>
      <p:sp>
        <p:nvSpPr>
          <p:cNvPr id="22" name="Text 15"/>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23" name="Text 16"/>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2820924"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2820924"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7  |  RESPONSIBLE &amp; ETHICAL USE</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Using AI the Right Way</a:t>
            </a:r>
            <a:endParaRPr lang="en-US" sz="2900" dirty="0"/>
          </a:p>
        </p:txBody>
      </p:sp>
      <p:sp>
        <p:nvSpPr>
          <p:cNvPr id="5" name="Shape 3"/>
          <p:cNvSpPr/>
          <p:nvPr/>
        </p:nvSpPr>
        <p:spPr>
          <a:xfrm>
            <a:off x="457200" y="1463040"/>
            <a:ext cx="4023360" cy="1371600"/>
          </a:xfrm>
          <a:prstGeom prst="roundRect">
            <a:avLst>
              <a:gd name="adj" fmla="val 8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685800" y="1828800"/>
            <a:ext cx="640080" cy="640080"/>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845820" y="1988820"/>
            <a:ext cx="320040" cy="320040"/>
          </a:xfrm>
          <a:prstGeom prst="rect">
            <a:avLst/>
          </a:prstGeom>
        </p:spPr>
      </p:pic>
      <p:sp>
        <p:nvSpPr>
          <p:cNvPr id="8" name="Text 5"/>
          <p:cNvSpPr txBox="1"/>
          <p:nvPr/>
        </p:nvSpPr>
        <p:spPr>
          <a:xfrm>
            <a:off x="1508760" y="1737360"/>
            <a:ext cx="2743200" cy="365760"/>
          </a:xfrm>
          <a:prstGeom prst="rect">
            <a:avLst/>
          </a:prstGeom>
          <a:noFill/>
          <a:ln/>
        </p:spPr>
        <p:txBody>
          <a:bodyPr wrap="square" lIns="0" tIns="0" rIns="0" bIns="0" rtlCol="0" anchor="t"/>
          <a:lstStyle/>
          <a:p>
            <a:pPr marL="0" indent="0">
              <a:buNone/>
            </a:pPr>
            <a:r>
              <a:rPr lang="en-US" sz="1550" b="1" dirty="0">
                <a:solidFill>
                  <a:srgbClr val="0F1B3D"/>
                </a:solidFill>
                <a:latin typeface="Calibri" pitchFamily="34" charset="0"/>
                <a:ea typeface="Calibri" pitchFamily="34" charset="-122"/>
                <a:cs typeface="Calibri" pitchFamily="34" charset="-120"/>
              </a:rPr>
              <a:t>Academic integrity</a:t>
            </a:r>
            <a:endParaRPr lang="en-US" sz="1550" dirty="0"/>
          </a:p>
        </p:txBody>
      </p:sp>
      <p:sp>
        <p:nvSpPr>
          <p:cNvPr id="9" name="Text 6"/>
          <p:cNvSpPr txBox="1"/>
          <p:nvPr/>
        </p:nvSpPr>
        <p:spPr>
          <a:xfrm>
            <a:off x="1508760" y="2148840"/>
            <a:ext cx="2788920" cy="594360"/>
          </a:xfrm>
          <a:prstGeom prst="rect">
            <a:avLst/>
          </a:prstGeom>
          <a:noFill/>
          <a:ln/>
        </p:spPr>
        <p:txBody>
          <a:bodyPr wrap="square" lIns="0" tIns="0" rIns="0" bIns="0" rtlCol="0" anchor="t"/>
          <a:lstStyle/>
          <a:p>
            <a:pPr marL="0" indent="0">
              <a:buNone/>
            </a:pPr>
            <a:r>
              <a:rPr lang="en-US" sz="1150" dirty="0">
                <a:solidFill>
                  <a:srgbClr val="5B6478"/>
                </a:solidFill>
                <a:latin typeface="Calibri" pitchFamily="34" charset="0"/>
                <a:ea typeface="Calibri" pitchFamily="34" charset="-122"/>
                <a:cs typeface="Calibri" pitchFamily="34" charset="-120"/>
              </a:rPr>
              <a:t>Follow your institution's rules on AI use in assignments and exams</a:t>
            </a:r>
            <a:endParaRPr lang="en-US" sz="1150" dirty="0"/>
          </a:p>
        </p:txBody>
      </p:sp>
      <p:sp>
        <p:nvSpPr>
          <p:cNvPr id="10" name="Shape 7"/>
          <p:cNvSpPr/>
          <p:nvPr/>
        </p:nvSpPr>
        <p:spPr>
          <a:xfrm>
            <a:off x="4663440" y="1463040"/>
            <a:ext cx="4023360" cy="1371600"/>
          </a:xfrm>
          <a:prstGeom prst="roundRect">
            <a:avLst>
              <a:gd name="adj" fmla="val 8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1" name="Shape 8"/>
          <p:cNvSpPr/>
          <p:nvPr/>
        </p:nvSpPr>
        <p:spPr>
          <a:xfrm>
            <a:off x="4892040" y="1828800"/>
            <a:ext cx="640080" cy="640080"/>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5052060" y="1988820"/>
            <a:ext cx="320040" cy="320040"/>
          </a:xfrm>
          <a:prstGeom prst="rect">
            <a:avLst/>
          </a:prstGeom>
        </p:spPr>
      </p:pic>
      <p:sp>
        <p:nvSpPr>
          <p:cNvPr id="13" name="Text 9"/>
          <p:cNvSpPr txBox="1"/>
          <p:nvPr/>
        </p:nvSpPr>
        <p:spPr>
          <a:xfrm>
            <a:off x="5715000" y="1737360"/>
            <a:ext cx="2743200" cy="365760"/>
          </a:xfrm>
          <a:prstGeom prst="rect">
            <a:avLst/>
          </a:prstGeom>
          <a:noFill/>
          <a:ln/>
        </p:spPr>
        <p:txBody>
          <a:bodyPr wrap="square" lIns="0" tIns="0" rIns="0" bIns="0" rtlCol="0" anchor="t"/>
          <a:lstStyle/>
          <a:p>
            <a:pPr marL="0" indent="0">
              <a:buNone/>
            </a:pPr>
            <a:r>
              <a:rPr lang="en-US" sz="1550" b="1" dirty="0">
                <a:solidFill>
                  <a:srgbClr val="0F1B3D"/>
                </a:solidFill>
                <a:latin typeface="Calibri" pitchFamily="34" charset="0"/>
                <a:ea typeface="Calibri" pitchFamily="34" charset="-122"/>
                <a:cs typeface="Calibri" pitchFamily="34" charset="-120"/>
              </a:rPr>
              <a:t>Privacy &amp; sensitive info</a:t>
            </a:r>
            <a:endParaRPr lang="en-US" sz="1550" dirty="0"/>
          </a:p>
        </p:txBody>
      </p:sp>
      <p:sp>
        <p:nvSpPr>
          <p:cNvPr id="14" name="Text 10"/>
          <p:cNvSpPr txBox="1"/>
          <p:nvPr/>
        </p:nvSpPr>
        <p:spPr>
          <a:xfrm>
            <a:off x="5715000" y="2148840"/>
            <a:ext cx="2788920" cy="594360"/>
          </a:xfrm>
          <a:prstGeom prst="rect">
            <a:avLst/>
          </a:prstGeom>
          <a:noFill/>
          <a:ln/>
        </p:spPr>
        <p:txBody>
          <a:bodyPr wrap="square" lIns="0" tIns="0" rIns="0" bIns="0" rtlCol="0" anchor="t"/>
          <a:lstStyle/>
          <a:p>
            <a:pPr marL="0" indent="0">
              <a:buNone/>
            </a:pPr>
            <a:r>
              <a:rPr lang="en-US" sz="1150" dirty="0">
                <a:solidFill>
                  <a:srgbClr val="5B6478"/>
                </a:solidFill>
                <a:latin typeface="Calibri" pitchFamily="34" charset="0"/>
                <a:ea typeface="Calibri" pitchFamily="34" charset="-122"/>
                <a:cs typeface="Calibri" pitchFamily="34" charset="-120"/>
              </a:rPr>
              <a:t>Never paste personal, confidential or private data into AI tools</a:t>
            </a:r>
            <a:endParaRPr lang="en-US" sz="1150" dirty="0"/>
          </a:p>
        </p:txBody>
      </p:sp>
      <p:sp>
        <p:nvSpPr>
          <p:cNvPr id="15" name="Shape 11"/>
          <p:cNvSpPr/>
          <p:nvPr/>
        </p:nvSpPr>
        <p:spPr>
          <a:xfrm>
            <a:off x="457200" y="3017520"/>
            <a:ext cx="4023360" cy="1371600"/>
          </a:xfrm>
          <a:prstGeom prst="roundRect">
            <a:avLst>
              <a:gd name="adj" fmla="val 8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6" name="Shape 12"/>
          <p:cNvSpPr/>
          <p:nvPr/>
        </p:nvSpPr>
        <p:spPr>
          <a:xfrm>
            <a:off x="685800" y="3383280"/>
            <a:ext cx="640080" cy="640080"/>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845820" y="3543300"/>
            <a:ext cx="320040" cy="320040"/>
          </a:xfrm>
          <a:prstGeom prst="rect">
            <a:avLst/>
          </a:prstGeom>
        </p:spPr>
      </p:pic>
      <p:sp>
        <p:nvSpPr>
          <p:cNvPr id="18" name="Text 13"/>
          <p:cNvSpPr txBox="1"/>
          <p:nvPr/>
        </p:nvSpPr>
        <p:spPr>
          <a:xfrm>
            <a:off x="1508760" y="3291840"/>
            <a:ext cx="2743200" cy="365760"/>
          </a:xfrm>
          <a:prstGeom prst="rect">
            <a:avLst/>
          </a:prstGeom>
          <a:noFill/>
          <a:ln/>
        </p:spPr>
        <p:txBody>
          <a:bodyPr wrap="square" lIns="0" tIns="0" rIns="0" bIns="0" rtlCol="0" anchor="t"/>
          <a:lstStyle/>
          <a:p>
            <a:pPr marL="0" indent="0">
              <a:buNone/>
            </a:pPr>
            <a:r>
              <a:rPr lang="en-US" sz="1550" b="1" dirty="0">
                <a:solidFill>
                  <a:srgbClr val="0F1B3D"/>
                </a:solidFill>
                <a:latin typeface="Calibri" pitchFamily="34" charset="0"/>
                <a:ea typeface="Calibri" pitchFamily="34" charset="-122"/>
                <a:cs typeface="Calibri" pitchFamily="34" charset="-120"/>
              </a:rPr>
              <a:t>Verification</a:t>
            </a:r>
            <a:endParaRPr lang="en-US" sz="1550" dirty="0"/>
          </a:p>
        </p:txBody>
      </p:sp>
      <p:sp>
        <p:nvSpPr>
          <p:cNvPr id="19" name="Text 14"/>
          <p:cNvSpPr txBox="1"/>
          <p:nvPr/>
        </p:nvSpPr>
        <p:spPr>
          <a:xfrm>
            <a:off x="1508760" y="3703320"/>
            <a:ext cx="2788920" cy="594360"/>
          </a:xfrm>
          <a:prstGeom prst="rect">
            <a:avLst/>
          </a:prstGeom>
          <a:noFill/>
          <a:ln/>
        </p:spPr>
        <p:txBody>
          <a:bodyPr wrap="square" lIns="0" tIns="0" rIns="0" bIns="0" rtlCol="0" anchor="t"/>
          <a:lstStyle/>
          <a:p>
            <a:pPr marL="0" indent="0">
              <a:buNone/>
            </a:pPr>
            <a:r>
              <a:rPr lang="en-US" sz="1150" dirty="0">
                <a:solidFill>
                  <a:srgbClr val="5B6478"/>
                </a:solidFill>
                <a:latin typeface="Calibri" pitchFamily="34" charset="0"/>
                <a:ea typeface="Calibri" pitchFamily="34" charset="-122"/>
                <a:cs typeface="Calibri" pitchFamily="34" charset="-120"/>
              </a:rPr>
              <a:t>Always verify AI-generated content before you rely on or submit it</a:t>
            </a:r>
            <a:endParaRPr lang="en-US" sz="1150" dirty="0"/>
          </a:p>
        </p:txBody>
      </p:sp>
      <p:sp>
        <p:nvSpPr>
          <p:cNvPr id="20" name="Shape 15"/>
          <p:cNvSpPr/>
          <p:nvPr/>
        </p:nvSpPr>
        <p:spPr>
          <a:xfrm>
            <a:off x="4663440" y="3017520"/>
            <a:ext cx="4023360" cy="1371600"/>
          </a:xfrm>
          <a:prstGeom prst="roundRect">
            <a:avLst>
              <a:gd name="adj" fmla="val 8000"/>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1" name="Shape 16"/>
          <p:cNvSpPr/>
          <p:nvPr/>
        </p:nvSpPr>
        <p:spPr>
          <a:xfrm>
            <a:off x="4892040" y="3383280"/>
            <a:ext cx="640080" cy="640080"/>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5052060" y="3543300"/>
            <a:ext cx="320040" cy="320040"/>
          </a:xfrm>
          <a:prstGeom prst="rect">
            <a:avLst/>
          </a:prstGeom>
        </p:spPr>
      </p:pic>
      <p:sp>
        <p:nvSpPr>
          <p:cNvPr id="23" name="Text 17"/>
          <p:cNvSpPr txBox="1"/>
          <p:nvPr/>
        </p:nvSpPr>
        <p:spPr>
          <a:xfrm>
            <a:off x="5715000" y="3291840"/>
            <a:ext cx="2743200" cy="365760"/>
          </a:xfrm>
          <a:prstGeom prst="rect">
            <a:avLst/>
          </a:prstGeom>
          <a:noFill/>
          <a:ln/>
        </p:spPr>
        <p:txBody>
          <a:bodyPr wrap="square" lIns="0" tIns="0" rIns="0" bIns="0" rtlCol="0" anchor="t"/>
          <a:lstStyle/>
          <a:p>
            <a:pPr marL="0" indent="0">
              <a:buNone/>
            </a:pPr>
            <a:r>
              <a:rPr lang="en-US" sz="1550" b="1" dirty="0">
                <a:solidFill>
                  <a:srgbClr val="0F1B3D"/>
                </a:solidFill>
                <a:latin typeface="Calibri" pitchFamily="34" charset="0"/>
                <a:ea typeface="Calibri" pitchFamily="34" charset="-122"/>
                <a:cs typeface="Calibri" pitchFamily="34" charset="-120"/>
              </a:rPr>
              <a:t>Appropriate academic use</a:t>
            </a:r>
            <a:endParaRPr lang="en-US" sz="1550" dirty="0"/>
          </a:p>
        </p:txBody>
      </p:sp>
      <p:sp>
        <p:nvSpPr>
          <p:cNvPr id="24" name="Text 18"/>
          <p:cNvSpPr txBox="1"/>
          <p:nvPr/>
        </p:nvSpPr>
        <p:spPr>
          <a:xfrm>
            <a:off x="5715000" y="3703320"/>
            <a:ext cx="2788920" cy="594360"/>
          </a:xfrm>
          <a:prstGeom prst="rect">
            <a:avLst/>
          </a:prstGeom>
          <a:noFill/>
          <a:ln/>
        </p:spPr>
        <p:txBody>
          <a:bodyPr wrap="square" lIns="0" tIns="0" rIns="0" bIns="0" rtlCol="0" anchor="t"/>
          <a:lstStyle/>
          <a:p>
            <a:pPr marL="0" indent="0">
              <a:buNone/>
            </a:pPr>
            <a:r>
              <a:rPr lang="en-US" sz="1150" dirty="0">
                <a:solidFill>
                  <a:srgbClr val="5B6478"/>
                </a:solidFill>
                <a:latin typeface="Calibri" pitchFamily="34" charset="0"/>
                <a:ea typeface="Calibri" pitchFamily="34" charset="-122"/>
                <a:cs typeface="Calibri" pitchFamily="34" charset="-120"/>
              </a:rPr>
              <a:t>Use AI to learn and improve, not to bypass the learning itself</a:t>
            </a:r>
            <a:endParaRPr lang="en-US" sz="1150" dirty="0"/>
          </a:p>
        </p:txBody>
      </p:sp>
      <p:sp>
        <p:nvSpPr>
          <p:cNvPr id="25" name="Text 19"/>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26" name="Text 20"/>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94360"/>
            <a:ext cx="1965960"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548640" y="594360"/>
            <a:ext cx="1965960"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INTERACTIVE ACTIVITY</a:t>
            </a:r>
            <a:endParaRPr lang="en-US" sz="1050" dirty="0"/>
          </a:p>
        </p:txBody>
      </p:sp>
      <p:sp>
        <p:nvSpPr>
          <p:cNvPr id="4" name="Text 2"/>
          <p:cNvSpPr txBox="1"/>
          <p:nvPr/>
        </p:nvSpPr>
        <p:spPr>
          <a:xfrm>
            <a:off x="548640" y="1097280"/>
            <a:ext cx="4754880" cy="6400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Fix the Prompt</a:t>
            </a:r>
            <a:endParaRPr lang="en-US" sz="3200" dirty="0"/>
          </a:p>
        </p:txBody>
      </p:sp>
      <p:sp>
        <p:nvSpPr>
          <p:cNvPr id="5" name="Shape 3"/>
          <p:cNvSpPr/>
          <p:nvPr/>
        </p:nvSpPr>
        <p:spPr>
          <a:xfrm>
            <a:off x="548640" y="1874520"/>
            <a:ext cx="4480560" cy="914400"/>
          </a:xfrm>
          <a:prstGeom prst="roundRect">
            <a:avLst>
              <a:gd name="adj" fmla="val 14000"/>
            </a:avLst>
          </a:prstGeom>
          <a:solidFill>
            <a:srgbClr val="1C2D5E"/>
          </a:solidFill>
          <a:ln w="9525">
            <a:solidFill>
              <a:srgbClr val="3A4E96"/>
            </a:solidFill>
            <a:prstDash val="solid"/>
          </a:ln>
        </p:spPr>
      </p:sp>
      <p:sp>
        <p:nvSpPr>
          <p:cNvPr id="6" name="Text 4"/>
          <p:cNvSpPr txBox="1"/>
          <p:nvPr/>
        </p:nvSpPr>
        <p:spPr>
          <a:xfrm>
            <a:off x="777240" y="2029968"/>
            <a:ext cx="4023360" cy="228600"/>
          </a:xfrm>
          <a:prstGeom prst="rect">
            <a:avLst/>
          </a:prstGeom>
          <a:noFill/>
          <a:ln/>
        </p:spPr>
        <p:txBody>
          <a:bodyPr wrap="square" lIns="0" tIns="0" rIns="0" bIns="0" rtlCol="0" anchor="t"/>
          <a:lstStyle/>
          <a:p>
            <a:pPr marL="0" indent="0">
              <a:buNone/>
            </a:pPr>
            <a:r>
              <a:rPr lang="en-US" sz="1050" b="1" kern="0" spc="200" dirty="0">
                <a:solidFill>
                  <a:srgbClr val="E9B44C"/>
                </a:solidFill>
                <a:latin typeface="Calibri" pitchFamily="34" charset="0"/>
                <a:ea typeface="Calibri" pitchFamily="34" charset="-122"/>
                <a:cs typeface="Calibri" pitchFamily="34" charset="-120"/>
              </a:rPr>
              <a:t>STARTING PROMPT</a:t>
            </a:r>
            <a:endParaRPr lang="en-US" sz="1050" dirty="0"/>
          </a:p>
        </p:txBody>
      </p:sp>
      <p:sp>
        <p:nvSpPr>
          <p:cNvPr id="7" name="Text 5"/>
          <p:cNvSpPr txBox="1"/>
          <p:nvPr/>
        </p:nvSpPr>
        <p:spPr>
          <a:xfrm>
            <a:off x="777240" y="2286000"/>
            <a:ext cx="402336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“Write about renewable energy”</a:t>
            </a:r>
            <a:endParaRPr lang="en-US" sz="1600" dirty="0"/>
          </a:p>
        </p:txBody>
      </p:sp>
      <p:sp>
        <p:nvSpPr>
          <p:cNvPr id="8" name="Text 6"/>
          <p:cNvSpPr txBox="1"/>
          <p:nvPr/>
        </p:nvSpPr>
        <p:spPr>
          <a:xfrm>
            <a:off x="548640" y="2926080"/>
            <a:ext cx="4572000" cy="365760"/>
          </a:xfrm>
          <a:prstGeom prst="rect">
            <a:avLst/>
          </a:prstGeom>
          <a:noFill/>
          <a:ln/>
        </p:spPr>
        <p:txBody>
          <a:bodyPr wrap="square" lIns="0" tIns="0" rIns="0" bIns="0" rtlCol="0" anchor="t"/>
          <a:lstStyle/>
          <a:p>
            <a:pPr marL="0" indent="0">
              <a:buNone/>
            </a:pPr>
            <a:r>
              <a:rPr lang="en-US" sz="1300" b="1" dirty="0">
                <a:solidFill>
                  <a:srgbClr val="E9B44C"/>
                </a:solidFill>
                <a:latin typeface="Calibri" pitchFamily="34" charset="0"/>
                <a:ea typeface="Calibri" pitchFamily="34" charset="-122"/>
                <a:cs typeface="Calibri" pitchFamily="34" charset="-120"/>
              </a:rPr>
              <a:t>1   </a:t>
            </a:r>
            <a:r>
              <a:rPr lang="en-US" sz="1300" dirty="0">
                <a:solidFill>
                  <a:srgbClr val="C9D3EE"/>
                </a:solidFill>
                <a:latin typeface="Calibri" pitchFamily="34" charset="0"/>
                <a:ea typeface="Calibri" pitchFamily="34" charset="-122"/>
                <a:cs typeface="Calibri" pitchFamily="34" charset="-120"/>
              </a:rPr>
              <a:t>Add context, a role or constraints</a:t>
            </a:r>
            <a:endParaRPr lang="en-US" sz="1300" dirty="0"/>
          </a:p>
        </p:txBody>
      </p:sp>
      <p:sp>
        <p:nvSpPr>
          <p:cNvPr id="9" name="Text 7"/>
          <p:cNvSpPr txBox="1"/>
          <p:nvPr/>
        </p:nvSpPr>
        <p:spPr>
          <a:xfrm>
            <a:off x="548640" y="3319272"/>
            <a:ext cx="4572000" cy="365760"/>
          </a:xfrm>
          <a:prstGeom prst="rect">
            <a:avLst/>
          </a:prstGeom>
          <a:noFill/>
          <a:ln/>
        </p:spPr>
        <p:txBody>
          <a:bodyPr wrap="square" lIns="0" tIns="0" rIns="0" bIns="0" rtlCol="0" anchor="t"/>
          <a:lstStyle/>
          <a:p>
            <a:pPr marL="0" indent="0">
              <a:buNone/>
            </a:pPr>
            <a:r>
              <a:rPr lang="en-US" sz="1300" b="1" dirty="0">
                <a:solidFill>
                  <a:srgbClr val="E9B44C"/>
                </a:solidFill>
                <a:latin typeface="Calibri" pitchFamily="34" charset="0"/>
                <a:ea typeface="Calibri" pitchFamily="34" charset="-122"/>
                <a:cs typeface="Calibri" pitchFamily="34" charset="-120"/>
              </a:rPr>
              <a:t>2   </a:t>
            </a:r>
            <a:r>
              <a:rPr lang="en-US" sz="1300" dirty="0">
                <a:solidFill>
                  <a:srgbClr val="C9D3EE"/>
                </a:solidFill>
                <a:latin typeface="Calibri" pitchFamily="34" charset="0"/>
                <a:ea typeface="Calibri" pitchFamily="34" charset="-122"/>
                <a:cs typeface="Calibri" pitchFamily="34" charset="-120"/>
              </a:rPr>
              <a:t>Specify the output format you want</a:t>
            </a:r>
            <a:endParaRPr lang="en-US" sz="1300" dirty="0"/>
          </a:p>
        </p:txBody>
      </p:sp>
      <p:sp>
        <p:nvSpPr>
          <p:cNvPr id="10" name="Text 8"/>
          <p:cNvSpPr txBox="1"/>
          <p:nvPr/>
        </p:nvSpPr>
        <p:spPr>
          <a:xfrm>
            <a:off x="548640" y="3712464"/>
            <a:ext cx="4572000" cy="365760"/>
          </a:xfrm>
          <a:prstGeom prst="rect">
            <a:avLst/>
          </a:prstGeom>
          <a:noFill/>
          <a:ln/>
        </p:spPr>
        <p:txBody>
          <a:bodyPr wrap="square" lIns="0" tIns="0" rIns="0" bIns="0" rtlCol="0" anchor="t"/>
          <a:lstStyle/>
          <a:p>
            <a:pPr marL="0" indent="0">
              <a:buNone/>
            </a:pPr>
            <a:r>
              <a:rPr lang="en-US" sz="1300" b="1" dirty="0">
                <a:solidFill>
                  <a:srgbClr val="E9B44C"/>
                </a:solidFill>
                <a:latin typeface="Calibri" pitchFamily="34" charset="0"/>
                <a:ea typeface="Calibri" pitchFamily="34" charset="-122"/>
                <a:cs typeface="Calibri" pitchFamily="34" charset="-120"/>
              </a:rPr>
              <a:t>3   </a:t>
            </a:r>
            <a:r>
              <a:rPr lang="en-US" sz="1300" dirty="0">
                <a:solidFill>
                  <a:srgbClr val="C9D3EE"/>
                </a:solidFill>
                <a:latin typeface="Calibri" pitchFamily="34" charset="0"/>
                <a:ea typeface="Calibri" pitchFamily="34" charset="-122"/>
                <a:cs typeface="Calibri" pitchFamily="34" charset="-120"/>
              </a:rPr>
              <a:t>Run it and compare with a partner</a:t>
            </a:r>
            <a:endParaRPr lang="en-US" sz="1300" dirty="0"/>
          </a:p>
        </p:txBody>
      </p:sp>
      <p:sp>
        <p:nvSpPr>
          <p:cNvPr id="11" name="Text 9"/>
          <p:cNvSpPr txBox="1"/>
          <p:nvPr/>
        </p:nvSpPr>
        <p:spPr>
          <a:xfrm>
            <a:off x="548640" y="4105656"/>
            <a:ext cx="4572000" cy="365760"/>
          </a:xfrm>
          <a:prstGeom prst="rect">
            <a:avLst/>
          </a:prstGeom>
          <a:noFill/>
          <a:ln/>
        </p:spPr>
        <p:txBody>
          <a:bodyPr wrap="square" lIns="0" tIns="0" rIns="0" bIns="0" rtlCol="0" anchor="t"/>
          <a:lstStyle/>
          <a:p>
            <a:pPr marL="0" indent="0">
              <a:buNone/>
            </a:pPr>
            <a:r>
              <a:rPr lang="en-US" sz="1300" b="1" dirty="0">
                <a:solidFill>
                  <a:srgbClr val="E9B44C"/>
                </a:solidFill>
                <a:latin typeface="Calibri" pitchFamily="34" charset="0"/>
                <a:ea typeface="Calibri" pitchFamily="34" charset="-122"/>
                <a:cs typeface="Calibri" pitchFamily="34" charset="-120"/>
              </a:rPr>
              <a:t>4   </a:t>
            </a:r>
            <a:r>
              <a:rPr lang="en-US" sz="1300" dirty="0">
                <a:solidFill>
                  <a:srgbClr val="C9D3EE"/>
                </a:solidFill>
                <a:latin typeface="Calibri" pitchFamily="34" charset="0"/>
                <a:ea typeface="Calibri" pitchFamily="34" charset="-122"/>
                <a:cs typeface="Calibri" pitchFamily="34" charset="-120"/>
              </a:rPr>
              <a:t>Refine once more based on the result</a:t>
            </a:r>
            <a:endParaRPr lang="en-US" sz="1300" dirty="0"/>
          </a:p>
        </p:txBody>
      </p:sp>
      <p:pic>
        <p:nvPicPr>
          <p:cNvPr id="12" name="Image 0" descr="/home/claude/assets/ai_divider.png"/>
          <p:cNvPicPr>
            <a:picLocks noChangeAspect="1"/>
          </p:cNvPicPr>
          <p:nvPr/>
        </p:nvPicPr>
        <p:blipFill>
          <a:blip r:embed="rId4"/>
          <a:stretch>
            <a:fillRect/>
          </a:stretch>
        </p:blipFill>
        <p:spPr>
          <a:xfrm>
            <a:off x="5440680" y="365760"/>
            <a:ext cx="3511296" cy="43891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800100" cy="274320"/>
          </a:xfrm>
          <a:prstGeom prst="roundRect">
            <a:avLst>
              <a:gd name="adj" fmla="val 50000"/>
            </a:avLst>
          </a:prstGeom>
          <a:solidFill>
            <a:srgbClr val="E9B44C"/>
          </a:solidFill>
          <a:ln w="6350">
            <a:solidFill>
              <a:srgbClr val="E9B44C"/>
            </a:solidFill>
            <a:prstDash val="solid"/>
          </a:ln>
        </p:spPr>
      </p:sp>
      <p:sp>
        <p:nvSpPr>
          <p:cNvPr id="3" name="Text 1"/>
          <p:cNvSpPr txBox="1"/>
          <p:nvPr/>
        </p:nvSpPr>
        <p:spPr>
          <a:xfrm>
            <a:off x="457200" y="347472"/>
            <a:ext cx="800100" cy="274320"/>
          </a:xfrm>
          <a:prstGeom prst="rect">
            <a:avLst/>
          </a:prstGeom>
          <a:noFill/>
          <a:ln/>
        </p:spPr>
        <p:txBody>
          <a:bodyPr wrap="square" lIns="0" tIns="0" rIns="0" bIns="0" rtlCol="0" anchor="ctr"/>
          <a:lstStyle/>
          <a:p>
            <a:pPr marL="0" indent="0" algn="ctr">
              <a:buNone/>
            </a:pPr>
            <a:r>
              <a:rPr lang="en-US" sz="1050" b="1" kern="0" spc="200" dirty="0">
                <a:solidFill>
                  <a:srgbClr val="0F1B3D"/>
                </a:solidFill>
                <a:latin typeface="Calibri" pitchFamily="34" charset="0"/>
                <a:ea typeface="Calibri" pitchFamily="34" charset="-122"/>
                <a:cs typeface="Calibri" pitchFamily="34" charset="-120"/>
              </a:rPr>
              <a:t>RECAP</a:t>
            </a:r>
            <a:endParaRPr lang="en-US" sz="1050" dirty="0"/>
          </a:p>
        </p:txBody>
      </p:sp>
      <p:sp>
        <p:nvSpPr>
          <p:cNvPr id="4" name="Text 2"/>
          <p:cNvSpPr txBox="1"/>
          <p:nvPr/>
        </p:nvSpPr>
        <p:spPr>
          <a:xfrm>
            <a:off x="457200" y="713232"/>
            <a:ext cx="8229600" cy="640080"/>
          </a:xfrm>
          <a:prstGeom prst="rect">
            <a:avLst/>
          </a:prstGeom>
          <a:noFill/>
          <a:ln/>
        </p:spPr>
        <p:txBody>
          <a:bodyPr wrap="square" lIns="0" tIns="0" rIns="0" bIns="0" rtlCol="0" anchor="ctr"/>
          <a:lstStyle/>
          <a:p>
            <a:pPr marL="0" indent="0">
              <a:buNone/>
            </a:pPr>
            <a:r>
              <a:rPr lang="en-US" sz="2900" b="1" dirty="0">
                <a:solidFill>
                  <a:srgbClr val="0F1B3D"/>
                </a:solidFill>
                <a:latin typeface="Cambria" pitchFamily="34" charset="0"/>
                <a:ea typeface="Cambria" pitchFamily="34" charset="-122"/>
                <a:cs typeface="Cambria" pitchFamily="34" charset="-120"/>
              </a:rPr>
              <a:t>Key Takeaways</a:t>
            </a:r>
            <a:endParaRPr lang="en-US" sz="2900" dirty="0"/>
          </a:p>
        </p:txBody>
      </p:sp>
      <p:sp>
        <p:nvSpPr>
          <p:cNvPr id="5" name="Shape 3"/>
          <p:cNvSpPr/>
          <p:nvPr/>
        </p:nvSpPr>
        <p:spPr>
          <a:xfrm>
            <a:off x="457200" y="1417320"/>
            <a:ext cx="8229600" cy="566928"/>
          </a:xfrm>
          <a:prstGeom prst="roundRect">
            <a:avLst>
              <a:gd name="adj" fmla="val 19355"/>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6" name="Shape 4"/>
          <p:cNvSpPr/>
          <p:nvPr/>
        </p:nvSpPr>
        <p:spPr>
          <a:xfrm>
            <a:off x="594360" y="1508760"/>
            <a:ext cx="384048" cy="384048"/>
          </a:xfrm>
          <a:prstGeom prst="ellipse">
            <a:avLst/>
          </a:prstGeom>
          <a:solidFill>
            <a:srgbClr val="E9B44C"/>
          </a:solidFill>
          <a:ln w="6350">
            <a:solidFill>
              <a:srgbClr val="E9B44C"/>
            </a:solidFill>
            <a:prstDash val="solid"/>
          </a:ln>
        </p:spPr>
      </p:sp>
      <p:pic>
        <p:nvPicPr>
          <p:cNvPr id="7" name="Image 0" descr="preencoded.png"/>
          <p:cNvPicPr>
            <a:picLocks noChangeAspect="1"/>
          </p:cNvPicPr>
          <p:nvPr/>
        </p:nvPicPr>
        <p:blipFill>
          <a:blip r:embed="rId4"/>
          <a:stretch>
            <a:fillRect/>
          </a:stretch>
        </p:blipFill>
        <p:spPr>
          <a:xfrm>
            <a:off x="690372" y="1604772"/>
            <a:ext cx="192024" cy="192024"/>
          </a:xfrm>
          <a:prstGeom prst="rect">
            <a:avLst/>
          </a:prstGeom>
        </p:spPr>
      </p:pic>
      <p:sp>
        <p:nvSpPr>
          <p:cNvPr id="8" name="Text 5"/>
          <p:cNvSpPr txBox="1"/>
          <p:nvPr/>
        </p:nvSpPr>
        <p:spPr>
          <a:xfrm>
            <a:off x="1143000" y="1472184"/>
            <a:ext cx="3383280" cy="457200"/>
          </a:xfrm>
          <a:prstGeom prst="rect">
            <a:avLst/>
          </a:prstGeom>
          <a:noFill/>
          <a:ln/>
        </p:spPr>
        <p:txBody>
          <a:bodyPr wrap="square" lIns="0" tIns="0" rIns="0" bIns="0" rtlCol="0" anchor="ctr"/>
          <a:lstStyle/>
          <a:p>
            <a:pPr marL="0" indent="0">
              <a:buNone/>
            </a:pPr>
            <a:r>
              <a:rPr lang="en-US" sz="1300" b="1" dirty="0">
                <a:solidFill>
                  <a:srgbClr val="0F1B3D"/>
                </a:solidFill>
                <a:latin typeface="Calibri" pitchFamily="34" charset="0"/>
                <a:ea typeface="Calibri" pitchFamily="34" charset="-122"/>
                <a:cs typeface="Calibri" pitchFamily="34" charset="-120"/>
              </a:rPr>
              <a:t>AI contains ML, DL and Generative AI</a:t>
            </a:r>
            <a:endParaRPr lang="en-US" sz="1300" dirty="0"/>
          </a:p>
        </p:txBody>
      </p:sp>
      <p:sp>
        <p:nvSpPr>
          <p:cNvPr id="9" name="Text 6"/>
          <p:cNvSpPr txBox="1"/>
          <p:nvPr/>
        </p:nvSpPr>
        <p:spPr>
          <a:xfrm>
            <a:off x="4572000" y="1417320"/>
            <a:ext cx="3977640" cy="566928"/>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Each is a narrower category inside the one before it</a:t>
            </a:r>
            <a:endParaRPr lang="en-US" sz="1150" dirty="0"/>
          </a:p>
        </p:txBody>
      </p:sp>
      <p:sp>
        <p:nvSpPr>
          <p:cNvPr id="10" name="Shape 7"/>
          <p:cNvSpPr/>
          <p:nvPr/>
        </p:nvSpPr>
        <p:spPr>
          <a:xfrm>
            <a:off x="457200" y="2075688"/>
            <a:ext cx="8229600" cy="566928"/>
          </a:xfrm>
          <a:prstGeom prst="roundRect">
            <a:avLst>
              <a:gd name="adj" fmla="val 19355"/>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1" name="Shape 8"/>
          <p:cNvSpPr/>
          <p:nvPr/>
        </p:nvSpPr>
        <p:spPr>
          <a:xfrm>
            <a:off x="594360" y="2167128"/>
            <a:ext cx="384048" cy="384048"/>
          </a:xfrm>
          <a:prstGeom prst="ellipse">
            <a:avLst/>
          </a:prstGeom>
          <a:solidFill>
            <a:srgbClr val="22B8A8"/>
          </a:solidFill>
          <a:ln w="6350">
            <a:solidFill>
              <a:srgbClr val="22B8A8"/>
            </a:solidFill>
            <a:prstDash val="solid"/>
          </a:ln>
        </p:spPr>
      </p:sp>
      <p:pic>
        <p:nvPicPr>
          <p:cNvPr id="12" name="Image 1" descr="preencoded.png"/>
          <p:cNvPicPr>
            <a:picLocks noChangeAspect="1"/>
          </p:cNvPicPr>
          <p:nvPr/>
        </p:nvPicPr>
        <p:blipFill>
          <a:blip r:embed="rId5"/>
          <a:stretch>
            <a:fillRect/>
          </a:stretch>
        </p:blipFill>
        <p:spPr>
          <a:xfrm>
            <a:off x="690372" y="2263140"/>
            <a:ext cx="192024" cy="192024"/>
          </a:xfrm>
          <a:prstGeom prst="rect">
            <a:avLst/>
          </a:prstGeom>
        </p:spPr>
      </p:pic>
      <p:sp>
        <p:nvSpPr>
          <p:cNvPr id="13" name="Text 9"/>
          <p:cNvSpPr txBox="1"/>
          <p:nvPr/>
        </p:nvSpPr>
        <p:spPr>
          <a:xfrm>
            <a:off x="1143000" y="2130552"/>
            <a:ext cx="3383280" cy="457200"/>
          </a:xfrm>
          <a:prstGeom prst="rect">
            <a:avLst/>
          </a:prstGeom>
          <a:noFill/>
          <a:ln/>
        </p:spPr>
        <p:txBody>
          <a:bodyPr wrap="square" lIns="0" tIns="0" rIns="0" bIns="0" rtlCol="0" anchor="ctr"/>
          <a:lstStyle/>
          <a:p>
            <a:pPr marL="0" indent="0">
              <a:buNone/>
            </a:pPr>
            <a:r>
              <a:rPr lang="en-US" sz="1300" b="1" dirty="0">
                <a:solidFill>
                  <a:srgbClr val="0F1B3D"/>
                </a:solidFill>
                <a:latin typeface="Calibri" pitchFamily="34" charset="0"/>
                <a:ea typeface="Calibri" pitchFamily="34" charset="-122"/>
                <a:cs typeface="Calibri" pitchFamily="34" charset="-120"/>
              </a:rPr>
              <a:t>LLMs predict text one token at a time</a:t>
            </a:r>
            <a:endParaRPr lang="en-US" sz="1300" dirty="0"/>
          </a:p>
        </p:txBody>
      </p:sp>
      <p:sp>
        <p:nvSpPr>
          <p:cNvPr id="14" name="Text 10"/>
          <p:cNvSpPr txBox="1"/>
          <p:nvPr/>
        </p:nvSpPr>
        <p:spPr>
          <a:xfrm>
            <a:off x="4572000" y="2075688"/>
            <a:ext cx="3977640" cy="566928"/>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Using patterns learned during training, within a context window</a:t>
            </a:r>
            <a:endParaRPr lang="en-US" sz="1150" dirty="0"/>
          </a:p>
        </p:txBody>
      </p:sp>
      <p:sp>
        <p:nvSpPr>
          <p:cNvPr id="15" name="Shape 11"/>
          <p:cNvSpPr/>
          <p:nvPr/>
        </p:nvSpPr>
        <p:spPr>
          <a:xfrm>
            <a:off x="457200" y="2734056"/>
            <a:ext cx="8229600" cy="566928"/>
          </a:xfrm>
          <a:prstGeom prst="roundRect">
            <a:avLst>
              <a:gd name="adj" fmla="val 19355"/>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16" name="Shape 12"/>
          <p:cNvSpPr/>
          <p:nvPr/>
        </p:nvSpPr>
        <p:spPr>
          <a:xfrm>
            <a:off x="594360" y="2825496"/>
            <a:ext cx="384048" cy="384048"/>
          </a:xfrm>
          <a:prstGeom prst="ellipse">
            <a:avLst/>
          </a:prstGeom>
          <a:solidFill>
            <a:srgbClr val="F26B5B"/>
          </a:solidFill>
          <a:ln w="6350">
            <a:solidFill>
              <a:srgbClr val="F26B5B"/>
            </a:solidFill>
            <a:prstDash val="solid"/>
          </a:ln>
        </p:spPr>
      </p:sp>
      <p:pic>
        <p:nvPicPr>
          <p:cNvPr id="17" name="Image 2" descr="preencoded.png"/>
          <p:cNvPicPr>
            <a:picLocks noChangeAspect="1"/>
          </p:cNvPicPr>
          <p:nvPr/>
        </p:nvPicPr>
        <p:blipFill>
          <a:blip r:embed="rId6"/>
          <a:stretch>
            <a:fillRect/>
          </a:stretch>
        </p:blipFill>
        <p:spPr>
          <a:xfrm>
            <a:off x="690372" y="2921508"/>
            <a:ext cx="192024" cy="192024"/>
          </a:xfrm>
          <a:prstGeom prst="rect">
            <a:avLst/>
          </a:prstGeom>
        </p:spPr>
      </p:pic>
      <p:sp>
        <p:nvSpPr>
          <p:cNvPr id="18" name="Text 13"/>
          <p:cNvSpPr txBox="1"/>
          <p:nvPr/>
        </p:nvSpPr>
        <p:spPr>
          <a:xfrm>
            <a:off x="1143000" y="2788920"/>
            <a:ext cx="3383280" cy="457200"/>
          </a:xfrm>
          <a:prstGeom prst="rect">
            <a:avLst/>
          </a:prstGeom>
          <a:noFill/>
          <a:ln/>
        </p:spPr>
        <p:txBody>
          <a:bodyPr wrap="square" lIns="0" tIns="0" rIns="0" bIns="0" rtlCol="0" anchor="ctr"/>
          <a:lstStyle/>
          <a:p>
            <a:pPr marL="0" indent="0">
              <a:buNone/>
            </a:pPr>
            <a:r>
              <a:rPr lang="en-US" sz="1300" b="1" dirty="0">
                <a:solidFill>
                  <a:srgbClr val="0F1B3D"/>
                </a:solidFill>
                <a:latin typeface="Calibri" pitchFamily="34" charset="0"/>
                <a:ea typeface="Calibri" pitchFamily="34" charset="-122"/>
                <a:cs typeface="Calibri" pitchFamily="34" charset="-120"/>
              </a:rPr>
              <a:t>Good prompts give context and format</a:t>
            </a:r>
            <a:endParaRPr lang="en-US" sz="1300" dirty="0"/>
          </a:p>
        </p:txBody>
      </p:sp>
      <p:sp>
        <p:nvSpPr>
          <p:cNvPr id="19" name="Text 14"/>
          <p:cNvSpPr txBox="1"/>
          <p:nvPr/>
        </p:nvSpPr>
        <p:spPr>
          <a:xfrm>
            <a:off x="4572000" y="2734056"/>
            <a:ext cx="3977640" cy="566928"/>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Task, context, role, constraints and output format all help</a:t>
            </a:r>
            <a:endParaRPr lang="en-US" sz="1150" dirty="0"/>
          </a:p>
        </p:txBody>
      </p:sp>
      <p:sp>
        <p:nvSpPr>
          <p:cNvPr id="20" name="Shape 15"/>
          <p:cNvSpPr/>
          <p:nvPr/>
        </p:nvSpPr>
        <p:spPr>
          <a:xfrm>
            <a:off x="457200" y="3392424"/>
            <a:ext cx="8229600" cy="566928"/>
          </a:xfrm>
          <a:prstGeom prst="roundRect">
            <a:avLst>
              <a:gd name="adj" fmla="val 19355"/>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1" name="Shape 16"/>
          <p:cNvSpPr/>
          <p:nvPr/>
        </p:nvSpPr>
        <p:spPr>
          <a:xfrm>
            <a:off x="594360" y="3483864"/>
            <a:ext cx="384048" cy="384048"/>
          </a:xfrm>
          <a:prstGeom prst="ellipse">
            <a:avLst/>
          </a:prstGeom>
          <a:solidFill>
            <a:srgbClr val="6C63FF"/>
          </a:solidFill>
          <a:ln w="6350">
            <a:solidFill>
              <a:srgbClr val="6C63FF"/>
            </a:solidFill>
            <a:prstDash val="solid"/>
          </a:ln>
        </p:spPr>
      </p:sp>
      <p:pic>
        <p:nvPicPr>
          <p:cNvPr id="22" name="Image 3" descr="preencoded.png"/>
          <p:cNvPicPr>
            <a:picLocks noChangeAspect="1"/>
          </p:cNvPicPr>
          <p:nvPr/>
        </p:nvPicPr>
        <p:blipFill>
          <a:blip r:embed="rId7"/>
          <a:stretch>
            <a:fillRect/>
          </a:stretch>
        </p:blipFill>
        <p:spPr>
          <a:xfrm>
            <a:off x="690372" y="3579876"/>
            <a:ext cx="192024" cy="192024"/>
          </a:xfrm>
          <a:prstGeom prst="rect">
            <a:avLst/>
          </a:prstGeom>
        </p:spPr>
      </p:pic>
      <p:sp>
        <p:nvSpPr>
          <p:cNvPr id="23" name="Text 17"/>
          <p:cNvSpPr txBox="1"/>
          <p:nvPr/>
        </p:nvSpPr>
        <p:spPr>
          <a:xfrm>
            <a:off x="1143000" y="3447288"/>
            <a:ext cx="3383280" cy="457200"/>
          </a:xfrm>
          <a:prstGeom prst="rect">
            <a:avLst/>
          </a:prstGeom>
          <a:noFill/>
          <a:ln/>
        </p:spPr>
        <p:txBody>
          <a:bodyPr wrap="square" lIns="0" tIns="0" rIns="0" bIns="0" rtlCol="0" anchor="ctr"/>
          <a:lstStyle/>
          <a:p>
            <a:pPr marL="0" indent="0">
              <a:buNone/>
            </a:pPr>
            <a:r>
              <a:rPr lang="en-US" sz="1300" b="1" dirty="0">
                <a:solidFill>
                  <a:srgbClr val="0F1B3D"/>
                </a:solidFill>
                <a:latin typeface="Calibri" pitchFamily="34" charset="0"/>
                <a:ea typeface="Calibri" pitchFamily="34" charset="-122"/>
                <a:cs typeface="Calibri" pitchFamily="34" charset="-120"/>
              </a:rPr>
              <a:t>AI can be confidently wrong</a:t>
            </a:r>
            <a:endParaRPr lang="en-US" sz="1300" dirty="0"/>
          </a:p>
        </p:txBody>
      </p:sp>
      <p:sp>
        <p:nvSpPr>
          <p:cNvPr id="24" name="Text 18"/>
          <p:cNvSpPr txBox="1"/>
          <p:nvPr/>
        </p:nvSpPr>
        <p:spPr>
          <a:xfrm>
            <a:off x="4572000" y="3392424"/>
            <a:ext cx="3977640" cy="566928"/>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Hallucinations and fabricated citations are real risks</a:t>
            </a:r>
            <a:endParaRPr lang="en-US" sz="1150" dirty="0"/>
          </a:p>
        </p:txBody>
      </p:sp>
      <p:sp>
        <p:nvSpPr>
          <p:cNvPr id="25" name="Shape 19"/>
          <p:cNvSpPr/>
          <p:nvPr/>
        </p:nvSpPr>
        <p:spPr>
          <a:xfrm>
            <a:off x="457200" y="4050792"/>
            <a:ext cx="8229600" cy="566928"/>
          </a:xfrm>
          <a:prstGeom prst="roundRect">
            <a:avLst>
              <a:gd name="adj" fmla="val 19355"/>
            </a:avLst>
          </a:prstGeom>
          <a:solidFill>
            <a:srgbClr val="FFFFFF"/>
          </a:solidFill>
          <a:ln w="9525">
            <a:solidFill>
              <a:srgbClr val="DDE2EE"/>
            </a:solidFill>
            <a:prstDash val="solid"/>
          </a:ln>
          <a:effectLst>
            <a:outerShdw blurRad="101600" dist="25400" dir="5400000" algn="bl" rotWithShape="0">
              <a:srgbClr val="000000">
                <a:alpha val="10000"/>
              </a:srgbClr>
            </a:outerShdw>
          </a:effectLst>
        </p:spPr>
      </p:sp>
      <p:sp>
        <p:nvSpPr>
          <p:cNvPr id="26" name="Shape 20"/>
          <p:cNvSpPr/>
          <p:nvPr/>
        </p:nvSpPr>
        <p:spPr>
          <a:xfrm>
            <a:off x="594360" y="4142232"/>
            <a:ext cx="384048" cy="384048"/>
          </a:xfrm>
          <a:prstGeom prst="ellipse">
            <a:avLst/>
          </a:prstGeom>
          <a:solidFill>
            <a:srgbClr val="38A3F5"/>
          </a:solidFill>
          <a:ln w="6350">
            <a:solidFill>
              <a:srgbClr val="38A3F5"/>
            </a:solidFill>
            <a:prstDash val="solid"/>
          </a:ln>
        </p:spPr>
      </p:sp>
      <p:pic>
        <p:nvPicPr>
          <p:cNvPr id="27" name="Image 4" descr="preencoded.png"/>
          <p:cNvPicPr>
            <a:picLocks noChangeAspect="1"/>
          </p:cNvPicPr>
          <p:nvPr/>
        </p:nvPicPr>
        <p:blipFill>
          <a:blip r:embed="rId8"/>
          <a:stretch>
            <a:fillRect/>
          </a:stretch>
        </p:blipFill>
        <p:spPr>
          <a:xfrm>
            <a:off x="690372" y="4238244"/>
            <a:ext cx="192024" cy="192024"/>
          </a:xfrm>
          <a:prstGeom prst="rect">
            <a:avLst/>
          </a:prstGeom>
        </p:spPr>
      </p:pic>
      <p:sp>
        <p:nvSpPr>
          <p:cNvPr id="28" name="Text 21"/>
          <p:cNvSpPr txBox="1"/>
          <p:nvPr/>
        </p:nvSpPr>
        <p:spPr>
          <a:xfrm>
            <a:off x="1143000" y="4105656"/>
            <a:ext cx="3383280" cy="457200"/>
          </a:xfrm>
          <a:prstGeom prst="rect">
            <a:avLst/>
          </a:prstGeom>
          <a:noFill/>
          <a:ln/>
        </p:spPr>
        <p:txBody>
          <a:bodyPr wrap="square" lIns="0" tIns="0" rIns="0" bIns="0" rtlCol="0" anchor="ctr"/>
          <a:lstStyle/>
          <a:p>
            <a:pPr marL="0" indent="0">
              <a:buNone/>
            </a:pPr>
            <a:r>
              <a:rPr lang="en-US" sz="1300" b="1" dirty="0">
                <a:solidFill>
                  <a:srgbClr val="0F1B3D"/>
                </a:solidFill>
                <a:latin typeface="Calibri" pitchFamily="34" charset="0"/>
                <a:ea typeface="Calibri" pitchFamily="34" charset="-122"/>
                <a:cs typeface="Calibri" pitchFamily="34" charset="-120"/>
              </a:rPr>
              <a:t>You are responsible for verification</a:t>
            </a:r>
            <a:endParaRPr lang="en-US" sz="1300" dirty="0"/>
          </a:p>
        </p:txBody>
      </p:sp>
      <p:sp>
        <p:nvSpPr>
          <p:cNvPr id="29" name="Text 22"/>
          <p:cNvSpPr txBox="1"/>
          <p:nvPr/>
        </p:nvSpPr>
        <p:spPr>
          <a:xfrm>
            <a:off x="4572000" y="4050792"/>
            <a:ext cx="3977640" cy="566928"/>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Check facts, respect privacy, and follow academic integrity rules</a:t>
            </a:r>
            <a:endParaRPr lang="en-US" sz="1150" dirty="0"/>
          </a:p>
        </p:txBody>
      </p:sp>
      <p:sp>
        <p:nvSpPr>
          <p:cNvPr id="30" name="Text 23"/>
          <p:cNvSpPr txBox="1"/>
          <p:nvPr/>
        </p:nvSpPr>
        <p:spPr>
          <a:xfrm>
            <a:off x="457200" y="4846320"/>
            <a:ext cx="5486400" cy="201168"/>
          </a:xfrm>
          <a:prstGeom prst="rect">
            <a:avLst/>
          </a:prstGeom>
          <a:noFill/>
          <a:ln/>
        </p:spPr>
        <p:txBody>
          <a:bodyPr wrap="square" lIns="0" tIns="0" rIns="0" bIns="0" rtlCol="0" anchor="t"/>
          <a:lstStyle/>
          <a:p>
            <a:pPr marL="0" indent="0">
              <a:buNone/>
            </a:pPr>
            <a:r>
              <a:rPr lang="en-US" sz="900" dirty="0">
                <a:solidFill>
                  <a:srgbClr val="6B7590"/>
                </a:solidFill>
                <a:latin typeface="Calibri" pitchFamily="34" charset="0"/>
                <a:ea typeface="Calibri" pitchFamily="34" charset="-122"/>
                <a:cs typeface="Calibri" pitchFamily="34" charset="-120"/>
              </a:rPr>
              <a:t>Introduction to AI &amp; Generative AI  |  Session 0</a:t>
            </a:r>
            <a:endParaRPr lang="en-US" sz="900" dirty="0"/>
          </a:p>
        </p:txBody>
      </p:sp>
      <p:sp>
        <p:nvSpPr>
          <p:cNvPr id="31" name="Text 24"/>
          <p:cNvSpPr txBox="1"/>
          <p:nvPr/>
        </p:nvSpPr>
        <p:spPr>
          <a:xfrm>
            <a:off x="8138160" y="4846320"/>
            <a:ext cx="548640" cy="201168"/>
          </a:xfrm>
          <a:prstGeom prst="rect">
            <a:avLst/>
          </a:prstGeom>
          <a:noFill/>
          <a:ln/>
        </p:spPr>
        <p:txBody>
          <a:bodyPr wrap="square" lIns="0" tIns="0" rIns="0" bIns="0" rtlCol="0" anchor="t"/>
          <a:lstStyle/>
          <a:p>
            <a:pPr marL="0" indent="0" algn="r">
              <a:buNone/>
            </a:pPr>
            <a:r>
              <a:rPr lang="en-US" sz="900" dirty="0">
                <a:solidFill>
                  <a:srgbClr val="6B75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457200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txBox="1"/>
          <p:nvPr/>
        </p:nvSpPr>
        <p:spPr>
          <a:xfrm>
            <a:off x="548640" y="1508760"/>
            <a:ext cx="4572000" cy="457200"/>
          </a:xfrm>
          <a:prstGeom prst="rect">
            <a:avLst/>
          </a:prstGeom>
          <a:noFill/>
          <a:ln/>
        </p:spPr>
        <p:txBody>
          <a:bodyPr wrap="square" lIns="0" tIns="0" rIns="0" bIns="0" rtlCol="0" anchor="t"/>
          <a:lstStyle/>
          <a:p>
            <a:pPr marL="0" indent="0">
              <a:buNone/>
            </a:pPr>
            <a:r>
              <a:rPr lang="en-US" sz="1900" b="1" dirty="0">
                <a:solidFill>
                  <a:srgbClr val="E9B44C"/>
                </a:solidFill>
                <a:latin typeface="Calibri" pitchFamily="34" charset="0"/>
                <a:ea typeface="Calibri" pitchFamily="34" charset="-122"/>
                <a:cs typeface="Calibri" pitchFamily="34" charset="-120"/>
              </a:rPr>
              <a:t>Questions and discussion</a:t>
            </a:r>
            <a:endParaRPr lang="en-US" sz="1900" dirty="0"/>
          </a:p>
        </p:txBody>
      </p:sp>
      <p:sp>
        <p:nvSpPr>
          <p:cNvPr id="4" name="Text 2"/>
          <p:cNvSpPr txBox="1"/>
          <p:nvPr/>
        </p:nvSpPr>
        <p:spPr>
          <a:xfrm>
            <a:off x="548640" y="1965960"/>
            <a:ext cx="4480560" cy="457200"/>
          </a:xfrm>
          <a:prstGeom prst="rect">
            <a:avLst/>
          </a:prstGeom>
          <a:noFill/>
          <a:ln/>
        </p:spPr>
        <p:txBody>
          <a:bodyPr wrap="square" lIns="0" tIns="0" rIns="0" bIns="0" rtlCol="0" anchor="t"/>
          <a:lstStyle/>
          <a:p>
            <a:pPr marL="0" indent="0">
              <a:buNone/>
            </a:pPr>
            <a:r>
              <a:rPr lang="en-US" sz="1350" dirty="0">
                <a:solidFill>
                  <a:srgbClr val="C9D3EE"/>
                </a:solidFill>
                <a:latin typeface="Calibri" pitchFamily="34" charset="0"/>
                <a:ea typeface="Calibri" pitchFamily="34" charset="-122"/>
                <a:cs typeface="Calibri" pitchFamily="34" charset="-120"/>
              </a:rPr>
              <a:t>Next up: putting this into practice with research and resumes.</a:t>
            </a:r>
            <a:endParaRPr lang="en-US" sz="1350" dirty="0"/>
          </a:p>
        </p:txBody>
      </p:sp>
      <p:sp>
        <p:nvSpPr>
          <p:cNvPr id="5" name="Shape 3"/>
          <p:cNvSpPr/>
          <p:nvPr/>
        </p:nvSpPr>
        <p:spPr>
          <a:xfrm>
            <a:off x="548640" y="2697480"/>
            <a:ext cx="4480560" cy="621792"/>
          </a:xfrm>
          <a:prstGeom prst="roundRect">
            <a:avLst>
              <a:gd name="adj" fmla="val 20588"/>
            </a:avLst>
          </a:prstGeom>
          <a:solidFill>
            <a:srgbClr val="1C2D5E"/>
          </a:solidFill>
          <a:ln w="9525">
            <a:solidFill>
              <a:srgbClr val="3A4E96"/>
            </a:solidFill>
            <a:prstDash val="solid"/>
          </a:ln>
        </p:spPr>
      </p:sp>
      <p:sp>
        <p:nvSpPr>
          <p:cNvPr id="6" name="Shape 4"/>
          <p:cNvSpPr/>
          <p:nvPr/>
        </p:nvSpPr>
        <p:spPr>
          <a:xfrm>
            <a:off x="685800" y="2779776"/>
            <a:ext cx="457200" cy="457200"/>
          </a:xfrm>
          <a:prstGeom prst="ellipse">
            <a:avLst/>
          </a:prstGeom>
          <a:solidFill>
            <a:srgbClr val="E9B44C"/>
          </a:solidFill>
          <a:ln w="6350">
            <a:solidFill>
              <a:srgbClr val="E9B44C"/>
            </a:solidFill>
            <a:prstDash val="solid"/>
          </a:ln>
        </p:spPr>
      </p:sp>
      <p:sp>
        <p:nvSpPr>
          <p:cNvPr id="7" name="Text 5"/>
          <p:cNvSpPr txBox="1"/>
          <p:nvPr/>
        </p:nvSpPr>
        <p:spPr>
          <a:xfrm>
            <a:off x="685800" y="2779776"/>
            <a:ext cx="457200" cy="457200"/>
          </a:xfrm>
          <a:prstGeom prst="rect">
            <a:avLst/>
          </a:prstGeom>
          <a:noFill/>
          <a:ln/>
        </p:spPr>
        <p:txBody>
          <a:bodyPr wrap="square" lIns="0" tIns="0" rIns="0" bIns="0" rtlCol="0" anchor="ctr"/>
          <a:lstStyle/>
          <a:p>
            <a:pPr marL="0" indent="0" algn="ctr">
              <a:buNone/>
            </a:pPr>
            <a:r>
              <a:rPr lang="en-US" sz="1400" b="1" dirty="0">
                <a:solidFill>
                  <a:srgbClr val="0F1B3D"/>
                </a:solidFill>
                <a:latin typeface="Cambria" pitchFamily="34" charset="0"/>
                <a:ea typeface="Cambria" pitchFamily="34" charset="-122"/>
                <a:cs typeface="Cambria" pitchFamily="34" charset="-120"/>
              </a:rPr>
              <a:t>RS</a:t>
            </a:r>
            <a:endParaRPr lang="en-US" sz="1400" dirty="0"/>
          </a:p>
        </p:txBody>
      </p:sp>
      <p:sp>
        <p:nvSpPr>
          <p:cNvPr id="8" name="Text 6"/>
          <p:cNvSpPr txBox="1"/>
          <p:nvPr/>
        </p:nvSpPr>
        <p:spPr>
          <a:xfrm>
            <a:off x="1325880" y="2697480"/>
            <a:ext cx="2194560" cy="62179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Rohan Sudhan</a:t>
            </a:r>
            <a:endParaRPr lang="en-US" sz="1500" dirty="0"/>
          </a:p>
        </p:txBody>
      </p:sp>
      <p:sp>
        <p:nvSpPr>
          <p:cNvPr id="9" name="Text 7"/>
          <p:cNvSpPr txBox="1"/>
          <p:nvPr/>
        </p:nvSpPr>
        <p:spPr>
          <a:xfrm>
            <a:off x="3474720" y="2697480"/>
            <a:ext cx="1463040" cy="621792"/>
          </a:xfrm>
          <a:prstGeom prst="rect">
            <a:avLst/>
          </a:prstGeom>
          <a:noFill/>
          <a:ln/>
        </p:spPr>
        <p:txBody>
          <a:bodyPr wrap="square" lIns="0" tIns="0" rIns="0" bIns="0" rtlCol="0" anchor="ctr"/>
          <a:lstStyle/>
          <a:p>
            <a:pPr marL="0" indent="0" algn="r">
              <a:buNone/>
            </a:pPr>
            <a:r>
              <a:rPr lang="en-US" sz="1200" dirty="0">
                <a:solidFill>
                  <a:srgbClr val="C9D3EE"/>
                </a:solidFill>
                <a:latin typeface="Calibri" pitchFamily="34" charset="0"/>
                <a:ea typeface="Calibri" pitchFamily="34" charset="-122"/>
                <a:cs typeface="Calibri" pitchFamily="34" charset="-120"/>
              </a:rPr>
              <a:t>3BR23CD002</a:t>
            </a:r>
            <a:endParaRPr lang="en-US" sz="1200" dirty="0"/>
          </a:p>
        </p:txBody>
      </p:sp>
      <p:sp>
        <p:nvSpPr>
          <p:cNvPr id="10" name="Shape 8"/>
          <p:cNvSpPr/>
          <p:nvPr/>
        </p:nvSpPr>
        <p:spPr>
          <a:xfrm>
            <a:off x="548640" y="3429000"/>
            <a:ext cx="4480560" cy="621792"/>
          </a:xfrm>
          <a:prstGeom prst="roundRect">
            <a:avLst>
              <a:gd name="adj" fmla="val 20588"/>
            </a:avLst>
          </a:prstGeom>
          <a:solidFill>
            <a:srgbClr val="1C2D5E"/>
          </a:solidFill>
          <a:ln w="9525">
            <a:solidFill>
              <a:srgbClr val="3A4E96"/>
            </a:solidFill>
            <a:prstDash val="solid"/>
          </a:ln>
        </p:spPr>
      </p:sp>
      <p:sp>
        <p:nvSpPr>
          <p:cNvPr id="11" name="Shape 9"/>
          <p:cNvSpPr/>
          <p:nvPr/>
        </p:nvSpPr>
        <p:spPr>
          <a:xfrm>
            <a:off x="685800" y="3511296"/>
            <a:ext cx="457200" cy="457200"/>
          </a:xfrm>
          <a:prstGeom prst="ellipse">
            <a:avLst/>
          </a:prstGeom>
          <a:solidFill>
            <a:srgbClr val="22B8A8"/>
          </a:solidFill>
          <a:ln w="6350">
            <a:solidFill>
              <a:srgbClr val="22B8A8"/>
            </a:solidFill>
            <a:prstDash val="solid"/>
          </a:ln>
        </p:spPr>
      </p:sp>
      <p:sp>
        <p:nvSpPr>
          <p:cNvPr id="12" name="Text 10"/>
          <p:cNvSpPr txBox="1"/>
          <p:nvPr/>
        </p:nvSpPr>
        <p:spPr>
          <a:xfrm>
            <a:off x="685800" y="3511296"/>
            <a:ext cx="457200" cy="457200"/>
          </a:xfrm>
          <a:prstGeom prst="rect">
            <a:avLst/>
          </a:prstGeom>
          <a:noFill/>
          <a:ln/>
        </p:spPr>
        <p:txBody>
          <a:bodyPr wrap="square" lIns="0" tIns="0" rIns="0" bIns="0" rtlCol="0" anchor="ctr"/>
          <a:lstStyle/>
          <a:p>
            <a:pPr marL="0" indent="0" algn="ctr">
              <a:buNone/>
            </a:pPr>
            <a:r>
              <a:rPr lang="en-US" sz="1400" b="1" dirty="0">
                <a:solidFill>
                  <a:srgbClr val="0F1B3D"/>
                </a:solidFill>
                <a:latin typeface="Cambria" pitchFamily="34" charset="0"/>
                <a:ea typeface="Cambria" pitchFamily="34" charset="-122"/>
                <a:cs typeface="Cambria" pitchFamily="34" charset="-120"/>
              </a:rPr>
              <a:t>RA</a:t>
            </a:r>
            <a:endParaRPr lang="en-US" sz="1400" dirty="0"/>
          </a:p>
        </p:txBody>
      </p:sp>
      <p:sp>
        <p:nvSpPr>
          <p:cNvPr id="13" name="Text 11"/>
          <p:cNvSpPr txBox="1"/>
          <p:nvPr/>
        </p:nvSpPr>
        <p:spPr>
          <a:xfrm>
            <a:off x="1325880" y="3429000"/>
            <a:ext cx="2194560" cy="62179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Rida Arshad</a:t>
            </a:r>
            <a:endParaRPr lang="en-US" sz="1500" dirty="0"/>
          </a:p>
        </p:txBody>
      </p:sp>
      <p:sp>
        <p:nvSpPr>
          <p:cNvPr id="14" name="Text 12"/>
          <p:cNvSpPr txBox="1"/>
          <p:nvPr/>
        </p:nvSpPr>
        <p:spPr>
          <a:xfrm>
            <a:off x="3474720" y="3429000"/>
            <a:ext cx="1463040" cy="621792"/>
          </a:xfrm>
          <a:prstGeom prst="rect">
            <a:avLst/>
          </a:prstGeom>
          <a:noFill/>
          <a:ln/>
        </p:spPr>
        <p:txBody>
          <a:bodyPr wrap="square" lIns="0" tIns="0" rIns="0" bIns="0" rtlCol="0" anchor="ctr"/>
          <a:lstStyle/>
          <a:p>
            <a:pPr marL="0" indent="0" algn="r">
              <a:buNone/>
            </a:pPr>
            <a:r>
              <a:rPr lang="en-US" sz="1200" dirty="0">
                <a:solidFill>
                  <a:srgbClr val="C9D3EE"/>
                </a:solidFill>
                <a:latin typeface="Calibri" pitchFamily="34" charset="0"/>
                <a:ea typeface="Calibri" pitchFamily="34" charset="-122"/>
                <a:cs typeface="Calibri" pitchFamily="34" charset="-120"/>
              </a:rPr>
              <a:t>3BR23CD076</a:t>
            </a:r>
            <a:endParaRPr lang="en-US" sz="1200" dirty="0"/>
          </a:p>
        </p:txBody>
      </p:sp>
      <p:pic>
        <p:nvPicPr>
          <p:cNvPr id="15" name="Image 0" descr="/home/claude/assets/ai_art.png"/>
          <p:cNvPicPr>
            <a:picLocks noChangeAspect="1"/>
          </p:cNvPicPr>
          <p:nvPr/>
        </p:nvPicPr>
        <p:blipFill>
          <a:blip r:embed="rId4"/>
          <a:stretch>
            <a:fillRect/>
          </a:stretch>
        </p:blipFill>
        <p:spPr>
          <a:xfrm>
            <a:off x="5486400" y="411480"/>
            <a:ext cx="3291840"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1949</Words>
  <Application>Microsoft Office PowerPoint</Application>
  <PresentationFormat>On-screen Show (16:9)</PresentationFormat>
  <Paragraphs>247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&amp; Generative AI - Session 0</dc:title>
  <dc:subject>PptxGenJS Presentation</dc:subject>
  <dc:creator>Rohan Sudhan, Rida Arshad</dc:creator>
  <cp:lastModifiedBy>RIDA ARSHAD</cp:lastModifiedBy>
  <cp:revision>1</cp:revision>
  <dcterms:created xsi:type="dcterms:W3CDTF">2026-09-25T09:38:15Z</dcterms:created>
  <dcterms:modified xsi:type="dcterms:W3CDTF">2026-09-26T20:24:47Z</dcterms:modified>
</cp:coreProperties>
</file>